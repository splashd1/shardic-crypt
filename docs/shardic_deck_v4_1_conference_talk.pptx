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[0:00] Title. Introduce yourself in one sentence. Promise: a live demo, the math from first principles, and where it goes next — including human-AI oversight.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[0:00–0:04] Frame via a real incident class — insider risk, one compromised credential — not abstractly. Pick a recent public example suited to the audience. Point: every one of these had policy saying 'no one should do this alone.' Nothing in the crypto enforced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thesis in one slide. Pause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[0:04–0:10] Switch to a real terminal — not slides. Create T=5, D=3 on demo/sample-secret; show the single .krypt file; recover with three codewords in shuffled order; show a mistyped codeword being rejected; show that two codewords never produce output. Finish with diff -r. Fallback: recorded run if venue AV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[0:10] Ask the room: how would you split a key among five people? Most will say chunks or XOR. Both are all-or-nothing — you can't ask for 'any 3 of 5'.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[0:12] The secret is where the line crosses the axis. One point: infinitely many lines, every secret possible. Two points: one line, one crossing. For D = 3, a parabola. For D, a degree D-1 curve.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[0:15] Constant term is the secret; shards are points; Lagrange interpolation at x = 0 recovers it. Mirrors docs/sss_explained_for_shardic.md.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[0:18] The key slide. Not 'hard to break' — nothing to break. Relevant to the post-quantum conversation: no computational assumption to erode.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[0:20] Reals bring fractions and rounding that corrupt the secret. GF(256): exact, one element per byte, AES's own field. The side effect: at most 255 shards — an operational ceiling that real deployments never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[0:22–0:28] Credibility: be explicit. Levels 1 and 2 are running code. Level 3 is a design proposal built on the same unmodified math.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[0:28] The plaintext never had to be a file. A SPAC is any enabling value: a signing key, a release-enable code. The Fielded Prime Element reuses shardic-prime's mask so a copied CT SPAC plus a legitimate quorum still fails on the wrong hardware. Precedent: Permissive Action Links, Two-Person Integrity.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five stages. Contrast with the as-is: two web-app approvals that one compromised admin or two coerced officers can fake. Here, three of five officers plus the appliance's own hardware plus an on-site key-switch — and the controller's commitment is checked at arming.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[0:32] The same D-of-T rule, pointed either way by trustee-class assignment. AI-initiated action needs independent human sign-off — no prompt or internal state rebuilds a key that doesn't exist. Human-initiated action needs an independent AI evaluator's attestation against allow-listed criteria — no seniority or urgency talks it out of failing 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single Shamir split can't express 'all three AI checks AND any two humans.' Use separate gates or a vetted access-structure scheme, combined by an explicit AND, verified server-side. The AI is a bounded evaluator — never an autonomous authority, never able to waive the human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[0:36] The math only protects you if nothing routes around the ceremony. NEAT extends the classic reference-monitor requirements. Only hardware-anchored patterns — secure-element-internal sequencing or a physical interlock — reach proof grade.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[0:38–0:43] Say this out loud. Frequent or live authorization, per-trustee revocation, online quorum and key rotation: use FROST or HSM-backed multisig. shardic is for rare, high-stakes, deliberate recovery.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Mirror the CFP 'attendees will learn'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[0:43–0:45] Repo link, README use-case catalog, and how to reach the project for integration conversations. Then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20">
                <a:solidFill>
                  <a:srgbClr val="E7B93E"/>
                </a:solidFill>
                <a:latin typeface="Calibri"/>
              </a:rPr>
              <a:t>CONFERENCE TALK  ·  45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Splitting Trust, Not Just 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ADCFC"/>
                </a:solidFill>
                <a:latin typeface="Calibri"/>
              </a:rPr>
              <a:t>Threshold recoverability by construction, not by policy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4023360"/>
            <a:ext cx="566928" cy="566928"/>
          </a:xfrm>
          <a:prstGeom prst="ellipse">
            <a:avLst/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-4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22" y="4159422"/>
            <a:ext cx="294802" cy="29480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1600200" y="4023360"/>
            <a:ext cx="566928" cy="566928"/>
          </a:xfrm>
          <a:prstGeom prst="ellipse">
            <a:avLst/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-13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6262" y="4159422"/>
            <a:ext cx="294802" cy="294802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2377440" y="4023360"/>
            <a:ext cx="566928" cy="566928"/>
          </a:xfrm>
          <a:prstGeom prst="ellipse">
            <a:avLst/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-4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3502" y="4159422"/>
            <a:ext cx="294802" cy="2948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52120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AEB9DC"/>
                </a:solidFill>
                <a:latin typeface="Calibri"/>
              </a:rPr>
              <a:t>[Speaker name]  ·  [Venue, date]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6692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AEB9DC"/>
                </a:solidFill>
                <a:latin typeface="Calibri"/>
              </a:rPr>
              <a:t>github.com/splashd1/shardic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THE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It only took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Conference Talk  ·  v4.1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 i="0">
                <a:solidFill>
                  <a:srgbClr val="141B4D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5092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B8C"/>
                </a:solidFill>
                <a:latin typeface="Calibri"/>
              </a:rPr>
              <a:t>compromised credential, coerced admin, or rogue insider — that's all a conventional key-custody design needs to fail.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554480"/>
            <a:ext cx="5577840" cy="1298448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309360" y="1920240"/>
            <a:ext cx="566928" cy="566928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-8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5422" y="2056302"/>
            <a:ext cx="294802" cy="2948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32320" y="18288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Insider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2402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Trusted, authorized, acting alone.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3035808"/>
            <a:ext cx="5577840" cy="1298448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6309360" y="3401568"/>
            <a:ext cx="566928" cy="566928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-2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5422" y="3537630"/>
            <a:ext cx="294802" cy="29480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132320" y="3310128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Credential theft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721608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One account, full access.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4517136"/>
            <a:ext cx="5577840" cy="1298448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309360" y="4882896"/>
            <a:ext cx="566928" cy="566928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-12-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5422" y="5018958"/>
            <a:ext cx="294802" cy="29480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32320" y="4791456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Coercion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5202936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One person under pressure.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21208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5B6B8C"/>
                </a:solidFill>
                <a:latin typeface="Calibri"/>
              </a:rPr>
              <a:t>Policy said "no one does this alone." Nothing in the cryptography agreed.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88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20">
                <a:solidFill>
                  <a:srgbClr val="E7B93E"/>
                </a:solidFill>
                <a:latin typeface="Calibri"/>
              </a:rPr>
              <a:t>THE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Make "no single party can decrypt this alone" a mathematical fact — not a policy promise.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CADCFC"/>
                </a:solidFill>
                <a:latin typeface="Calibri"/>
              </a:rPr>
              <a:t>Encrypt once. Split the key into T shards. Any D recover it. Fewer than D hold zero information about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Create 3-of-5. Recover with 3. Fail with 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Conference Talk  ·  v4.1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6766560" cy="4389120"/>
          </a:xfrm>
          <a:prstGeom prst="roundRect">
            <a:avLst>
              <a:gd name="adj" fmla="val 3000"/>
            </a:avLst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1783080"/>
            <a:ext cx="621792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D6DEF5"/>
                </a:solidFill>
                <a:latin typeface="Consolas"/>
              </a:rPr>
              <a:t>$ python3 vault_create.py --input demo/sample-secret \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      --trustees 5 --threshold 3 --outdir ./v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[*] Split DEK into 5 shards, threshold 3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[*] Wrote vault container: pzzsrzg30y9z0pwv.krypt</a:t>
            </a:r>
          </a:p>
          <a:p>
            <a:pPr algn="l">
              <a:spcBef>
                <a:spcPts val="100"/>
              </a:spcBef>
            </a:pP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$ python3 vault_recover.py v/*.krypt --outdir ./r \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      --word &lt;t1&gt; --word &lt;t3&gt; --word &lt;t5&gt;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  [+] Codeword accepted (1/3).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  [+] Codeword accepted (2/3).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  [+] Codeword accepted (3/3).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[*] Success.</a:t>
            </a:r>
          </a:p>
          <a:p>
            <a:pPr algn="l">
              <a:spcBef>
                <a:spcPts val="100"/>
              </a:spcBef>
            </a:pP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$ diff -r demo/sample-secret r/sample-secret</a:t>
            </a:r>
          </a:p>
        </p:txBody>
      </p:sp>
      <p:sp>
        <p:nvSpPr>
          <p:cNvPr id="8" name="Oval 7"/>
          <p:cNvSpPr/>
          <p:nvPr/>
        </p:nvSpPr>
        <p:spPr>
          <a:xfrm>
            <a:off x="7680960" y="164592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3855" y="1768815"/>
            <a:ext cx="266273" cy="2662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0" y="161848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One 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984248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B6B8C"/>
                </a:solidFill>
                <a:latin typeface="Calibri"/>
              </a:rPr>
              <a:t>Show the .krypt — no trustee map inside.</a:t>
            </a:r>
          </a:p>
        </p:txBody>
      </p:sp>
      <p:sp>
        <p:nvSpPr>
          <p:cNvPr id="12" name="Oval 11"/>
          <p:cNvSpPr/>
          <p:nvPr/>
        </p:nvSpPr>
        <p:spPr>
          <a:xfrm>
            <a:off x="7680960" y="310896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-3-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3855" y="3231855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12480" y="308152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Any three, any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447288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B6B8C"/>
                </a:solidFill>
                <a:latin typeface="Calibri"/>
              </a:rPr>
              <a:t>Shuffle the codewords on purpose.</a:t>
            </a:r>
          </a:p>
        </p:txBody>
      </p:sp>
      <p:sp>
        <p:nvSpPr>
          <p:cNvPr id="16" name="Oval 15"/>
          <p:cNvSpPr/>
          <p:nvPr/>
        </p:nvSpPr>
        <p:spPr>
          <a:xfrm>
            <a:off x="7680960" y="45720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-7-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3855" y="4694895"/>
            <a:ext cx="266273" cy="26627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412480" y="454456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Wrong or too few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910328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B6B8C"/>
                </a:solidFill>
                <a:latin typeface="Calibri"/>
              </a:rPr>
              <a:t>Rejected by the auth tag; nothing written.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FIRST PRINCIPLES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The obvious answer is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Conference Talk  ·  v4.1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440680" cy="2834640"/>
          </a:xfrm>
          <a:prstGeom prst="roundRect">
            <a:avLst>
              <a:gd name="adj" fmla="val 6000"/>
            </a:avLst>
          </a:prstGeom>
          <a:solidFill>
            <a:srgbClr val="3A2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22959" y="18288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-3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855" y="1951695"/>
            <a:ext cx="266273" cy="2662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59" y="248716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Chunks or XOR shares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869184"/>
            <a:ext cx="4892040" cy="1337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buClr>
                <a:srgbClr val="E7B93E"/>
              </a:buClr>
              <a:buChar char="•"/>
            </a:pPr>
            <a:r>
              <a:rPr sz="1500" b="0" i="0">
                <a:solidFill>
                  <a:srgbClr val="CADCFC"/>
                </a:solidFill>
                <a:latin typeface="Calibri"/>
              </a:rPr>
              <a:t>Hide the key from anyone short of </a:t>
            </a:r>
            <a:r>
              <a:rPr sz="1500" b="1" i="0">
                <a:solidFill>
                  <a:srgbClr val="CADCFC"/>
                </a:solidFill>
                <a:latin typeface="Calibri"/>
              </a:rPr>
              <a:t>all</a:t>
            </a:r>
            <a:r>
              <a:rPr sz="1500" b="0" i="0">
                <a:solidFill>
                  <a:srgbClr val="CADCFC"/>
                </a:solidFill>
                <a:latin typeface="Calibri"/>
              </a:rPr>
              <a:t> pieces</a:t>
            </a:r>
          </a:p>
          <a:p>
            <a:pPr algn="l" marL="201168" indent="-201168">
              <a:spcBef>
                <a:spcPts val="500"/>
              </a:spcBef>
              <a:buClr>
                <a:srgbClr val="E7B93E"/>
              </a:buClr>
              <a:buChar char="•"/>
            </a:pPr>
            <a:r>
              <a:rPr sz="1500" b="0" i="0">
                <a:solidFill>
                  <a:srgbClr val="CADCFC"/>
                </a:solidFill>
                <a:latin typeface="Calibri"/>
              </a:rPr>
              <a:t>Reconstruction needs </a:t>
            </a:r>
            <a:r>
              <a:rPr sz="1500" b="1" i="0">
                <a:solidFill>
                  <a:srgbClr val="CADCFC"/>
                </a:solidFill>
                <a:latin typeface="Calibri"/>
              </a:rPr>
              <a:t>every</a:t>
            </a:r>
            <a:r>
              <a:rPr sz="1500" b="0" i="0">
                <a:solidFill>
                  <a:srgbClr val="CADCFC"/>
                </a:solidFill>
                <a:latin typeface="Calibri"/>
              </a:rPr>
              <a:t> piece</a:t>
            </a:r>
          </a:p>
          <a:p>
            <a:pPr algn="l" marL="201168" indent="-201168">
              <a:spcBef>
                <a:spcPts val="500"/>
              </a:spcBef>
              <a:buClr>
                <a:srgbClr val="E7B93E"/>
              </a:buClr>
              <a:buChar char="•"/>
            </a:pPr>
            <a:r>
              <a:rPr sz="1500" b="0" i="0">
                <a:solidFill>
                  <a:srgbClr val="CADCFC"/>
                </a:solidFill>
                <a:latin typeface="Calibri"/>
              </a:rPr>
              <a:t>Lose one trustee → key gone forever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54480"/>
            <a:ext cx="5440680" cy="28346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6446520" y="18288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-3-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415" y="1951695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46520" y="248716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What we want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869184"/>
            <a:ext cx="4892040" cy="1337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buClr>
                <a:srgbClr val="E7B93E"/>
              </a:buClr>
              <a:buChar char="•"/>
            </a:pPr>
            <a:r>
              <a:rPr sz="1500" b="1" i="0">
                <a:solidFill>
                  <a:srgbClr val="CADCFC"/>
                </a:solidFill>
                <a:latin typeface="Calibri"/>
              </a:rPr>
              <a:t>Any D of T</a:t>
            </a:r>
            <a:r>
              <a:rPr sz="1500" b="0" i="0">
                <a:solidFill>
                  <a:srgbClr val="CADCFC"/>
                </a:solidFill>
                <a:latin typeface="Calibri"/>
              </a:rPr>
              <a:t> reconstruct</a:t>
            </a:r>
          </a:p>
          <a:p>
            <a:pPr algn="l" marL="201168" indent="-201168">
              <a:spcBef>
                <a:spcPts val="500"/>
              </a:spcBef>
              <a:buClr>
                <a:srgbClr val="E7B93E"/>
              </a:buClr>
              <a:buChar char="•"/>
            </a:pPr>
            <a:r>
              <a:rPr sz="1500" b="1" i="0">
                <a:solidFill>
                  <a:srgbClr val="CADCFC"/>
                </a:solidFill>
                <a:latin typeface="Calibri"/>
              </a:rPr>
              <a:t>Fewer than D</a:t>
            </a:r>
            <a:r>
              <a:rPr sz="1500" b="0" i="0">
                <a:solidFill>
                  <a:srgbClr val="CADCFC"/>
                </a:solidFill>
                <a:latin typeface="Calibri"/>
              </a:rPr>
              <a:t> learn nothing</a:t>
            </a:r>
          </a:p>
          <a:p>
            <a:pPr algn="l" marL="201168" indent="-201168">
              <a:spcBef>
                <a:spcPts val="500"/>
              </a:spcBef>
              <a:buClr>
                <a:srgbClr val="E7B93E"/>
              </a:buClr>
              <a:buChar char="•"/>
            </a:pPr>
            <a:r>
              <a:rPr sz="1500" b="0" i="0">
                <a:solidFill>
                  <a:srgbClr val="CADCFC"/>
                </a:solidFill>
                <a:latin typeface="Calibri"/>
              </a:rPr>
              <a:t>Lose up to </a:t>
            </a:r>
            <a:r>
              <a:rPr sz="1500" b="1" i="0">
                <a:solidFill>
                  <a:srgbClr val="CADCFC"/>
                </a:solidFill>
                <a:latin typeface="Calibri"/>
              </a:rPr>
              <a:t>T − D</a:t>
            </a:r>
            <a:r>
              <a:rPr sz="1500" b="0" i="0">
                <a:solidFill>
                  <a:srgbClr val="CADCFC"/>
                </a:solidFill>
                <a:latin typeface="Calibri"/>
              </a:rPr>
              <a:t> and still recover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6344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68680" y="4663440"/>
            <a:ext cx="104241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That's a threshold scheme — and Adi Shamir solved it in 1979 with one fact from high-school algebra.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FIRST PRINCIPLES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Two points fix a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Conference Talk  ·  v4.1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6858000" cy="3221946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sss-geometric-intu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37360"/>
            <a:ext cx="6583680" cy="29476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1645920"/>
            <a:ext cx="384048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5B6B8C"/>
                </a:solidFill>
                <a:latin typeface="Calibri"/>
              </a:rPr>
              <a:t>Secret = where the line </a:t>
            </a:r>
            <a:r>
              <a:rPr sz="1700" b="1" i="0">
                <a:solidFill>
                  <a:srgbClr val="5B6B8C"/>
                </a:solidFill>
                <a:latin typeface="Calibri"/>
              </a:rPr>
              <a:t>crosses the axis</a:t>
            </a:r>
            <a:r>
              <a:rPr sz="1700" b="0" i="0">
                <a:solidFill>
                  <a:srgbClr val="5B6B8C"/>
                </a:solidFill>
                <a:latin typeface="Calibri"/>
              </a:rPr>
              <a:t>.</a:t>
            </a:r>
          </a:p>
          <a:p>
            <a:pPr algn="l">
              <a:spcBef>
                <a:spcPts val="1400"/>
              </a:spcBef>
            </a:pPr>
            <a:r>
              <a:rPr sz="1700" b="1" i="0">
                <a:solidFill>
                  <a:srgbClr val="5B6B8C"/>
                </a:solidFill>
                <a:latin typeface="Calibri"/>
              </a:rPr>
              <a:t>One point:</a:t>
            </a:r>
            <a:r>
              <a:rPr sz="1700" b="0" i="0">
                <a:solidFill>
                  <a:srgbClr val="5B6B8C"/>
                </a:solidFill>
                <a:latin typeface="Calibri"/>
              </a:rPr>
              <a:t> infinitely many lines. Every secret equally possible.</a:t>
            </a:r>
          </a:p>
          <a:p>
            <a:pPr algn="l">
              <a:spcBef>
                <a:spcPts val="1400"/>
              </a:spcBef>
            </a:pPr>
            <a:r>
              <a:rPr sz="1700" b="1" i="0">
                <a:solidFill>
                  <a:srgbClr val="5B6B8C"/>
                </a:solidFill>
                <a:latin typeface="Calibri"/>
              </a:rPr>
              <a:t>Two points:</a:t>
            </a:r>
            <a:r>
              <a:rPr sz="1700" b="0" i="0">
                <a:solidFill>
                  <a:srgbClr val="5B6B8C"/>
                </a:solidFill>
                <a:latin typeface="Calibri"/>
              </a:rPr>
              <a:t> exactly one line, one crossing.</a:t>
            </a:r>
          </a:p>
          <a:p>
            <a:pPr algn="l">
              <a:spcBef>
                <a:spcPts val="1400"/>
              </a:spcBef>
            </a:pPr>
            <a:r>
              <a:rPr sz="1700" b="1" i="0">
                <a:solidFill>
                  <a:srgbClr val="5B6B8C"/>
                </a:solidFill>
                <a:latin typeface="Calibri"/>
              </a:rPr>
              <a:t>D points</a:t>
            </a:r>
            <a:r>
              <a:rPr sz="1700" b="0" i="0">
                <a:solidFill>
                  <a:srgbClr val="5B6B8C"/>
                </a:solidFill>
                <a:latin typeface="Calibri"/>
              </a:rPr>
              <a:t> fix a curve of degree D − 1.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FIRST PRINCIPLES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Now make it precise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Conference Talk  ·  v4.1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75120" cy="2194560"/>
          </a:xfrm>
          <a:prstGeom prst="roundRect">
            <a:avLst>
              <a:gd name="adj" fmla="val 3000"/>
            </a:avLst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1874519"/>
            <a:ext cx="61264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D6DEF5"/>
                </a:solidFill>
                <a:latin typeface="Consolas"/>
              </a:rPr>
              <a:t>f(x) = S + a₁x + … + a₍D−1₎x^(D−1)</a:t>
            </a:r>
          </a:p>
          <a:p>
            <a:pPr algn="l">
              <a:spcBef>
                <a:spcPts val="100"/>
              </a:spcBef>
            </a:pPr>
          </a:p>
          <a:p>
            <a:pPr algn="l">
              <a:spcBef>
                <a:spcPts val="100"/>
              </a:spcBef>
            </a:pPr>
            <a:r>
              <a:rPr sz="1700" b="0" i="0">
                <a:solidFill>
                  <a:srgbClr val="D6DEF5"/>
                </a:solidFill>
                <a:latin typeface="Consolas"/>
              </a:rPr>
              <a:t>f(0)    = S            # the secret</a:t>
            </a:r>
          </a:p>
          <a:p>
            <a:pPr algn="l">
              <a:spcBef>
                <a:spcPts val="100"/>
              </a:spcBef>
            </a:pPr>
            <a:r>
              <a:rPr sz="1700" b="0" i="0">
                <a:solidFill>
                  <a:srgbClr val="D6DEF5"/>
                </a:solidFill>
                <a:latin typeface="Consolas"/>
              </a:rPr>
              <a:t>shard_i = (i, f(i))    # one per trustee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114800"/>
            <a:ext cx="6675120" cy="1463040"/>
          </a:xfrm>
          <a:prstGeom prst="roundRect">
            <a:avLst>
              <a:gd name="adj" fmla="val 8000"/>
            </a:avLst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68680" y="4114800"/>
            <a:ext cx="603504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Any D shards →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Lagrange interpolation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 → evaluate at x = 0 → S.</a:t>
            </a:r>
          </a:p>
        </p:txBody>
      </p:sp>
      <p:sp>
        <p:nvSpPr>
          <p:cNvPr id="10" name="Oval 9"/>
          <p:cNvSpPr/>
          <p:nvPr/>
        </p:nvSpPr>
        <p:spPr>
          <a:xfrm>
            <a:off x="7680960" y="1691640"/>
            <a:ext cx="457200" cy="457200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691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41B4D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67335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Random coefficients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020824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B8C"/>
                </a:solidFill>
                <a:latin typeface="Calibri"/>
              </a:rPr>
              <a:t>a₁ … a₍D−1₎ drawn uniformly at random</a:t>
            </a:r>
          </a:p>
        </p:txBody>
      </p:sp>
      <p:sp>
        <p:nvSpPr>
          <p:cNvPr id="14" name="Oval 13"/>
          <p:cNvSpPr/>
          <p:nvPr/>
        </p:nvSpPr>
        <p:spPr>
          <a:xfrm>
            <a:off x="7680960" y="3017520"/>
            <a:ext cx="457200" cy="457200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30175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41B4D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99923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T distinct x-values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346704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B8C"/>
                </a:solidFill>
                <a:latin typeface="Calibri"/>
              </a:rPr>
              <a:t>1 through T — never 0, that's the secret</a:t>
            </a:r>
          </a:p>
        </p:txBody>
      </p:sp>
      <p:sp>
        <p:nvSpPr>
          <p:cNvPr id="18" name="Oval 17"/>
          <p:cNvSpPr/>
          <p:nvPr/>
        </p:nvSpPr>
        <p:spPr>
          <a:xfrm>
            <a:off x="7680960" y="4343400"/>
            <a:ext cx="457200" cy="457200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4343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41B4D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3251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Per byte of the DEK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672583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B8C"/>
                </a:solidFill>
                <a:latin typeface="Calibri"/>
              </a:rPr>
              <a:t>32 independent polynomials over GF(256)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20">
                <a:solidFill>
                  <a:srgbClr val="E7B93E"/>
                </a:solidFill>
                <a:latin typeface="Calibri"/>
              </a:rPr>
              <a:t>FIRST PRINCIPLES ·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0" b="1" i="0">
                <a:solidFill>
                  <a:srgbClr val="E7B93E"/>
                </a:solidFill>
                <a:latin typeface="Calibri"/>
              </a:rPr>
              <a:t>0 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is what D − 1 shards reveal about the secret. Every possible value fits them equally well.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10241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No partial credit. No "getting warmer." No computational assumption for a quantum computer to erode — the information simply isn't there.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FIRST PRINCIPLES ·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Why GF(256), in one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Conference Talk  ·  v4.1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6217920" cy="3514708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gf256-byte-as-polynom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37360"/>
            <a:ext cx="5943600" cy="32403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0" y="1600200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1 byte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176272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B8C"/>
                </a:solidFill>
                <a:latin typeface="Calibri"/>
              </a:rPr>
              <a:t>= one field element. Exact arithmetic, no rounding.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017520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0x11B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593591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B8C"/>
                </a:solidFill>
                <a:latin typeface="Calibri"/>
              </a:rPr>
              <a:t>AES's own reduction polynomial, generator 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4434840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255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5010912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B8C"/>
                </a:solidFill>
                <a:latin typeface="Calibri"/>
              </a:rPr>
              <a:t>shards max — 0 is reserved for the secret.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IMPLEMENTED VS. PROPOSED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Where the line is — stated plainly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Conference Talk  ·  v4.1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822959" y="1810512"/>
            <a:ext cx="1115568" cy="274320"/>
          </a:xfrm>
          <a:prstGeom prst="roundRect">
            <a:avLst>
              <a:gd name="adj" fmla="val 50000"/>
            </a:avLst>
          </a:prstGeom>
          <a:solidFill>
            <a:srgbClr val="3EB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59" y="181051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60">
                <a:solidFill>
                  <a:srgbClr val="141B4D"/>
                </a:solidFill>
                <a:latin typeface="Calibri"/>
              </a:rPr>
              <a:t>RUNNING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1284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Level 1 · Personal utility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69748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buClr>
                <a:srgbClr val="E7B93E"/>
              </a:buClr>
              <a:buChar char="•"/>
            </a:pPr>
            <a:r>
              <a:rPr sz="1400" b="0" i="0">
                <a:solidFill>
                  <a:srgbClr val="CADCFC"/>
                </a:solidFill>
                <a:latin typeface="Calibri"/>
              </a:rPr>
              <a:t>CLI + GUI, no server</a:t>
            </a:r>
          </a:p>
          <a:p>
            <a:pPr algn="l" marL="201168" indent="-201168">
              <a:spcBef>
                <a:spcPts val="600"/>
              </a:spcBef>
              <a:buClr>
                <a:srgbClr val="E7B93E"/>
              </a:buClr>
              <a:buChar char="•"/>
            </a:pPr>
            <a:r>
              <a:rPr sz="1400" b="0" i="0">
                <a:solidFill>
                  <a:srgbClr val="CADCFC"/>
                </a:solidFill>
                <a:latin typeface="Calibri"/>
              </a:rPr>
              <a:t>Codewords + one .krypt file</a:t>
            </a:r>
          </a:p>
          <a:p>
            <a:pPr algn="l" marL="201168" indent="-201168">
              <a:spcBef>
                <a:spcPts val="600"/>
              </a:spcBef>
              <a:buClr>
                <a:srgbClr val="E7B93E"/>
              </a:buClr>
              <a:buChar char="•"/>
            </a:pPr>
            <a:r>
              <a:rPr sz="1400" b="0" i="0">
                <a:solidFill>
                  <a:srgbClr val="CADCFC"/>
                </a:solidFill>
                <a:latin typeface="Calibri"/>
              </a:rPr>
              <a:t>shardic-prime mandatory trustee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55448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571999" y="1810512"/>
            <a:ext cx="1115568" cy="274320"/>
          </a:xfrm>
          <a:prstGeom prst="roundRect">
            <a:avLst>
              <a:gd name="adj" fmla="val 50000"/>
            </a:avLst>
          </a:prstGeom>
          <a:solidFill>
            <a:srgbClr val="3EB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71999" y="181051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60">
                <a:solidFill>
                  <a:srgbClr val="141B4D"/>
                </a:solidFill>
                <a:latin typeface="Calibri"/>
              </a:rPr>
              <a:t>RUNNING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221284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Level 2 · Shardic ceremony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269748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buClr>
                <a:srgbClr val="E7B93E"/>
              </a:buClr>
              <a:buChar char="•"/>
            </a:pPr>
            <a:r>
              <a:rPr sz="1400" b="0" i="0">
                <a:solidFill>
                  <a:srgbClr val="CADCFC"/>
                </a:solidFill>
                <a:latin typeface="Calibri"/>
              </a:rPr>
              <a:t>Public-key-wrapped delivery</a:t>
            </a:r>
          </a:p>
          <a:p>
            <a:pPr algn="l" marL="201168" indent="-201168">
              <a:spcBef>
                <a:spcPts val="600"/>
              </a:spcBef>
              <a:buClr>
                <a:srgbClr val="E7B93E"/>
              </a:buClr>
              <a:buChar char="•"/>
            </a:pPr>
            <a:r>
              <a:rPr sz="1400" b="0" i="0">
                <a:solidFill>
                  <a:srgbClr val="CADCFC"/>
                </a:solidFill>
                <a:latin typeface="Calibri"/>
              </a:rPr>
              <a:t>Keycloak-backed trustee selection</a:t>
            </a:r>
          </a:p>
          <a:p>
            <a:pPr algn="l" marL="201168" indent="-201168">
              <a:spcBef>
                <a:spcPts val="600"/>
              </a:spcBef>
              <a:buClr>
                <a:srgbClr val="E7B93E"/>
              </a:buClr>
              <a:buChar char="•"/>
            </a:pPr>
            <a:r>
              <a:rPr sz="1400" b="0" i="0">
                <a:solidFill>
                  <a:srgbClr val="CADCFC"/>
                </a:solidFill>
                <a:latin typeface="Calibri"/>
              </a:rPr>
              <a:t>Automatic backfill, single-read drop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55448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321040" y="1810512"/>
            <a:ext cx="1348740" cy="274320"/>
          </a:xfrm>
          <a:prstGeom prst="roundRect">
            <a:avLst>
              <a:gd name="adj" fmla="val 50000"/>
            </a:avLst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321040" y="1810512"/>
            <a:ext cx="13487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60">
                <a:solidFill>
                  <a:srgbClr val="141B4D"/>
                </a:solidFill>
                <a:latin typeface="Calibri"/>
              </a:rPr>
              <a:t>DESIGN 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21284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Level 3 · SPAC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69748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buClr>
                <a:srgbClr val="E7B93E"/>
              </a:buClr>
              <a:buChar char="•"/>
            </a:pPr>
            <a:r>
              <a:rPr sz="1400" b="0" i="0">
                <a:solidFill>
                  <a:srgbClr val="CADCFC"/>
                </a:solidFill>
                <a:latin typeface="Calibri"/>
              </a:rPr>
              <a:t>Gate any consequential action</a:t>
            </a:r>
          </a:p>
          <a:p>
            <a:pPr algn="l" marL="201168" indent="-201168">
              <a:spcBef>
                <a:spcPts val="600"/>
              </a:spcBef>
              <a:buClr>
                <a:srgbClr val="E7B93E"/>
              </a:buClr>
              <a:buChar char="•"/>
            </a:pPr>
            <a:r>
              <a:rPr sz="1400" b="0" i="0">
                <a:solidFill>
                  <a:srgbClr val="CADCFC"/>
                </a:solidFill>
                <a:latin typeface="Calibri"/>
              </a:rPr>
              <a:t>Bound to one Fielded Prime Element</a:t>
            </a:r>
          </a:p>
          <a:p>
            <a:pPr algn="l" marL="201168" indent="-201168">
              <a:spcBef>
                <a:spcPts val="600"/>
              </a:spcBef>
              <a:buClr>
                <a:srgbClr val="E7B93E"/>
              </a:buClr>
              <a:buChar char="•"/>
            </a:pPr>
            <a:r>
              <a:rPr sz="1400" b="0" i="0">
                <a:solidFill>
                  <a:srgbClr val="CADCFC"/>
                </a:solidFill>
                <a:latin typeface="Calibri"/>
              </a:rPr>
              <a:t>Human-AI mutual oversight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120640"/>
            <a:ext cx="11064240" cy="822960"/>
          </a:xfrm>
          <a:prstGeom prst="roundRect">
            <a:avLst>
              <a:gd name="adj" fmla="val 8000"/>
            </a:avLst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68680" y="512064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Each level reuses the one below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unchanged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. Level 3 adds no new cryptography.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WHERE IT GENERALIZES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From protected file to protected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Conference Talk  ·  v4.1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20440" cy="320040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22959" y="18288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-7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855" y="1951695"/>
            <a:ext cx="266273" cy="2662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59" y="2487168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PT SPAC → CT SPAC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869184"/>
            <a:ext cx="2971800" cy="170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Any enabling value — a signing credential, a release-enable code — encrypted and split exactly like a file's key.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554480"/>
            <a:ext cx="3520440" cy="320040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4572000" y="18288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-4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895" y="1951695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0" y="2487168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Fielded Prime Element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869184"/>
            <a:ext cx="2971800" cy="170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A hardware-sealed secret takes the prime trustee's slot. Copy the ciphertext elsewhere and a full quorum still fails.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554480"/>
            <a:ext cx="3566160" cy="320040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321040" y="18288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-4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3935" y="1951695"/>
            <a:ext cx="266273" cy="26627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21040" y="248716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Old idea, new math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869184"/>
            <a:ext cx="3017520" cy="170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Permissive Action Links and Two-Person Integrity, enforced by the math instead of procedure.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983480"/>
            <a:ext cx="11064240" cy="1051560"/>
          </a:xfrm>
          <a:prstGeom prst="roundRect">
            <a:avLst>
              <a:gd name="adj" fmla="val 3000"/>
            </a:avLst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59" y="5212080"/>
            <a:ext cx="10515600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D6DEF5"/>
                </a:solidFill>
                <a:latin typeface="Consolas"/>
              </a:rPr>
              <a:t>DEK     = reconstruct_secret_with_prime(mask, pool_shards)   # unmodified</a:t>
            </a:r>
          </a:p>
          <a:p>
            <a:pPr algn="l">
              <a:spcBef>
                <a:spcPts val="100"/>
              </a:spcBef>
            </a:pPr>
            <a:r>
              <a:rPr sz="1400" b="0" i="0">
                <a:solidFill>
                  <a:srgbClr val="D6DEF5"/>
                </a:solidFill>
                <a:latin typeface="Consolas"/>
              </a:rPr>
              <a:t>CT_SPAC = AES-256-GCM(PT_SPAC, DEK)                          # unmodified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ONE VIGNETTE, END TO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A high-value treasury wire, start to finish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Conference Talk  ·  v4.1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12</a:t>
            </a:r>
          </a:p>
        </p:txBody>
      </p:sp>
      <p:sp>
        <p:nvSpPr>
          <p:cNvPr id="6" name="Oval 5"/>
          <p:cNvSpPr/>
          <p:nvPr/>
        </p:nvSpPr>
        <p:spPr>
          <a:xfrm>
            <a:off x="1325880" y="1600200"/>
            <a:ext cx="566928" cy="566928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16002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141B4D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2075688" cy="19202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2578608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Approve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017520"/>
            <a:ext cx="16916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Controller validates the signing key and signs a commitment.</a:t>
            </a:r>
          </a:p>
        </p:txBody>
      </p:sp>
      <p:sp>
        <p:nvSpPr>
          <p:cNvPr id="11" name="Oval 10"/>
          <p:cNvSpPr/>
          <p:nvPr/>
        </p:nvSpPr>
        <p:spPr>
          <a:xfrm>
            <a:off x="3584448" y="1600200"/>
            <a:ext cx="566928" cy="566928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16002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141B4D"/>
                </a:solidFill>
                <a:latin typeface="Calibr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7208" y="2377440"/>
            <a:ext cx="2075688" cy="19202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008376" y="2578608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Emplace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8376" y="3017520"/>
            <a:ext cx="16916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Wrap as CT SPAC; split across 5 officers + the HSM appliance.</a:t>
            </a:r>
          </a:p>
        </p:txBody>
      </p:sp>
      <p:sp>
        <p:nvSpPr>
          <p:cNvPr id="16" name="Oval 15"/>
          <p:cNvSpPr/>
          <p:nvPr/>
        </p:nvSpPr>
        <p:spPr>
          <a:xfrm>
            <a:off x="5843016" y="1600200"/>
            <a:ext cx="566928" cy="566928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43016" y="16002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141B4D"/>
                </a:solidFill>
                <a:latin typeface="Calibr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65776" y="2377440"/>
            <a:ext cx="2075688" cy="19202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66944" y="2578608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Operate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6944" y="3017520"/>
            <a:ext cx="16916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Appliance holds only ciphertext — indefinitely.</a:t>
            </a:r>
          </a:p>
        </p:txBody>
      </p:sp>
      <p:sp>
        <p:nvSpPr>
          <p:cNvPr id="21" name="Oval 20"/>
          <p:cNvSpPr/>
          <p:nvPr/>
        </p:nvSpPr>
        <p:spPr>
          <a:xfrm>
            <a:off x="8101583" y="1600200"/>
            <a:ext cx="566928" cy="566928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01583" y="16002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141B4D"/>
                </a:solidFill>
                <a:latin typeface="Calibri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24344" y="2377440"/>
            <a:ext cx="2075688" cy="19202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25512" y="2578608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Convene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5512" y="3017520"/>
            <a:ext cx="16916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3 of 5 respond; compliance authorizes; custodian turns the key.</a:t>
            </a:r>
          </a:p>
        </p:txBody>
      </p:sp>
      <p:sp>
        <p:nvSpPr>
          <p:cNvPr id="26" name="Oval 25"/>
          <p:cNvSpPr/>
          <p:nvPr/>
        </p:nvSpPr>
        <p:spPr>
          <a:xfrm>
            <a:off x="10360152" y="1600200"/>
            <a:ext cx="566928" cy="566928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60152" y="16002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141B4D"/>
                </a:solidFill>
                <a:latin typeface="Calibri"/>
              </a:rP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82912" y="2377440"/>
            <a:ext cx="2075688" cy="19202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784080" y="2578608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3017520"/>
            <a:ext cx="16916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DEK rebuilds, integrity check passes, wire signs, secrets zeroized.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572000"/>
            <a:ext cx="5440680" cy="1097280"/>
          </a:xfrm>
          <a:prstGeom prst="roundRect">
            <a:avLst>
              <a:gd name="adj" fmla="val 6000"/>
            </a:avLst>
          </a:prstGeom>
          <a:solidFill>
            <a:srgbClr val="F6E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22960" y="457200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 i="0">
                <a:solidFill>
                  <a:srgbClr val="3A2F14"/>
                </a:solidFill>
                <a:latin typeface="Calibri"/>
              </a:rPr>
              <a:t>As-is:</a:t>
            </a:r>
            <a:r>
              <a:rPr sz="1450" b="0" i="0">
                <a:solidFill>
                  <a:srgbClr val="3A2F14"/>
                </a:solidFill>
                <a:latin typeface="Calibri"/>
              </a:rPr>
              <a:t> two clicks in a web app. One hijacked admin can fake both.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572000"/>
            <a:ext cx="5440680" cy="1097280"/>
          </a:xfrm>
          <a:prstGeom prst="roundRect">
            <a:avLst>
              <a:gd name="adj" fmla="val 6000"/>
            </a:avLst>
          </a:prstGeom>
          <a:solidFill>
            <a:srgbClr val="D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446520" y="457200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 i="0">
                <a:solidFill>
                  <a:srgbClr val="1D5B35"/>
                </a:solidFill>
                <a:latin typeface="Calibri"/>
              </a:rPr>
              <a:t>shardic-SPAC:</a:t>
            </a:r>
            <a:r>
              <a:rPr sz="1450" b="0" i="0">
                <a:solidFill>
                  <a:srgbClr val="1D5B35"/>
                </a:solidFill>
                <a:latin typeface="Calibri"/>
              </a:rPr>
              <a:t> three genuine shards, this appliance, this key-switch — or nothing.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THE FLAGSHIP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Human-AI mutual oversight — one rule, both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Conference Talk  ·  v4.1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440680" cy="310896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22959" y="18288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-4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855" y="1951695"/>
            <a:ext cx="266273" cy="2662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59" y="248716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Humans gate the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869184"/>
            <a:ext cx="4892040" cy="1611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CADCFC"/>
                </a:solidFill>
                <a:latin typeface="Calibri"/>
              </a:rPr>
              <a:t>An AI proposes a consequential action. It can't execute on its own confidence or speed: below the human threshold, the key </a:t>
            </a:r>
            <a:r>
              <a:rPr sz="1450" b="1" i="0">
                <a:solidFill>
                  <a:srgbClr val="CADCFC"/>
                </a:solidFill>
                <a:latin typeface="Calibri"/>
              </a:rPr>
              <a:t>doesn't exist</a:t>
            </a:r>
            <a:r>
              <a:rPr sz="1450" b="0" i="0">
                <a:solidFill>
                  <a:srgbClr val="CADCFC"/>
                </a:solidFill>
                <a:latin typeface="Calibri"/>
              </a:rPr>
              <a:t> — no prompt or internal state rebuilds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54480"/>
            <a:ext cx="5440680" cy="310896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6446520" y="18288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-9-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415" y="1951695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46520" y="248716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AI checks the humans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869184"/>
            <a:ext cx="4892040" cy="1611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CADCFC"/>
                </a:solidFill>
                <a:latin typeface="Calibri"/>
              </a:rPr>
              <a:t>A coerced or rogue human pushes an action. An independent AI evaluator attests only to allow-listed criteria on authenticated evidence — or </a:t>
            </a:r>
            <a:r>
              <a:rPr sz="1450" b="1" i="0">
                <a:solidFill>
                  <a:srgbClr val="CADCFC"/>
                </a:solidFill>
                <a:latin typeface="Calibri"/>
              </a:rPr>
              <a:t>fails closed</a:t>
            </a:r>
            <a:r>
              <a:rPr sz="1450" b="0" i="0">
                <a:solidFill>
                  <a:srgbClr val="CADCFC"/>
                </a:solidFill>
                <a:latin typeface="Calibr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3776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68680" y="4937760"/>
            <a:ext cx="104241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No model in the cryptographic path. Just trustee slots, assigned by class, composed with an explicit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AND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HOW IT COMPOSES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Separate gates, explicit 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Conference Talk  ·  v4.1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63040"/>
            <a:ext cx="5503186" cy="4800600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hybrid-ai-human-policy-g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00200"/>
            <a:ext cx="5228866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1600200"/>
            <a:ext cx="512064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6B8C"/>
                </a:solidFill>
                <a:latin typeface="Calibri"/>
              </a:rPr>
              <a:t>One D-of-T split treats all shards as </a:t>
            </a:r>
            <a:r>
              <a:rPr sz="1500" b="1" i="0">
                <a:solidFill>
                  <a:srgbClr val="5B6B8C"/>
                </a:solidFill>
                <a:latin typeface="Calibri"/>
              </a:rPr>
              <a:t>equal peers</a:t>
            </a:r>
            <a:r>
              <a:rPr sz="1500" b="0" i="0">
                <a:solidFill>
                  <a:srgbClr val="5B6B8C"/>
                </a:solidFill>
                <a:latin typeface="Calibri"/>
              </a:rPr>
              <a:t> — it can't say "all AI checks </a:t>
            </a:r>
            <a:r>
              <a:rPr sz="1500" b="1" i="0">
                <a:solidFill>
                  <a:srgbClr val="5B6B8C"/>
                </a:solidFill>
                <a:latin typeface="Calibri"/>
              </a:rPr>
              <a:t>and</a:t>
            </a:r>
            <a:r>
              <a:rPr sz="1500" b="0" i="0">
                <a:solidFill>
                  <a:srgbClr val="5B6B8C"/>
                </a:solidFill>
                <a:latin typeface="Calibri"/>
              </a:rPr>
              <a:t> any two humans."</a:t>
            </a:r>
          </a:p>
          <a:p>
            <a:pPr algn="l">
              <a:spcBef>
                <a:spcPts val="1200"/>
              </a:spcBef>
            </a:pPr>
            <a:r>
              <a:rPr sz="1500" b="0" i="0">
                <a:solidFill>
                  <a:srgbClr val="5B6B8C"/>
                </a:solidFill>
                <a:latin typeface="Calibri"/>
              </a:rPr>
              <a:t>So: </a:t>
            </a:r>
            <a:r>
              <a:rPr sz="1500" b="1" i="0">
                <a:solidFill>
                  <a:srgbClr val="5B6B8C"/>
                </a:solidFill>
                <a:latin typeface="Calibri"/>
              </a:rPr>
              <a:t>separate gates</a:t>
            </a:r>
            <a:r>
              <a:rPr sz="1500" b="0" i="0">
                <a:solidFill>
                  <a:srgbClr val="5B6B8C"/>
                </a:solidFill>
                <a:latin typeface="Calibri"/>
              </a:rPr>
              <a:t>, combined with an explicit AND, verified server-side.</a:t>
            </a:r>
          </a:p>
          <a:p>
            <a:pPr algn="l">
              <a:spcBef>
                <a:spcPts val="1200"/>
              </a:spcBef>
            </a:pPr>
            <a:r>
              <a:rPr sz="1500" b="0" i="0">
                <a:solidFill>
                  <a:srgbClr val="5B6B8C"/>
                </a:solidFill>
                <a:latin typeface="Calibri"/>
              </a:rPr>
              <a:t>The AI gate is a </a:t>
            </a:r>
            <a:r>
              <a:rPr sz="1500" b="1" i="0">
                <a:solidFill>
                  <a:srgbClr val="5B6B8C"/>
                </a:solidFill>
                <a:latin typeface="Calibri"/>
              </a:rPr>
              <a:t>bounded evaluator</a:t>
            </a:r>
            <a:r>
              <a:rPr sz="1500" b="0" i="0">
                <a:solidFill>
                  <a:srgbClr val="5B6B8C"/>
                </a:solidFill>
                <a:latin typeface="Calibri"/>
              </a:rPr>
              <a:t>: signed, time-limited, auditable — and it can never waive the human threshold.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BEYOND THE 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NEAT: what a critical deployment still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Conference Talk  ·  v4.1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22959" y="1810512"/>
            <a:ext cx="685800" cy="685800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10512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141B4D"/>
                </a:solidFill>
                <a:latin typeface="Calibri"/>
              </a:rPr>
              <a:t>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6974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Non-bypassable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54680"/>
            <a:ext cx="2103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The ceremony is the only path to the end state.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55448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3657600" y="1810512"/>
            <a:ext cx="685800" cy="685800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810512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141B4D"/>
                </a:solidFill>
                <a:latin typeface="Calibri"/>
              </a:rPr>
              <a:t>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6974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Evaluable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154680"/>
            <a:ext cx="2103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Small and standard enough to verify independently.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55448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492240" y="1810512"/>
            <a:ext cx="685800" cy="685800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810512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141B4D"/>
                </a:solidFill>
                <a:latin typeface="Calibri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974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Always-invoked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154680"/>
            <a:ext cx="2103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No admin override, debug flag, or maintenance path.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55448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9326880" y="1810512"/>
            <a:ext cx="685800" cy="685800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1810512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141B4D"/>
                </a:solidFill>
                <a:latin typeface="Calibri"/>
              </a:rPr>
              <a:t>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6974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Tamper-proof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154680"/>
            <a:ext cx="2103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Subverting it means breaking the hardware boundary.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68680" y="5029200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Software-only enforcement reduces risk.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Secure-element sequencing or a physical interlock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 is what reaches proof grade.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CREDIBILITY OVER HYPE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Where shardic doesn't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Conference Talk  ·  v4.1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3A2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68680" y="1828800"/>
            <a:ext cx="566928" cy="566928"/>
          </a:xfrm>
          <a:prstGeom prst="ellipse">
            <a:avLst/>
          </a:prstGeom>
          <a:solidFill>
            <a:srgbClr val="5A4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-13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742" y="1964862"/>
            <a:ext cx="294802" cy="2948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1874519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Frequent or live authorization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350008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8DCC0"/>
                </a:solidFill>
                <a:latin typeface="Calibri"/>
              </a:rPr>
              <a:t>Built for rare break-glass events, not every request.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0876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3A2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6492240" y="1828800"/>
            <a:ext cx="566928" cy="566928"/>
          </a:xfrm>
          <a:prstGeom prst="ellipse">
            <a:avLst/>
          </a:prstGeom>
          <a:solidFill>
            <a:srgbClr val="5A4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-4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8302" y="1964862"/>
            <a:ext cx="294802" cy="29480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0" y="1874519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Revoking one trustee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350008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8DCC0"/>
                </a:solidFill>
                <a:latin typeface="Calibri"/>
              </a:rPr>
              <a:t>It's split-once: changing trustees means a full re-split.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11879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3A2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68680" y="3931920"/>
            <a:ext cx="566928" cy="566928"/>
          </a:xfrm>
          <a:prstGeom prst="ellipse">
            <a:avLst/>
          </a:prstGeom>
          <a:solidFill>
            <a:srgbClr val="5A4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-2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742" y="4067982"/>
            <a:ext cx="294802" cy="29480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91640" y="3977639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Online quorum &amp; key rotation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453128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8DCC0"/>
                </a:solidFill>
                <a:latin typeface="Calibri"/>
              </a:rPr>
              <a:t>Use threshold signatures (FROST) or HSM-backed multisig.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11879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3A2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492240" y="3931920"/>
            <a:ext cx="566928" cy="566928"/>
          </a:xfrm>
          <a:prstGeom prst="ellipse">
            <a:avLst/>
          </a:prstGeom>
          <a:solidFill>
            <a:srgbClr val="5A4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8302" y="4067982"/>
            <a:ext cx="294802" cy="29480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315200" y="3977639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Hundreds of trustees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453128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8DCC0"/>
                </a:solidFill>
                <a:latin typeface="Calibri"/>
              </a:rPr>
              <a:t>GF(256) caps at 255 — real ceremonies run in the tens.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B6B8C"/>
                </a:solidFill>
                <a:latin typeface="Calibri"/>
              </a:rPr>
              <a:t>Rare, high-stakes, offline, small trustee set, shareable vault file — that's the sweet spot.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TAKE THESE 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Three things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Conference Talk  ·  v4.1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17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45920"/>
            <a:ext cx="731520" cy="731520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141B4D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57276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1B4D"/>
                </a:solidFill>
                <a:latin typeface="Calibri"/>
              </a:rPr>
              <a:t>Threshold, not chunks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10312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6B8C"/>
                </a:solidFill>
                <a:latin typeface="Calibri"/>
              </a:rPr>
              <a:t>Shamir turns "split a secret" into a real D-of-T threshold — and below D, zero information.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108960"/>
            <a:ext cx="731520" cy="731520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141B4D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0358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1B4D"/>
                </a:solidFill>
                <a:latin typeface="Calibri"/>
              </a:rPr>
              <a:t>It runs today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5661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6B8C"/>
                </a:solidFill>
                <a:latin typeface="Calibri"/>
              </a:rPr>
              <a:t>A working reference implementation, down to a vault file that leaks no shard-to-trustee mapping.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572000"/>
            <a:ext cx="731520" cy="731520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572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141B4D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49884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1B4D"/>
                </a:solidFill>
                <a:latin typeface="Calibri"/>
              </a:rPr>
              <a:t>It generalizes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0292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6B8C"/>
                </a:solidFill>
                <a:latin typeface="Calibri"/>
              </a:rPr>
              <a:t>Gate any consequential action — and enforce human-AI oversight in both directions.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20">
                <a:solidFill>
                  <a:srgbClr val="E7B93E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Math beats policies and permissions.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291840"/>
            <a:ext cx="3383280" cy="164592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097280" y="356616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175" y="3689055"/>
            <a:ext cx="266273" cy="2662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0" y="3584448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Run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02336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github.com/splashd1/shardic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291840"/>
            <a:ext cx="3383280" cy="164592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709160" y="356616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055" y="3689055"/>
            <a:ext cx="266273" cy="2662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40680" y="3584448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Read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402336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White paper v4.1 · public-education explainer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291840"/>
            <a:ext cx="3383280" cy="164592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21040" y="356616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3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3935" y="3689055"/>
            <a:ext cx="266273" cy="26627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52560" y="3584448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Build with 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402336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Integration conversations welcome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AEB9DC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