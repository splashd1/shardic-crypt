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22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30000" cy="6126480"/>
          </a:xfrm>
          <a:prstGeom prst="roundRect">
            <a:avLst>
              <a:gd name="adj" fmla="val 1791"/>
            </a:avLst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868680"/>
            <a:ext cx="146304" cy="14630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9720" y="868680"/>
            <a:ext cx="146304" cy="14630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868680"/>
            <a:ext cx="146304" cy="14630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868680"/>
            <a:ext cx="146304" cy="146304"/>
          </a:xfrm>
          <a:prstGeom prst="ellipse">
            <a:avLst/>
          </a:prstGeom>
          <a:solidFill>
            <a:srgbClr val="141B4D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12680" y="868680"/>
            <a:ext cx="146304" cy="146304"/>
          </a:xfrm>
          <a:prstGeom prst="ellipse">
            <a:avLst/>
          </a:prstGeom>
          <a:solidFill>
            <a:srgbClr val="141B4D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1540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SHARES  ·  THRESHOLD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SHARDIC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Threshold-Recoverable Encrypted Vaults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9136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multi-person integrity for high-stakes data recovery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590288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687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Paper Companion Deck  ·  July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5934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github.com/splashd1/shardic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THE STATUS QUO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Key, One Point of Failure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holds the key — a person, a process, a single server — has complete and unilateral power over the data it protects. Access is a binary, anonymous fact: either you hold the key, or you don't.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35224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a key with another key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who the single point of control is — not that there is 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9534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12464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a key in an HSM or safe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where it lives — a single compromised operator still defeats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67258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489704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changes the shape of the trust model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secret, one holder, one point of failure.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86600" y="1554480"/>
            <a:ext cx="45262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38260" y="19659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0" descr="icon_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5430" y="2183130"/>
            <a:ext cx="434340" cy="4343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086600" y="2971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86600" y="3291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unilateral access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0" y="3886200"/>
            <a:ext cx="3520440" cy="0"/>
          </a:xfrm>
          <a:prstGeom prst="line">
            <a:avLst/>
          </a:prstGeom>
          <a:noFill/>
          <a:ln w="12700">
            <a:solidFill>
              <a:srgbClr val="DCE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86600" y="4023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of these is sufficient to cause disclosure: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35240" y="4434840"/>
            <a:ext cx="3429000" cy="384048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44348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insider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35240" y="4910328"/>
            <a:ext cx="3429000" cy="384048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21" name="Text 18"/>
          <p:cNvSpPr/>
          <p:nvPr/>
        </p:nvSpPr>
        <p:spPr>
          <a:xfrm>
            <a:off x="7635240" y="49103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Coerced operator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635240" y="5385816"/>
            <a:ext cx="3429000" cy="384048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23" name="Text 20"/>
          <p:cNvSpPr/>
          <p:nvPr/>
        </p:nvSpPr>
        <p:spPr>
          <a:xfrm>
            <a:off x="7635240" y="53858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credential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THE ALTERNATIVE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Party Can Unilaterally Decrypt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91640" y="27889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3017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 flipV="1">
            <a:off x="2606040" y="1691640"/>
            <a:ext cx="1600200" cy="1554480"/>
          </a:xfrm>
          <a:prstGeom prst="line">
            <a:avLst/>
          </a:prstGeom>
          <a:noFill/>
          <a:ln w="15875">
            <a:solidFill>
              <a:srgbClr val="DCE4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14356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icon_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5636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 flipV="1">
            <a:off x="2606040" y="2514600"/>
            <a:ext cx="1600200" cy="731520"/>
          </a:xfrm>
          <a:prstGeom prst="line">
            <a:avLst/>
          </a:prstGeom>
          <a:noFill/>
          <a:ln w="15875">
            <a:solidFill>
              <a:srgbClr val="DCE4F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06240" y="22585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icon_cub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2386584"/>
            <a:ext cx="256032" cy="2560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606040" y="3246120"/>
            <a:ext cx="1600200" cy="91440"/>
          </a:xfrm>
          <a:prstGeom prst="line">
            <a:avLst/>
          </a:prstGeom>
          <a:noFill/>
          <a:ln w="15875">
            <a:solidFill>
              <a:srgbClr val="DCE4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206240" y="30815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3" descr="icon_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3209544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606040" y="3246120"/>
            <a:ext cx="1600200" cy="914400"/>
          </a:xfrm>
          <a:prstGeom prst="line">
            <a:avLst/>
          </a:prstGeom>
          <a:noFill/>
          <a:ln w="15875">
            <a:solidFill>
              <a:srgbClr val="DCE4F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206240" y="3904488"/>
            <a:ext cx="512064" cy="512064"/>
          </a:xfrm>
          <a:prstGeom prst="ellipse">
            <a:avLst/>
          </a:prstGeom>
          <a:solidFill>
            <a:srgbClr val="AEB9DC"/>
          </a:solidFill>
          <a:ln/>
        </p:spPr>
      </p:sp>
      <p:pic>
        <p:nvPicPr>
          <p:cNvPr id="18" name="Image 4" descr="icon_cub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4032504"/>
            <a:ext cx="256032" cy="25603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2606040" y="3246120"/>
            <a:ext cx="1600200" cy="1737360"/>
          </a:xfrm>
          <a:prstGeom prst="line">
            <a:avLst/>
          </a:prstGeom>
          <a:noFill/>
          <a:ln w="15875">
            <a:solidFill>
              <a:srgbClr val="DCE4F5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206240" y="4727448"/>
            <a:ext cx="512064" cy="512064"/>
          </a:xfrm>
          <a:prstGeom prst="ellipse">
            <a:avLst/>
          </a:prstGeom>
          <a:solidFill>
            <a:srgbClr val="AEB9DC"/>
          </a:solidFill>
          <a:ln/>
        </p:spPr>
      </p:sp>
      <p:pic>
        <p:nvPicPr>
          <p:cNvPr id="21" name="Image 5" descr="icon_cub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256" y="4855464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931920" y="5486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shares (T)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5623560" y="278892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62356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5</a:t>
            </a:r>
            <a:endParaRPr lang="en-US" sz="2600" dirty="0"/>
          </a:p>
        </p:txBody>
      </p:sp>
      <p:sp>
        <p:nvSpPr>
          <p:cNvPr id="25" name="Text 17"/>
          <p:cNvSpPr/>
          <p:nvPr/>
        </p:nvSpPr>
        <p:spPr>
          <a:xfrm>
            <a:off x="5623560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reconstruct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8458200" y="3246120"/>
            <a:ext cx="5029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8915400" y="2880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6" descr="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3063240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27532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9921240" y="1417320"/>
            <a:ext cx="1783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trustee — including the vault's creator — can ever recover the data alone.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rogue insider or single compromised account is insufficient; collusion of D independents is required.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loss of up to T − D trustees without losing recoverability.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recovery event has a natural audit trail of who participated.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— REPRESENTATIVE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Threshold Recovery 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802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Infrastructure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 keys, production database master keys, SCADA overrides. T=7, D=4 — nobody has access day-to-day.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20802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&amp; Succession Planning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75120" y="26517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Password-manager master vaults split among relatives, a lawyer, and a partner (T=5, D=3), with memorable codewords.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_lan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4577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70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Public Sector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50292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two-person rules, lawful-intercept escrow, continuity-of-government credentials, election tabulation keys.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55080" y="39776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_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44577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270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Regulated Industry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75120" y="50292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escrow, treasury cold storage, whistleblower archives, SOX/HIPAA separation-of-duties enforcement.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OPERATOR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Vault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54533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 (trustees) and D (threshold) before doing anything else.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258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selects the KDF — Argon2id if available, else PBKDF2.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9718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--memorable codewords from the bundled EFF wordlist.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36850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 combinatorial strength estimate before anything is distributed.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5312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9826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the archive once (AES-256-GCM) under a random 256-bit DEK, splits the DEK into T Shamir shares.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66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511149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one .krypt file, plus one codeword file per trustee.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92531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operator's remaining job is procedural, not cryptographic — distribute out of band, then delete local copies.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55448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141B4D"/>
          </a:solidFill>
          <a:ln w="15875">
            <a:solidFill>
              <a:srgbClr val="141B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4808" y="1737360"/>
            <a:ext cx="91440" cy="91440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665976" y="1737360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867144" y="1737360"/>
            <a:ext cx="91440" cy="91440"/>
          </a:xfrm>
          <a:prstGeom prst="ellipse">
            <a:avLst/>
          </a:prstGeom>
          <a:solidFill>
            <a:srgbClr val="3EBD6E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6916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vault_create.py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19672" y="2011680"/>
            <a:ext cx="506577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vault_create.py \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--input ./secret_docs \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--trustees 5 --threshold 3 --word-count 3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[i] Share protection KDF: pbkdf2 (400000 iters)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[i] No --word-length: defaulting to --memorable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[*] Loaded 7772 candidate words (EFF wordlist)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2C7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[*] Estimated codeword strength: ~39 bits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2C7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combinatorial per trustee (before KDF)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[*] Split DEK into 5 shares, threshold 3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Wrote vault container: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vault_out/ce28by1pn9z8wib2.krypt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Wrote 5 trustee codeword files.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Distribute out of band, then delete.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OPERATOR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Recovering a Vault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141B4D"/>
          </a:solidFill>
          <a:ln w="15875">
            <a:solidFill>
              <a:srgbClr val="141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37360"/>
            <a:ext cx="91440" cy="91440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737360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737360"/>
            <a:ext cx="91440" cy="91440"/>
          </a:xfrm>
          <a:prstGeom prst="ellipse">
            <a:avLst/>
          </a:prstGeom>
          <a:solidFill>
            <a:srgbClr val="3EBD6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vault_recover.py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2011680"/>
            <a:ext cx="50657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vault_recover.py \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vault_out/ce28by1pn9z8wib2.krypt \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--word "broadside-repulsion-subway" \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--word "valuables-repeater-oversleep" \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--word "winking-portly-diffusion"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[i] This vault requires 3 of 5 codewords.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Codeword accepted (1/3).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Codeword accepted (2/3).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Codeword accepted (3/3).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[*] Reconstructing DEK from shares ...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C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[*] Success. Recovered to /recovered_out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0810" y="181737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86600" y="1664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order accepted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086600" y="19476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doesn't ask “which trustee are you” — each codeword is tried against every not-yet-matched share until one authenticates.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5508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10" y="318897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30358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by design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086600" y="33192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fewer than D codewords match, or any are wrong, the tool reports how many were accepted and stops — never partial or best-guess output.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550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icon_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456057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86600" y="4407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mapping required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086600" y="46908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never specifies which codeword belongs to which trustee — the tool figures it out via trial matching (§3.4).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A MANDATORY-TRUSTEE VARIANT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shardic-prime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scheme treats every trustee identically. shardic-prime adds one essential trustee: their codeword must always be supplied, no matter how many others are gathered.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4203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situations where one specific role — an estate's executor, a security lead — must always sign off, while backups can be any qualifying subset.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520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CLI tools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352044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35204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container format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0" y="35204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3520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metadata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 = 4, D = 3  </a:t>
            </a:r>
            <a:pPr indent="0" marL="0">
              <a:buNone/>
            </a:pPr>
            <a:r>
              <a:rPr lang="en-US" sz="1150" i="1" dirty="0">
                <a:solidFill>
                  <a:srgbClr val="5B6E9E"/>
                </a:solidFill>
              </a:rPr>
              <a:t>example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prime trustee  +  any 2 of 3 pool trustees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pool codewords, gathered without the prime's, recover nothing — a property of the construction itself, not just the CLI.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REQUIRES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21945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0" descr="icon_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8230" y="2388870"/>
            <a:ext cx="388620" cy="3886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1812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18120" y="32735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required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549640" y="365760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8549640" y="36576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6092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1" descr="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652" y="4347972"/>
            <a:ext cx="283464" cy="283464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877824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972" y="4347972"/>
            <a:ext cx="283464" cy="28346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10195560" y="4206240"/>
            <a:ext cx="566928" cy="566928"/>
          </a:xfrm>
          <a:prstGeom prst="ellipse">
            <a:avLst/>
          </a:prstGeom>
          <a:solidFill>
            <a:srgbClr val="AEB9DC"/>
          </a:solidFill>
          <a:ln/>
        </p:spPr>
      </p:sp>
      <p:pic>
        <p:nvPicPr>
          <p:cNvPr id="29" name="Image 3" descr="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292" y="4347972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675120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2 of 3 POOL trustees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– 3.2 — TECHNICAL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the Key, Not Just Encrypting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2286000"/>
            <a:ext cx="5029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69164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random 256-bit DEK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(uncompressed archive)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5029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29400" y="169164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80360"/>
            <a:ext cx="0" cy="502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352044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 Split — GF(2⁸)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63240" y="40416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DEK's 32 bytes each become the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term of a degree D−1 polynomial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402336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20840" y="3639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0" descr="icon_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6570" y="3765042"/>
            <a:ext cx="251460" cy="25146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269480" y="3639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1" descr="icon_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210" y="3765042"/>
            <a:ext cx="251460" cy="25146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818120" y="3639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icon_cub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0" y="3765042"/>
            <a:ext cx="251460" cy="2514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366760" y="3639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icon_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490" y="3765042"/>
            <a:ext cx="251460" cy="25146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915400" y="3639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icon_cub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130" y="3765042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53796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shares, each at a distinct x-coordinate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48640" y="50749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BEEE3"/>
          </a:solidFill>
          <a:ln w="15875">
            <a:solidFill>
              <a:srgbClr val="EAD2B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rgbClr val="8A4315"/>
          </a:solidFill>
          <a:ln/>
        </p:spPr>
      </p:sp>
      <p:pic>
        <p:nvPicPr>
          <p:cNvPr id="31" name="Image 5" descr="icon_bal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55092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91640" y="521208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8A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Information-theoretic, not merely computational. 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degree D−1 polynomial is uniquely determined by any D points — but with only D−1 points, every possible value of the secret byte remains equally consistent. An attacker holding fewer than D shares learns exactly zero bits, regardless of computing power.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– 3.4 — FILE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File, Zero Metadata Leakage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846320" cy="4617720"/>
          </a:xfrm>
          <a:prstGeom prst="roundRect">
            <a:avLst>
              <a:gd name="adj" fmla="val 1584"/>
            </a:avLst>
          </a:prstGeom>
          <a:solidFill>
            <a:srgbClr val="141B4D"/>
          </a:solidFill>
          <a:ln w="15875">
            <a:solidFill>
              <a:srgbClr val="141B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.krypt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263874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header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 — “KRYPTv1\n”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338328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263874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(JSON)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KDF method + params, shuffled share records: {salt, nonce, ciphertext} — no trustee mapping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498348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263874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074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5349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AES-GCM bytes, no base64 (avoids ~33% size penalty)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1500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0" descr="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0" y="1805940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166420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file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0" y="194767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accidentally separate from a companion metadata file — copy, email, or upload a single .krypt.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15000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icon_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90322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00800" y="276148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assignment mapping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400800" y="304495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order is randomly shuffled at creation; no record ties a share to a trustee or a codeword.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715000" y="3886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400050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0800" y="385876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matching, not lookup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400800" y="4142232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tries each codeword against every unmatched share; AES-GCM's auth tag is the correctness oracle — fails fast, never garbage output.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715000" y="5166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528066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00800" y="51389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leaks at rest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400800" y="5422392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Seizing the file, or several codewords, in isolation reveals no assignment information beyond what successful decryption itself shows.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– 4.3 — SECURITY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Guarantees, Two Different Levers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 &amp; Shamir Split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D, shares carry zero information about the key — regardless of computing power. Raising T or D changes how many parties must collude, not how hard one share is to attack.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8A4315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Codeword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strong as its own guessing space and KDF cost — the operator's responsibility. A higher D does not compensate: an attacker only ever needs D individually weak codewords.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Codeword generation modes — word count is what sets the real security margin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3593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Memorable (default)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4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~12.9 bits/word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real words, EFF long list. 8 words ≈ 103 bits by default.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25112" y="4617720"/>
            <a:ext cx="3593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3712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4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~8–11 bits/word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53712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length from a supplied wordlist — uniform shape, smaller pool.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01584" y="4617720"/>
            <a:ext cx="35935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184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0184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4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~3.36 bits/char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0184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Pronounceable syllables; --strong-words adds case + digits for density.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3.6, 4.4 — A PROPOSED EXTENSION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shardic-envelope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0" y="502920"/>
            <a:ext cx="3749040" cy="384048"/>
          </a:xfrm>
          <a:prstGeom prst="roundRect">
            <a:avLst>
              <a:gd name="adj" fmla="val 50000"/>
            </a:avLst>
          </a:prstGeom>
          <a:solidFill>
            <a:srgbClr val="FBEEE3"/>
          </a:solidFill>
          <a:ln w="12700">
            <a:solidFill>
              <a:srgbClr val="8A43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502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8A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NOT YET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codeword mode ultimately protects a share with something a human can recall — the design's real computational bottleneck. shardic-envelope removes that ceiling for trustees willing to hold a keypair, wrapping each codeword under a key they already control rather than under a memory limit.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314325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3657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pools who already function as cryptographic identities in their day job — infra engineers, security officers, multisig cold-storage signers, PKI-backed roles. Near-arbitrary codeword strength, zero memorization burden.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5074920"/>
            <a:ext cx="4892040" cy="0"/>
          </a:xfrm>
          <a:prstGeom prst="line">
            <a:avLst/>
          </a:prstGeom>
          <a:noFill/>
          <a:ln w="12700">
            <a:solidFill>
              <a:srgbClr val="DCE4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212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A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 private key becomes a new single point of failure per share, and credential lookup introduces a new trust boundary.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278892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3017520"/>
            <a:ext cx="502920" cy="502920"/>
          </a:xfrm>
          <a:prstGeom prst="ellipse">
            <a:avLst/>
          </a:prstGeom>
          <a:solidFill>
            <a:srgbClr val="8A4315"/>
          </a:solidFill>
          <a:ln/>
        </p:spPr>
      </p:sp>
      <p:pic>
        <p:nvPicPr>
          <p:cNvPr id="16" name="Image 1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314325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8660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446520" y="3657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diceware-style family-estate case (§1.3): the whole premise is a relative who can recall a phrase without managing cryptographic material. Trading “remember five words” for “protect a key file forever” is plausibly a net loss for a non-technical trustee.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46520" y="5074920"/>
            <a:ext cx="4892040" cy="0"/>
          </a:xfrm>
          <a:prstGeom prst="line">
            <a:avLst/>
          </a:prstGeom>
          <a:noFill/>
          <a:ln w="12700">
            <a:solidFill>
              <a:srgbClr val="DCE4F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46520" y="5212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mechanisms are complementary — which trustees use envelope wrapping vs. a memorable phrase is a per-trustee decision, not vault-wide.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— EXTENSIBILITY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 &amp; Delivery in the Operational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32520" y="50292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BEEE3"/>
          </a:solidFill>
          <a:ln w="12700">
            <a:solidFill>
              <a:srgbClr val="8A43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5029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8A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UNIMPLEMENTED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shardic-envelope's CredentialLookup interface (§3.6) was left deliberately open — two follow-on design docs sketch a concrete, Keycloak-backed implementation of the whole register → wrap → deliver → recover lifecycle, without touching the core crypto path.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7340" y="27249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icon_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8849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493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8404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Trustees selected from a dedicated Keycloak group. Keypair is generated client-side only (WebCrypto / hardware token) — the private key never leaves the trustee's device.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64408" y="3886200"/>
            <a:ext cx="10058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83280" y="251460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11980" y="27249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8493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3493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Wrap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611880" y="38404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vault_create.py calls CredentialLookup.get_public_key(trustee_id) against a local key registry — not Keycloak itself — and wraps each codeword under it.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99048" y="3886200"/>
            <a:ext cx="10058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217920" y="251460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246620" y="27249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icon_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88493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3493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Deliver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446520" y="38404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.envelope files sit at a pull-based, single-read drop point keyed by trustee_id. Trustee fetches it once via an OIDC session.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933688" y="3886200"/>
            <a:ext cx="10058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052560" y="251460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081260" y="27249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884932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35440" y="3493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Recover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281160" y="38404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decrypts their own envelope locally with their private key, then supplies the codeword — the base recovery flow (§2.2) is otherwise unchanged.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BEEE3"/>
          </a:solidFill>
          <a:ln w="15875">
            <a:solidFill>
              <a:srgbClr val="E3B89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22960" y="5596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A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extensibility principle: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identity/selection (Keycloak's job) stays cleanly separated from key custody (never Keycloak's job), and OAuth is scoped to registration and delivery only — it never becomes a dependency of the wrap or recovery math itself, so the offline, fail-closed core (§3.1–3.4) is unchanged.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—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06197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lone-actor risk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mathematically impossible below threshold, not just procedurally discouraged.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43484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90872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206197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trustee-loss tolerance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90872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 of T is sufficient — survives unavailable or non-cooperating trustees.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77072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72" y="206197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77072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metadata leakage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577072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file alone reveals no trustee-to-share mapping, even under direct inspection.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050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16509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 recovery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KDF method and parameters travel with the vault — no external config to match.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434840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90872" y="4050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172" y="4165092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0872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Mandatory-signer variant available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690872" y="5029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shardic-prime, without weakening the underlying guarantees.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321040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7C4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577072" y="4050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1372" y="4165092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77072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throughout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577072" y="5029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or incorrect codewords stop the operation — no silent-degradation path.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—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— And How They're Mitigated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" cy="402336"/>
          </a:xfrm>
          <a:prstGeom prst="ellipse">
            <a:avLst/>
          </a:prstGeom>
          <a:solidFill>
            <a:srgbClr val="8A4315"/>
          </a:solidFill>
          <a:ln/>
        </p:spPr>
      </p:sp>
      <p:pic>
        <p:nvPicPr>
          <p:cNvPr id="5" name="Image 0" descr="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0078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544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Codeword strength is the real bottleneck.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8928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A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adequate word count; review the tool's own entropy estimate before distribution; prefer Argon2id.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402336" cy="402336"/>
          </a:xfrm>
          <a:prstGeom prst="ellipse">
            <a:avLst/>
          </a:prstGeom>
          <a:solidFill>
            <a:srgbClr val="8A4315"/>
          </a:solidFill>
          <a:ln/>
        </p:spPr>
      </p:sp>
      <p:pic>
        <p:nvPicPr>
          <p:cNvPr id="9" name="Image 1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6334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4871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split-once design — no live rotation.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43000" y="28254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A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scoped to rare, offline break-glass access. Frequent/live authorization: use FROST or HSM-backed multisig instead.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465576"/>
            <a:ext cx="402336" cy="402336"/>
          </a:xfrm>
          <a:prstGeom prst="ellipse">
            <a:avLst/>
          </a:prstGeom>
          <a:solidFill>
            <a:srgbClr val="8A4315"/>
          </a:solidFill>
          <a:ln/>
        </p:spPr>
      </p:sp>
      <p:pic>
        <p:nvPicPr>
          <p:cNvPr id="13" name="Image 2" descr="icon_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56616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41985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.krypt file is a single point of availability failure.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375818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A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the container durably — unlike the legacy split-file format, there is only one file to protect.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4398264"/>
            <a:ext cx="402336" cy="402336"/>
          </a:xfrm>
          <a:prstGeom prst="ellipse">
            <a:avLst/>
          </a:prstGeom>
          <a:solidFill>
            <a:srgbClr val="8A4315"/>
          </a:solidFill>
          <a:ln/>
        </p:spPr>
      </p:sp>
      <p:pic>
        <p:nvPicPr>
          <p:cNvPr id="17" name="Image 3" descr="icon_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49884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435254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limitlessly — 255-trustee GF(256) ceiling.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43000" y="4690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A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double-digit trustee models by design; use it where it fits the need.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5330952"/>
            <a:ext cx="402336" cy="402336"/>
          </a:xfrm>
          <a:prstGeom prst="ellipse">
            <a:avLst/>
          </a:prstGeom>
          <a:solidFill>
            <a:srgbClr val="8A4315"/>
          </a:solidFill>
          <a:ln/>
        </p:spPr>
      </p:sp>
      <p:pic>
        <p:nvPicPr>
          <p:cNvPr id="21" name="Image 4" descr="icon_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543153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52852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build path not yet verified on real hardware.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43000" y="5623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A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CLI, GUI, and AppImage builds are independently verified; Windows verification is a tracked open item.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30000" cy="6126480"/>
          </a:xfrm>
          <a:prstGeom prst="roundRect">
            <a:avLst>
              <a:gd name="adj" fmla="val 1791"/>
            </a:avLst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85800"/>
            <a:ext cx="146304" cy="14630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685800"/>
            <a:ext cx="146304" cy="14630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685800"/>
            <a:ext cx="146304" cy="14630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685800"/>
            <a:ext cx="146304" cy="146304"/>
          </a:xfrm>
          <a:prstGeom prst="ellipse">
            <a:avLst/>
          </a:prstGeom>
          <a:solidFill>
            <a:srgbClr val="141B4D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685800"/>
            <a:ext cx="146304" cy="146304"/>
          </a:xfrm>
          <a:prstGeom prst="ellipse">
            <a:avLst/>
          </a:prstGeom>
          <a:solidFill>
            <a:srgbClr val="141B4D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4884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“Math beats policies and permissions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enforcement.”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011680" y="36576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recovery below D trustees is enforced by mathematics — not bypassable by any administrator, insider, or software defect in the recovery tool itself.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66360" y="4480560"/>
            <a:ext cx="1828800" cy="0"/>
          </a:xfrm>
          <a:prstGeom prst="line">
            <a:avLst/>
          </a:prstGeom>
          <a:noFill/>
          <a:ln w="19050">
            <a:solidFill>
              <a:srgbClr val="4A5A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github.com/splashd1/shardic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971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B7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 · Sharded Encryption for Threshold-Recoverable Vaults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— THE INTUITION</a:t>
            </a:r>
            <a:endParaRPr lang="en-US" sz="1200" dirty="0"/>
          </a:p>
        </p:txBody>
      </p:sp>
      <p:sp>
        <p:nvSpPr>
          <p:cNvPr id="102" name="Text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Secret Hidden as a Single Point</a:t>
            </a:r>
            <a:endParaRPr lang="en-US" sz="3000" dirty="0"/>
          </a:p>
        </p:txBody>
      </p:sp>
      <p:sp>
        <p:nvSpPr>
          <p:cNvPr id="103" name="Line"/>
          <p:cNvSpPr/>
          <p:nvPr/>
        </p:nvSpPr>
        <p:spPr>
          <a:xfrm>
            <a:off x="1005840" y="1691640"/>
            <a:ext cx="0" cy="31089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04" name="Line"/>
          <p:cNvSpPr/>
          <p:nvPr/>
        </p:nvSpPr>
        <p:spPr>
          <a:xfrm>
            <a:off x="1005840" y="4800600"/>
            <a:ext cx="3384550" cy="0"/>
          </a:xfrm>
          <a:prstGeom prst="line">
            <a:avLst/>
          </a:prstGeom>
          <a:noFill/>
          <a:ln w="12700">
            <a:solidFill>
              <a:srgbClr val="AEB9DC"/>
            </a:solidFill>
            <a:prstDash val="solid"/>
          </a:ln>
        </p:spPr>
      </p:sp>
      <p:sp>
        <p:nvSpPr>
          <p:cNvPr id="105" name="Line"/>
          <p:cNvSpPr/>
          <p:nvPr/>
        </p:nvSpPr>
        <p:spPr>
          <a:xfrm>
            <a:off x="1005840" y="1966595"/>
            <a:ext cx="1600200" cy="1096010"/>
          </a:xfrm>
          <a:prstGeom prst="line">
            <a:avLst/>
          </a:prstGeom>
          <a:noFill/>
          <a:ln w="12700">
            <a:solidFill>
              <a:srgbClr val="AEB9DC"/>
            </a:solidFill>
            <a:prstDash val="dash"/>
          </a:ln>
        </p:spPr>
      </p:sp>
      <p:sp>
        <p:nvSpPr>
          <p:cNvPr id="106" name="Dot"/>
          <p:cNvSpPr/>
          <p:nvPr/>
        </p:nvSpPr>
        <p:spPr>
          <a:xfrm>
            <a:off x="978408" y="1939163"/>
            <a:ext cx="54864" cy="548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EB9DC"/>
            </a:solidFill>
          </a:ln>
        </p:spPr>
      </p:sp>
      <p:sp>
        <p:nvSpPr>
          <p:cNvPr id="107" name="Line"/>
          <p:cNvSpPr/>
          <p:nvPr/>
        </p:nvSpPr>
        <p:spPr>
          <a:xfrm>
            <a:off x="1005840" y="2515995"/>
            <a:ext cx="1600200" cy="546610"/>
          </a:xfrm>
          <a:prstGeom prst="line">
            <a:avLst/>
          </a:prstGeom>
          <a:noFill/>
          <a:ln w="12700">
            <a:solidFill>
              <a:srgbClr val="AEB9DC"/>
            </a:solidFill>
            <a:prstDash val="dash"/>
          </a:ln>
        </p:spPr>
      </p:sp>
      <p:sp>
        <p:nvSpPr>
          <p:cNvPr id="108" name="Dot"/>
          <p:cNvSpPr/>
          <p:nvPr/>
        </p:nvSpPr>
        <p:spPr>
          <a:xfrm>
            <a:off x="978408" y="2488563"/>
            <a:ext cx="54864" cy="548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EB9DC"/>
            </a:solidFill>
          </a:ln>
        </p:spPr>
      </p:sp>
      <p:sp>
        <p:nvSpPr>
          <p:cNvPr id="109" name="Line"/>
          <p:cNvSpPr/>
          <p:nvPr/>
        </p:nvSpPr>
        <p:spPr>
          <a:xfrm flipV="1">
            <a:off x="1005840" y="3062605"/>
            <a:ext cx="1600200" cy="546620"/>
          </a:xfrm>
          <a:prstGeom prst="line">
            <a:avLst/>
          </a:prstGeom>
          <a:noFill/>
          <a:ln w="12700">
            <a:solidFill>
              <a:srgbClr val="AEB9DC"/>
            </a:solidFill>
            <a:prstDash val="dash"/>
          </a:ln>
        </p:spPr>
      </p:sp>
      <p:sp>
        <p:nvSpPr>
          <p:cNvPr id="110" name="Dot"/>
          <p:cNvSpPr/>
          <p:nvPr/>
        </p:nvSpPr>
        <p:spPr>
          <a:xfrm>
            <a:off x="978408" y="3581793"/>
            <a:ext cx="54864" cy="548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EB9DC"/>
            </a:solidFill>
          </a:ln>
        </p:spPr>
      </p:sp>
      <p:sp>
        <p:nvSpPr>
          <p:cNvPr id="111" name="Line"/>
          <p:cNvSpPr/>
          <p:nvPr/>
        </p:nvSpPr>
        <p:spPr>
          <a:xfrm flipV="1">
            <a:off x="1005840" y="3062605"/>
            <a:ext cx="1600200" cy="1095220"/>
          </a:xfrm>
          <a:prstGeom prst="line">
            <a:avLst/>
          </a:prstGeom>
          <a:noFill/>
          <a:ln w="12700">
            <a:solidFill>
              <a:srgbClr val="AEB9DC"/>
            </a:solidFill>
            <a:prstDash val="dash"/>
          </a:ln>
        </p:spPr>
      </p:sp>
      <p:sp>
        <p:nvSpPr>
          <p:cNvPr id="112" name="Dot"/>
          <p:cNvSpPr/>
          <p:nvPr/>
        </p:nvSpPr>
        <p:spPr>
          <a:xfrm>
            <a:off x="978408" y="4130393"/>
            <a:ext cx="54864" cy="548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EB9DC"/>
            </a:solidFill>
          </a:ln>
        </p:spPr>
      </p:sp>
      <p:sp>
        <p:nvSpPr>
          <p:cNvPr id="113" name="Dot"/>
          <p:cNvSpPr/>
          <p:nvPr/>
        </p:nvSpPr>
        <p:spPr>
          <a:xfrm>
            <a:off x="2551176" y="3007741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4" name="Text"/>
          <p:cNvSpPr/>
          <p:nvPr/>
        </p:nvSpPr>
        <p:spPr>
          <a:xfrm>
            <a:off x="2148840" y="284353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share</a:t>
            </a:r>
            <a:endParaRPr lang="en-US" sz="1000" dirty="0"/>
          </a:p>
        </p:txBody>
      </p:sp>
      <p:sp>
        <p:nvSpPr>
          <p:cNvPr id="115" name="Text"/>
          <p:cNvSpPr/>
          <p:nvPr/>
        </p:nvSpPr>
        <p:spPr>
          <a:xfrm>
            <a:off x="731520" y="4892040"/>
            <a:ext cx="3155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secret still possible</a:t>
            </a:r>
            <a:endParaRPr lang="en-US" sz="950" dirty="0"/>
          </a:p>
        </p:txBody>
      </p:sp>
      <p:sp>
        <p:nvSpPr>
          <p:cNvPr id="116" name="Line"/>
          <p:cNvSpPr/>
          <p:nvPr/>
        </p:nvSpPr>
        <p:spPr>
          <a:xfrm>
            <a:off x="6583680" y="1691640"/>
            <a:ext cx="0" cy="31089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17" name="Line"/>
          <p:cNvSpPr/>
          <p:nvPr/>
        </p:nvSpPr>
        <p:spPr>
          <a:xfrm>
            <a:off x="6583680" y="4800600"/>
            <a:ext cx="3383915" cy="0"/>
          </a:xfrm>
          <a:prstGeom prst="line">
            <a:avLst/>
          </a:prstGeom>
          <a:noFill/>
          <a:ln w="12700">
            <a:solidFill>
              <a:srgbClr val="AEB9DC"/>
            </a:solidFill>
            <a:prstDash val="solid"/>
          </a:ln>
        </p:spPr>
      </p:sp>
      <p:sp>
        <p:nvSpPr>
          <p:cNvPr id="118" name="Line"/>
          <p:cNvSpPr/>
          <p:nvPr/>
        </p:nvSpPr>
        <p:spPr>
          <a:xfrm>
            <a:off x="6583680" y="1965325"/>
            <a:ext cx="2103120" cy="1737995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119" name="Dot"/>
          <p:cNvSpPr/>
          <p:nvPr/>
        </p:nvSpPr>
        <p:spPr>
          <a:xfrm>
            <a:off x="7269480" y="233172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0" name="Dot"/>
          <p:cNvSpPr/>
          <p:nvPr/>
        </p:nvSpPr>
        <p:spPr>
          <a:xfrm>
            <a:off x="8641080" y="324612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1" name="Text"/>
          <p:cNvSpPr/>
          <p:nvPr/>
        </p:nvSpPr>
        <p:spPr>
          <a:xfrm>
            <a:off x="6858000" y="215836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</a:t>
            </a:r>
            <a:endParaRPr lang="en-US" sz="1000" dirty="0"/>
          </a:p>
        </p:txBody>
      </p:sp>
      <p:sp>
        <p:nvSpPr>
          <p:cNvPr id="122" name="Text"/>
          <p:cNvSpPr/>
          <p:nvPr/>
        </p:nvSpPr>
        <p:spPr>
          <a:xfrm>
            <a:off x="8229600" y="3337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</a:t>
            </a:r>
            <a:endParaRPr lang="en-US" sz="1000" dirty="0"/>
          </a:p>
        </p:txBody>
      </p:sp>
      <p:sp>
        <p:nvSpPr>
          <p:cNvPr id="123" name="Dot"/>
          <p:cNvSpPr/>
          <p:nvPr/>
        </p:nvSpPr>
        <p:spPr>
          <a:xfrm>
            <a:off x="6542532" y="1924177"/>
            <a:ext cx="82296" cy="822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</p:sp>
      <p:sp>
        <p:nvSpPr>
          <p:cNvPr id="124" name="Text"/>
          <p:cNvSpPr/>
          <p:nvPr/>
        </p:nvSpPr>
        <p:spPr>
          <a:xfrm>
            <a:off x="5852160" y="1645285"/>
            <a:ext cx="1462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</a:t>
            </a:r>
            <a:endParaRPr lang="en-US" sz="1000" dirty="0"/>
          </a:p>
        </p:txBody>
      </p:sp>
      <p:sp>
        <p:nvSpPr>
          <p:cNvPr id="125" name="Text"/>
          <p:cNvSpPr/>
          <p:nvPr/>
        </p:nvSpPr>
        <p:spPr>
          <a:xfrm>
            <a:off x="6309360" y="4892040"/>
            <a:ext cx="3155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answer fits</a:t>
            </a:r>
            <a:endParaRPr lang="en-US" sz="950" dirty="0"/>
          </a:p>
        </p:txBody>
      </p:sp>
      <p:sp>
        <p:nvSpPr>
          <p:cNvPr id="126" name="Text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determine a line. shardic's actual construction generalizes this to a polynomial — see §3.2.</a:t>
            </a:r>
            <a:endParaRPr lang="en-US" sz="1050" dirty="0"/>
          </a:p>
        </p:txBody>
      </p:sp>
      <p:sp>
        <p:nvSpPr>
          <p:cNvPr id="127" name="Text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900" dirty="0"/>
          </a:p>
        </p:txBody>
      </p:sp>
      <p:sp>
        <p:nvSpPr>
          <p:cNvPr id="128" name="Text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kern="0" dirty="0">
                <a:solidFill>
                  <a:srgbClr val="5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2026-07-14T12:53:46Z</dcterms:created>
  <dcterms:modified xsi:type="dcterms:W3CDTF">2026-07-14T12:53:46Z</dcterms:modified>
</cp:coreProperties>
</file>