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22"/>
    <p:sldId id="315" r:id="rId23"/>
    <p:sldId id="316" r:id="rId24"/>
    <p:sldId id="317" r:id="rId25"/>
    <p:sldId id="318" r:id="rId26"/>
    <p:sldId id="326" r:id="rId31"/>
    <p:sldId id="328" r:id="rId33"/>
    <p:sldId id="329" r:id="rId34"/>
    <p:sldId id="319" r:id="rId27"/>
    <p:sldId id="320" r:id="rId29"/>
    <p:sldId id="321" r:id="rId28"/>
    <p:sldId id="327" r:id="rId32"/>
    <p:sldId id="322" r:id="rId19"/>
    <p:sldId id="323" r:id="rId20"/>
    <p:sldId id="324" r:id="rId30"/>
    <p:sldId id="325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25.xml"/><Relationship Id="rId20" Type="http://schemas.openxmlformats.org/officeDocument/2006/relationships/slide" Target="slides/slide26.xml"/><Relationship Id="rId21" Type="http://schemas.openxmlformats.org/officeDocument/2006/relationships/slide" Target="slides/slide28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1.xml"/><Relationship Id="rId28" Type="http://schemas.openxmlformats.org/officeDocument/2006/relationships/slide" Target="slides/slide23.xml"/><Relationship Id="rId29" Type="http://schemas.openxmlformats.org/officeDocument/2006/relationships/slide" Target="slides/slide22.xml"/><Relationship Id="rId30" Type="http://schemas.openxmlformats.org/officeDocument/2006/relationships/slide" Target="slides/slide27.xml"/><Relationship Id="rId31" Type="http://schemas.openxmlformats.org/officeDocument/2006/relationships/slide" Target="slides/slide20.xml"/><Relationship Id="rId32" Type="http://schemas.openxmlformats.org/officeDocument/2006/relationships/slide" Target="slides/slide24.xml"/><Relationship Id="rId33" Type="http://schemas.openxmlformats.org/officeDocument/2006/relationships/slide" Target="slides/slide29.xml"/><Relationship Id="rId34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5.png"/><Relationship Id="rId6" Type="http://schemas.openxmlformats.org/officeDocument/2006/relationships/image" Target="../media/image31.png"/><Relationship Id="rId7" Type="http://schemas.openxmlformats.org/officeDocument/2006/relationships/image" Target="../media/image6.png"/><Relationship Id="rId8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3-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-4-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2-1.png"/><Relationship Id="rId5" Type="http://schemas.openxmlformats.org/officeDocument/2006/relationships/image" Target="../media/image-8-1.png"/><Relationship Id="rId6" Type="http://schemas.openxmlformats.org/officeDocument/2006/relationships/image" Target="../media/image-9-9.png"/><Relationship Id="rId7" Type="http://schemas.openxmlformats.org/officeDocument/2006/relationships/image" Target="../media/image-12-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3-3.png"/><Relationship Id="rId3" Type="http://schemas.openxmlformats.org/officeDocument/2006/relationships/image" Target="../media/image-2-1.png"/><Relationship Id="rId4" Type="http://schemas.openxmlformats.org/officeDocument/2006/relationships/image" Target="../media/image-13-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3.png"/><Relationship Id="rId3" Type="http://schemas.openxmlformats.org/officeDocument/2006/relationships/image" Target="../media/image-12-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3-3.png"/><Relationship Id="rId3" Type="http://schemas.openxmlformats.org/officeDocument/2006/relationships/image" Target="../media/image-8-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3-7.png"/><Relationship Id="rId4" Type="http://schemas.openxmlformats.org/officeDocument/2006/relationships/image" Target="../media/image-8-1.png"/><Relationship Id="rId5" Type="http://schemas.openxmlformats.org/officeDocument/2006/relationships/image" Target="../media/image-13-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-8-1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8-1.png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-2-1.png"/></Relationships>
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5 SHARES  ·  THRESHOLD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77240" y="16916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2788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Threshold-Recoverable Encrypted Vaults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32918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Enforcing multi-person integrity for high-stakes data recovery — now with pubkey-based envelope delivery and operator-run ceremony formation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822960" y="5806440"/>
            <a:ext cx="3840480" cy="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White Paper Companion Deck  ·  August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6217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github.com/splashd1/shardic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1.1 — THE STATUS QUO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One Key, One Point of Failure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417320"/>
            <a:ext cx="5577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Whoever holds the key — a person, a process, a single server — has complete and unilateral power over the data it protects. Access is a binary, anonymous fact: either you hold the key, or you don't.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2834640"/>
            <a:ext cx="5577840" cy="3200400"/>
          </a:xfrm>
          <a:prstGeom prst="roundRect">
            <a:avLst>
              <a:gd fmla="val 2571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68680" y="315468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key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299" y="330829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169164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KEY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691640" y="3520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complete, unilateral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68680" y="39776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E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FB2E0"/>
                </a:solidFill>
                <a:latin typeface="Calibri"/>
                <a:ea typeface="Calibri"/>
                <a:cs typeface="Calibri"/>
                <a:sym typeface="Calibri"/>
              </a:rPr>
              <a:t>Any ONE of these is sufficient to cause disclosure: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68680" y="4370832"/>
            <a:ext cx="82296" cy="82296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097280" y="42793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Rogue insider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68680" y="4828032"/>
            <a:ext cx="82296" cy="82296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097280" y="47365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Coerced operator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68680" y="5285232"/>
            <a:ext cx="82296" cy="82296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097280" y="51937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Compromised credential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492240" y="1417320"/>
            <a:ext cx="5120640" cy="1097280"/>
          </a:xfrm>
          <a:prstGeom prst="roundRect">
            <a:avLst>
              <a:gd fmla="val 7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766560" y="155448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Wrapping a key with another key changes who the single point of control is — not that there is 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92240" y="2697480"/>
            <a:ext cx="5120640" cy="1097280"/>
          </a:xfrm>
          <a:prstGeom prst="roundRect">
            <a:avLst>
              <a:gd fmla="val 7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766560" y="28346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Locking a key in an HSM or safe changes where it lives — a single compromised operator still defeats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492240" y="3977640"/>
            <a:ext cx="5120640" cy="1280160"/>
          </a:xfrm>
          <a:prstGeom prst="roundRect">
            <a:avLst>
              <a:gd fmla="val 6429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766560" y="416052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Neither changes the shape of the trust model — one secret, one holder, one point of failure.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1.2 — THE ALTERNATIVE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No Single Party Can Unilaterally Decrypt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9C6F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04672" y="1481328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No single trustee — including the vault's creator — can ever recover the data alone.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2167128"/>
            <a:ext cx="91440" cy="91440"/>
          </a:xfrm>
          <a:prstGeom prst="ellipse">
            <a:avLst/>
          </a:prstGeom>
          <a:solidFill>
            <a:srgbClr val="9C6F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804672" y="2048256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A rogue insider or single compromised account is insufficient; collusion of D independents is required.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2734056"/>
            <a:ext cx="91440" cy="91440"/>
          </a:xfrm>
          <a:prstGeom prst="ellipse">
            <a:avLst/>
          </a:prstGeom>
          <a:solidFill>
            <a:srgbClr val="9C6F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804672" y="2615184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Tolerates loss of up to T − D trustees without losing recoverability.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3300984"/>
            <a:ext cx="91440" cy="91440"/>
          </a:xfrm>
          <a:prstGeom prst="ellipse">
            <a:avLst/>
          </a:prstGeom>
          <a:solidFill>
            <a:srgbClr val="9C6F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804672" y="3182112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Every recovery event has a natural audit trail of who participated.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0" y="12527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5 shares (T)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0" y="1600200"/>
            <a:ext cx="475488" cy="47548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68" name="Google Shape;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4917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7004304" y="1600200"/>
            <a:ext cx="475488" cy="47548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8421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7607808" y="1600200"/>
            <a:ext cx="475488" cy="47548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1925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8211312" y="1600200"/>
            <a:ext cx="475488" cy="475488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429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8814816" y="1600200"/>
            <a:ext cx="475488" cy="475488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8933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6263640" y="1490472"/>
            <a:ext cx="1956816" cy="694944"/>
          </a:xfrm>
          <a:prstGeom prst="roundRect">
            <a:avLst>
              <a:gd fmla="val 13158" name="adj"/>
            </a:avLst>
          </a:prstGeom>
          <a:noFill/>
          <a:ln cap="flat" cmpd="sng" w="19050">
            <a:solidFill>
              <a:srgbClr val="9C6F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400800" y="22402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 of 5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to reconstruct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555480" y="1764792"/>
            <a:ext cx="29260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921240" y="1545336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key.png" id="81" name="Google Shape;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7303" y="1681399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9784080" y="2148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recovered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0122408" y="2441448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9893808" y="2852928"/>
            <a:ext cx="566928" cy="56692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85" name="Google Shape;8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29871" y="298899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9418320" y="344728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Plaintext recovered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8640" y="3794760"/>
            <a:ext cx="11064240" cy="2148840"/>
          </a:xfrm>
          <a:prstGeom prst="roundRect">
            <a:avLst>
              <a:gd fmla="val 383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914400" y="411480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Threshold recovery reframes “access” from a binary fact about one secret into a quorum fact about independent people. That's not a policy statement enforced by a process — it's a mathematical property of the construction itself (see §3.1–§3.2).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1.3 — REPRESENTATIVE USE CASES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Where Threshold Recovery Fits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fmla="val 418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shield.png" id="100" name="Google Shape;1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326" y="19714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1645920" y="180136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Break-Glass Infrastructure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68680" y="246888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Root CA keys, production database master keys, SCADA overrides. T=7, D=4 — nobody has access day-to-day.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fmla="val 418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.png" id="105" name="Google Shape;1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0606" y="19714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7315200" y="180136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Estate &amp; Succession Planning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537960" y="246888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Password-manager master vaults split among relatives, a lawyer, and a partner (T=5, D=3), with memorable codewords.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fmla="val 418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868680" y="406908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andmark.png" id="110" name="Google Shape;11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1326" y="421172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1645920" y="404164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Government &amp; Public Sector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68680" y="47091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Generalized two-person rules, lawful-intercept escrow, continuity-of-government credentials, election tabulation keys.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217920" y="3749040"/>
            <a:ext cx="5394960" cy="1965960"/>
          </a:xfrm>
          <a:prstGeom prst="roundRect">
            <a:avLst>
              <a:gd fmla="val 418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537960" y="406908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briefcase.png" id="115" name="Google Shape;11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0606" y="421172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7315200" y="404164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&amp; Regulated Industry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537960" y="47091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M&amp;A escrow, treasury cold storage, whistleblower archives, SOX/HIPAA separation-of-duties enforcement.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1.4 — THE INTUITION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A Secret Hidden as a Single Point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48640" y="1508760"/>
            <a:ext cx="6766560" cy="4206240"/>
          </a:xfrm>
          <a:prstGeom prst="roundRect">
            <a:avLst>
              <a:gd fmla="val 1957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" name="Google Shape;128;p7"/>
          <p:cNvCxnSpPr/>
          <p:nvPr/>
        </p:nvCxnSpPr>
        <p:spPr>
          <a:xfrm flipH="1" rot="10800000">
            <a:off x="1280160" y="3378708"/>
            <a:ext cx="5394960" cy="1559052"/>
          </a:xfrm>
          <a:prstGeom prst="straightConnector1">
            <a:avLst/>
          </a:prstGeom>
          <a:noFill/>
          <a:ln cap="flat" cmpd="sng" w="25400">
            <a:solidFill>
              <a:srgbClr val="5B6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7"/>
          <p:cNvSpPr/>
          <p:nvPr/>
        </p:nvSpPr>
        <p:spPr>
          <a:xfrm>
            <a:off x="2735885" y="4446361"/>
            <a:ext cx="109728" cy="109728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2424989" y="411717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share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109667" y="3760379"/>
            <a:ext cx="109728" cy="109728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798771" y="343119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share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913632" y="4094226"/>
            <a:ext cx="128016" cy="128016"/>
          </a:xfrm>
          <a:prstGeom prst="ellipse">
            <a:avLst/>
          </a:prstGeom>
          <a:solidFill>
            <a:srgbClr val="3EB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474720" y="429539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the secret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280160" y="52578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1 share → every secret still possible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280160" y="55321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2 points → exactly one answer fits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543800" y="1508760"/>
            <a:ext cx="4069080" cy="4206240"/>
          </a:xfrm>
          <a:prstGeom prst="roundRect">
            <a:avLst>
              <a:gd fmla="val 2022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7863840" y="1920240"/>
            <a:ext cx="34290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Two points determine a 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shardic's actual construction generalizes this to a degree-(D−1) polynomial over GF(2⁸) — see §3.2.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2.1 — OPERATOR WALKTHROUGH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Creating a Vault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Choose T (trustees) and D (threshold) before doing anything else.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48640" y="1463040"/>
            <a:ext cx="6035040" cy="4114800"/>
          </a:xfrm>
          <a:prstGeom prst="roundRect">
            <a:avLst>
              <a:gd fmla="val 2000" name="adj"/>
            </a:avLst>
          </a:prstGeom>
          <a:solidFill>
            <a:srgbClr val="101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77240" y="1645920"/>
            <a:ext cx="55778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$ python3 vault_create.py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--input ./secret_docs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--trustees 5 --threshold 3 --word-count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[i] Share protection KDF: pbkdf2 (400000 iters)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[i] No --word-length: defaulting to --memorable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Loaded 7772 candidate words (EFF wordlist)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Estimated codeword strength: ~39 bits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combinatorial per trustee (before KDF)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Split DEK into 5 shares, threshold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Wrote vault container: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vault_out/ce28by1pn9z8wib2.krypt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Wrote 5 trustee codeword files.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Distribute out of band, then delete.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858000" y="1417320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858000" y="14173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315200" y="1389888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Tool selects the KDF — Argon2id if available, else PBKDF2.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858000" y="2075688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6858000" y="20756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7315200" y="2048256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Defaults to --memorable codewords from the bundled EFF wordlist.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858000" y="2734056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6858000" y="273405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315200" y="2706624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Reports a combinatorial strength estimate before anything is distributed.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858000" y="3392424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858000" y="339242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315200" y="3364992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Encrypts the archive once (AES-256-GCM) under a random 256-bit DEK, splits the DEK into T Shamir shares.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858000" y="4050792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858000" y="40507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315200" y="4023360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Writes one .krypt file, plus one codeword file per trustee.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858000" y="4709160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858000" y="47091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315200" y="4681728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The operator's remaining job is procedural, not cryptographic — distribute out of band, then delete local copies.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2.2 — OPERATOR WALKTHROUGH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Recovering a Vault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48640" y="1417320"/>
            <a:ext cx="6309360" cy="3291840"/>
          </a:xfrm>
          <a:prstGeom prst="roundRect">
            <a:avLst>
              <a:gd fmla="val 2500" name="adj"/>
            </a:avLst>
          </a:prstGeom>
          <a:solidFill>
            <a:srgbClr val="101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777240" y="1600200"/>
            <a:ext cx="5852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$ python3 vault_recover.py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vault_out/ce28by1pn9z8wib2.krypt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--word "broadside-repulsion-subway"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--word "valuables-repeater-oversleep"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--word "winking-portly-diffusion"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[i] This vault requires 3 of 5 codewords.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Codeword accepted (1/3).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Codeword accepted (2/3).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Codeword accepted (3/3).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Reconstructing DEK from shares 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Success. Recovered to /recovered_out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7086600" y="1417320"/>
            <a:ext cx="502920" cy="50292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301" y="153802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7744968" y="1399032"/>
            <a:ext cx="3913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Any order accepted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744968" y="1728216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Recovery doesn't ask “which trustee are you” — each codeword is tried against every not-yet-matched share until one authenticates.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086600" y="2514600"/>
            <a:ext cx="502920" cy="50292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ock.png"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7301" y="26353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7744968" y="2496312"/>
            <a:ext cx="3913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Fail-closed by design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744968" y="2825496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If fewer than D codewords match, or any are wrong, the tool reports how many were accepted and stops — never partial or best-guess output.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086600" y="3611880"/>
            <a:ext cx="502920" cy="50292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puzzle.png" id="189" name="Google Shape;18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7301" y="37325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7744968" y="3593592"/>
            <a:ext cx="3913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No mapping required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744968" y="3922776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The operator never specifies which codeword belongs to which trustee — the tool figures it out via trial matching (§3.4).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2.3 — A MANDATORY-TRUSTEE VARIANT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shardic-prime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The base scheme treats every trustee identically. shardic-prime adds one essential trustee: their codeword must always be supplied, no matter how many others are gathered.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48640" y="1783080"/>
            <a:ext cx="5303520" cy="3794760"/>
          </a:xfrm>
          <a:prstGeom prst="roundRect">
            <a:avLst>
              <a:gd fmla="val 2169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hield.png"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326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>
            <a:off x="1691640" y="2057400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Fits situations where one specific role — an estate's executor, a security lead — must always sign off, while backups can be any qualifying subset.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868680" y="3236976"/>
            <a:ext cx="73152" cy="73152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1097280" y="32004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Separate CLI tools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868680" y="3694176"/>
            <a:ext cx="73152" cy="73152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1097280" y="36576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Separate container format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868680" y="4151376"/>
            <a:ext cx="73152" cy="73152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097280" y="41148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Tagged metadata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868680" y="470916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All 3 pool codewords, gathered without the prime's, recover nothing — a property of the construction itself, not just the CLI.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172200" y="1828800"/>
            <a:ext cx="5440680" cy="3749040"/>
          </a:xfrm>
          <a:prstGeom prst="roundRect">
            <a:avLst>
              <a:gd fmla="val 2195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492240" y="2057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RECOVERY REQUIRES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492240" y="2331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 = 4, D = 3 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537960" y="2788920"/>
            <a:ext cx="777240" cy="77724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hield.png" id="217" name="Google Shape;2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4498" y="297545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6492240" y="36118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PRIME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always required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589520" y="3017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8366760" y="2880360"/>
            <a:ext cx="594360" cy="594360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.png" id="221" name="Google Shape;2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9406" y="30230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/>
          <p:nvPr/>
        </p:nvSpPr>
        <p:spPr>
          <a:xfrm>
            <a:off x="9281160" y="2880360"/>
            <a:ext cx="594360" cy="594360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.png"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3806" y="30230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10195560" y="2880360"/>
            <a:ext cx="594360" cy="594360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.png" id="225" name="Google Shape;22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8206" y="30230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/>
          <p:nvPr/>
        </p:nvSpPr>
        <p:spPr>
          <a:xfrm>
            <a:off x="8366760" y="3566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any 2 of 3 POOL trustees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492240" y="41605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 prime trustee  +  any 2 of 3 pool trustees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492240" y="45720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E0"/>
              </a:buClr>
              <a:buSzPts val="1080"/>
              <a:buFont typeface="Calibri"/>
              <a:buNone/>
            </a:pPr>
            <a:r>
              <a:rPr b="0" i="1" lang="en-US" sz="1080" u="none" cap="none" strike="noStrike">
                <a:solidFill>
                  <a:srgbClr val="9FB2E0"/>
                </a:solidFill>
                <a:latin typeface="Calibri"/>
                <a:ea typeface="Calibri"/>
                <a:cs typeface="Calibri"/>
                <a:sym typeface="Calibri"/>
              </a:rPr>
              <a:t>Note: shardic-envelope (§3.5) builds directly on this construction — its live Keycloak demo uses a prime + pool ceremony under the hood.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3.1 – 3.2 — TECHNICAL MECHANICS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Splitting the Key, Not Just Encrypting the Data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40080" y="1737360"/>
            <a:ext cx="685800" cy="68580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database.png" id="239" name="Google Shape;2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9019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1"/>
          <p:cNvSpPr/>
          <p:nvPr/>
        </p:nvSpPr>
        <p:spPr>
          <a:xfrm>
            <a:off x="182880" y="2514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Input file 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645920" y="1938528"/>
            <a:ext cx="457200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2331720" y="1737360"/>
            <a:ext cx="685800" cy="68580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ock.png" id="243" name="Google Shape;2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6312" y="19019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/>
          <p:nvPr/>
        </p:nvSpPr>
        <p:spPr>
          <a:xfrm>
            <a:off x="1874520" y="2514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AES-256-GCM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Ciphertext archive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under a random 256-bit DEK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3337560" y="1938528"/>
            <a:ext cx="457200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023360" y="1737360"/>
            <a:ext cx="685800" cy="68580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puzzle.png" id="247" name="Google Shape;24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87952" y="19019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/>
          <p:nvPr/>
        </p:nvSpPr>
        <p:spPr>
          <a:xfrm>
            <a:off x="3566160" y="2514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Shamir Split — GF(2⁸)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DEK's 32 bytes each become the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constant term of a degree D−1 polynomial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120640" y="175564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 shares, each at a distinct x-coordinate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12064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1" name="Google Shape;25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670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589788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3" name="Google Shape;25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394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667512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5" name="Google Shape;25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118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/>
          <p:nvPr/>
        </p:nvSpPr>
        <p:spPr>
          <a:xfrm>
            <a:off x="745236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7" name="Google Shape;25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842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"/>
          <p:cNvSpPr/>
          <p:nvPr/>
        </p:nvSpPr>
        <p:spPr>
          <a:xfrm>
            <a:off x="822960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9" name="Google Shape;25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566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/>
          <p:nvPr/>
        </p:nvSpPr>
        <p:spPr>
          <a:xfrm>
            <a:off x="548640" y="3977640"/>
            <a:ext cx="11064240" cy="2011680"/>
          </a:xfrm>
          <a:prstGeom prst="roundRect">
            <a:avLst>
              <a:gd fmla="val 4091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914400" y="4279392"/>
            <a:ext cx="594360" cy="594360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balance.png" id="262" name="Google Shape;26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046" y="4422038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1691640" y="4160520"/>
            <a:ext cx="9601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Information-theoretic, not merely computational. A degree D−1 polynomial is uniquely determined by any D points — but with only D−1 points, every possible value of the secret byte remains equally consistent. An attacker holding fewer than D shares learns exactly zero bits, regardless of computing power.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3.3 – 3.4 — FILE FORMAT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One File, Zero Metadata Leakage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fmla="val 45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ock.png" id="275" name="Google Shape;2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634" y="1823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"/>
          <p:cNvSpPr/>
          <p:nvPr/>
        </p:nvSpPr>
        <p:spPr>
          <a:xfrm>
            <a:off x="1554480" y="16642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Exactly one file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822960" y="22860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.krypt — nothing to accidentally separate from a companion metadata file; copy, email, or upload a single .krypt.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217920" y="1417320"/>
            <a:ext cx="5394960" cy="1828800"/>
          </a:xfrm>
          <a:prstGeom prst="roundRect">
            <a:avLst>
              <a:gd fmla="val 45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puzzle.png" id="280" name="Google Shape;28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3914" y="1823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2"/>
          <p:cNvSpPr/>
          <p:nvPr/>
        </p:nvSpPr>
        <p:spPr>
          <a:xfrm>
            <a:off x="7223760" y="16642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assignment mapping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6492240" y="22860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Share order is randomly shuffled at creation; no record ties a share to a trustee or a codeword.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48640" y="3474720"/>
            <a:ext cx="5394960" cy="1828800"/>
          </a:xfrm>
          <a:prstGeom prst="roundRect">
            <a:avLst>
              <a:gd fmla="val 45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285" name="Google Shape;28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34" y="3880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2"/>
          <p:cNvSpPr/>
          <p:nvPr/>
        </p:nvSpPr>
        <p:spPr>
          <a:xfrm>
            <a:off x="1554480" y="37216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Trial matching, not lookup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822960" y="43434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Recovery tries each codeword against every unmatched share; AES-GCM's auth tag is the correctness oracle — fails fast, never garbage output.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6217920" y="3474720"/>
            <a:ext cx="5394960" cy="1828800"/>
          </a:xfrm>
          <a:prstGeom prst="roundRect">
            <a:avLst>
              <a:gd fmla="val 45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6492240" y="3749040"/>
            <a:ext cx="548640" cy="54864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shield.png" id="290" name="Google Shape;29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3914" y="3880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2"/>
          <p:cNvSpPr/>
          <p:nvPr/>
        </p:nvSpPr>
        <p:spPr>
          <a:xfrm>
            <a:off x="7223760" y="37216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Nothing leaks at 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6492240" y="43434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Raw AES-GCM bytes, no base64 (avoids ~33% size penalty). Seizing the file, or several codewords, in isolation reveals no assignment information.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6.1 – 6.3 — SECURITY DISCUSSION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Two Different Guarantees, Two Different Levers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fmla="val 3913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868680" y="1645920"/>
            <a:ext cx="1920240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868680" y="16459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UNCONDITIONAL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868680" y="20848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DEK &amp; Shamir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868680" y="242316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Below threshold D, shares carry zero information about the key — regardless of computing power. Raising T or D changes how many parties must collude, not how hard one share is to attack.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fmla="val 3913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6537960" y="1645920"/>
            <a:ext cx="2103120" cy="347472"/>
          </a:xfrm>
          <a:prstGeom prst="roundRect">
            <a:avLst>
              <a:gd fmla="val 21053" name="adj"/>
            </a:avLst>
          </a:prstGeom>
          <a:solidFill>
            <a:srgbClr val="3A2F14"/>
          </a:solidFill>
          <a:ln cap="flat" cmpd="sng" w="12700">
            <a:solidFill>
              <a:srgbClr val="E7B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6537960" y="16459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COMPUTATIONAL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6537960" y="20848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Individual Codeword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6537960" y="242316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Only as strong as its own guessing space and KDF cost — the operator's responsibility. A higher D does not compensate: an attacker only ever needs D individually weak codewords.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548640" y="3703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Codeword generation modes — word count is what sets the real security margin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548640" y="4114800"/>
            <a:ext cx="3593592" cy="1828800"/>
          </a:xfrm>
          <a:prstGeom prst="roundRect">
            <a:avLst>
              <a:gd fmla="val 4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777240" y="4297680"/>
            <a:ext cx="3136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Memorable (default)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777240" y="461772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~12.9 bits/word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777240" y="4983480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Whole real words, EFF long list. 8 words ≈ 103 bits by default.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4325112" y="4114800"/>
            <a:ext cx="3593592" cy="1828800"/>
          </a:xfrm>
          <a:prstGeom prst="roundRect">
            <a:avLst>
              <a:gd fmla="val 4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4553712" y="4297680"/>
            <a:ext cx="3136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553712" y="461772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~8–11 bits/word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553712" y="4983480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Fixed length from a supplied wordlist — uniform shape, smaller pool.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8101584" y="4114800"/>
            <a:ext cx="3593592" cy="1828800"/>
          </a:xfrm>
          <a:prstGeom prst="roundRect">
            <a:avLst>
              <a:gd fmla="val 4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8330184" y="4297680"/>
            <a:ext cx="3136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Synthetic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8330184" y="461772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~3.36 bits/char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8330184" y="4983480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Pronounceable syllables; --strong-words adds case + digits for density.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Rounded Rectangle 326"/>
          <p:cNvSpPr/>
          <p:nvPr/>
        </p:nvSpPr>
        <p:spPr>
          <a:xfrm>
            <a:off x="9335020" y="438912"/>
            <a:ext cx="2277860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LARGELY MOOT — SEE §6.4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3.6 — AN IMPLEMENTED EXTENSION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shardic-envelope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8869680" y="438912"/>
            <a:ext cx="2743200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8869680" y="43891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 — LIVE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Every codeword mode ultimately protects a share with something a human can recall — the design's real computational bottleneck. shardic-envelope removes that ceiling for trustees willing to hold a keypair, wrapping each codeword under a key they already control rather than under a memory limit. Built on shardic-prime; demoed end-to-end against real Keycloak infrastructure with a live SSE dashboard.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548640" y="2148840"/>
            <a:ext cx="5394960" cy="3429000"/>
          </a:xfrm>
          <a:prstGeom prst="roundRect">
            <a:avLst>
              <a:gd fmla="val 24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339" name="Google Shape;3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381" y="254386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4"/>
          <p:cNvSpPr/>
          <p:nvPr/>
        </p:nvSpPr>
        <p:spPr>
          <a:xfrm>
            <a:off x="1508760" y="24505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Good fit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868680" y="29718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Trustee pools who already function as cryptographic identities in their day job — infra engineers, security officers, multisig cold-storage signers, PKI-backed roles. Near-arbitrary codeword strength, zero memorization burden.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868680" y="443484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30"/>
              <a:buFont typeface="Calibri"/>
              <a:buNone/>
            </a:pPr>
            <a:r>
              <a:rPr b="0" i="1" lang="en-US" sz="11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two mechanisms are complementary — which trustees use envelope wrapping vs. a memorable phrase is a per-trustee decision, not vault-wide.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217920" y="2148840"/>
            <a:ext cx="5394960" cy="3429000"/>
          </a:xfrm>
          <a:prstGeom prst="roundRect">
            <a:avLst>
              <a:gd fmla="val 24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6537960" y="2423160"/>
            <a:ext cx="502920" cy="50292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345" name="Google Shape;34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8661" y="254386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/>
          <p:nvPr/>
        </p:nvSpPr>
        <p:spPr>
          <a:xfrm>
            <a:off x="7178040" y="24505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Poor fit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6537960" y="29718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diceware-style family-estate case (§1.3): the whole premise is a relative who can recall a phrase without managing cryptographic material. Trading “remember five words” for “protect a key file forever” is plausibly a net loss for a non-technical trustee.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6537960" y="443484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30"/>
              <a:buFont typeface="Calibri"/>
              <a:buNone/>
            </a:pPr>
            <a:r>
              <a:rPr b="0" i="1" lang="en-US" sz="11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Trade-off: a private key becomes a new single point of failure per share, and credential lookup introduces a new trust boundary.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3.7 — OPERATOR-RUN TRUSTEE SELECTION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Ceremony Formation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8869680" y="438912"/>
            <a:ext cx="2743200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8869680" y="43891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 — V1.0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548640" y="109728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shardic-envelope's operator selects T primaries plus an ordered backup list from a registered candidate directory, issues per-trustee invitations, and the ceremony self-heals around declines or timeouts — without the operator ever being eligible to select themselves as a trustee.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fmla="val 782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868680" y="2103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CEREMONY STATE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868680" y="2423160"/>
            <a:ext cx="1508760" cy="347472"/>
          </a:xfrm>
          <a:prstGeom prst="roundRect">
            <a:avLst>
              <a:gd fmla="val 21053" name="adj"/>
            </a:avLst>
          </a:prstGeom>
          <a:solidFill>
            <a:srgbClr val="3A2F14"/>
          </a:solidFill>
          <a:ln cap="flat" cmpd="sng" w="12700">
            <a:solidFill>
              <a:srgbClr val="E7B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868680" y="242316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FORMING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2487168" y="2487168"/>
            <a:ext cx="32004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FB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2926080" y="2423160"/>
            <a:ext cx="1508760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2926080" y="242316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FORMED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4617720" y="2468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every slot accepted → vault creation unlocked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7726680" y="2487168"/>
            <a:ext cx="32004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6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8183880" y="2423160"/>
            <a:ext cx="1371600" cy="347472"/>
          </a:xfrm>
          <a:prstGeom prst="roundRect">
            <a:avLst>
              <a:gd fmla="val 21053" name="adj"/>
            </a:avLst>
          </a:prstGeom>
          <a:solidFill>
            <a:srgbClr val="3A1E1C"/>
          </a:solidFill>
          <a:ln cap="flat" cmpd="sng" w="12700">
            <a:solidFill>
              <a:srgbClr val="E56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8183880" y="24231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60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5605A"/>
                </a:solidFill>
                <a:latin typeface="Calibri"/>
                <a:ea typeface="Calibri"/>
                <a:cs typeface="Calibri"/>
                <a:sym typeface="Calibri"/>
              </a:rPr>
              <a:t>FAILED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9692640" y="24688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if backup list exhausted first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548640" y="320040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804672" y="3429000"/>
            <a:ext cx="475488" cy="475488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hield.png" id="375" name="Google Shape;3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789" y="35431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5"/>
          <p:cNvSpPr/>
          <p:nvPr/>
        </p:nvSpPr>
        <p:spPr>
          <a:xfrm>
            <a:off x="1417320" y="340156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Separation of duties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804672" y="395020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operator role (a dedicated Keycloak realm role) is checked against ceremony trustee selections — an operator can't invite themselves.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6217920" y="320040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6473952" y="3429000"/>
            <a:ext cx="475488" cy="475488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clock.png" id="380" name="Google Shape;3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8069" y="35431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5"/>
          <p:cNvSpPr/>
          <p:nvPr/>
        </p:nvSpPr>
        <p:spPr>
          <a:xfrm>
            <a:off x="7086600" y="340156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Decline / TTL handling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6473952" y="395020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Each invitation is ephemeral and polled (GET /trustees/pending-invitation). A decline or timeout lapses the slot immediately.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548640" y="498348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804672" y="5212080"/>
            <a:ext cx="475488" cy="475488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sitemap.png" id="385" name="Google Shape;38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789" y="532619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5"/>
          <p:cNvSpPr/>
          <p:nvPr/>
        </p:nvSpPr>
        <p:spPr>
          <a:xfrm>
            <a:off x="1417320" y="518464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Automatic backfill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804672" y="573328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next-ranked candidate on the ordered backup list is promoted into a lapsed slot, inheriting its role (prime or pool) — race-safe against duplicate responses.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6217920" y="498348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6473952" y="5212080"/>
            <a:ext cx="475488" cy="475488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390" name="Google Shape;39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8069" y="532619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5"/>
          <p:cNvSpPr/>
          <p:nvPr/>
        </p:nvSpPr>
        <p:spPr>
          <a:xfrm>
            <a:off x="7086600" y="518464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routes, real state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6473952" y="573328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POST /admin/ceremony/initiate, STATE["ceremony"], and SSE events (ceremony_initiated / ceremony_formed / ceremony_failed) — not a design sketch.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3.7 — THE OPERATIONAL LIFECYCLE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Register → Form → Wrap → Deliver → Recover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548640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1298448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hield.png" id="404" name="Google Shape;4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2067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6"/>
          <p:cNvSpPr/>
          <p:nvPr/>
        </p:nvSpPr>
        <p:spPr>
          <a:xfrm>
            <a:off x="658368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Register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685800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Trustees join a Keycloak candidate directory. Keypair is generated client-side only (WebCrypto / hardware token) — the private key never leaves the device.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85800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685800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2692908" y="318211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2807208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3557016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sitemap.png" id="412" name="Google Shape;4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0635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6"/>
          <p:cNvSpPr/>
          <p:nvPr/>
        </p:nvSpPr>
        <p:spPr>
          <a:xfrm>
            <a:off x="2916936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Form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2944368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Operator initiates a ceremony (§3.6); invitations, decline/TTL, and backfill run until every slot is accepted or the backup list is exhausted.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2944368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2944368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4951476" y="318211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5065776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5815584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ock.png" id="420" name="Google Shape;4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9203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6"/>
          <p:cNvSpPr/>
          <p:nvPr/>
        </p:nvSpPr>
        <p:spPr>
          <a:xfrm>
            <a:off x="5175504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Wrap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5202936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On vault creation, each codeword is wrapped under its trustee's ceremony-confirmed public key via shardic_envelope_crypto.wrap() — the combiner never sees a plaintext codeword.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5202936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5202936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7210044" y="318211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7324344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8074152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mailenvelope.png" id="428" name="Google Shape;4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7771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6"/>
          <p:cNvSpPr/>
          <p:nvPr/>
        </p:nvSpPr>
        <p:spPr>
          <a:xfrm>
            <a:off x="7434072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Deliver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7461504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Trustee polls GET /trustees/pending-envelope, a pull-based, single-read drop point. Working end-to-end today as an in-process store — a pluggable EnvelopeDropPoint backend is the tracked follow-on.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7461504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7461504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9468612" y="318211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9582912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10332720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36" name="Google Shape;4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86339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6"/>
          <p:cNvSpPr/>
          <p:nvPr/>
        </p:nvSpPr>
        <p:spPr>
          <a:xfrm>
            <a:off x="9692640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Recover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9720072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Trustee decrypts their own envelope locally, then supplies the shard — the base recovery flow (§2.2) is otherwise unchanged.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9720072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9720072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fmla="val 90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822960" y="5687568"/>
            <a:ext cx="548640" cy="548640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bell.png" id="443" name="Google Shape;4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4634" y="58192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6"/>
          <p:cNvSpPr/>
          <p:nvPr/>
        </p:nvSpPr>
        <p:spPr>
          <a:xfrm>
            <a:off x="1508760" y="562356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Plumbing around this flow is pluggable by design: NotificationChannel (Log/Webhook/Email, implemented v1.0, wired to ceremony invitations — envelope_ready/drop_expired await the EnvelopeDropPoint above) and VaultStore (implemented v1.0, filesystem backend) both sit behind clean protocols the core crypto path never depends 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4.1 — FROM DATA TO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Shardic Protected Action Code (SPAC)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0576" y="438912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The plaintext shardic protects has never had to be a file — it is, more generally, the enabling value for a protected action: financial access, a safety interlock, a sensitive document, account access. A SPAC names that value; PT SPAC and CT SPAC name its plaintext and ciphertext forms, exactly like any other plaintext/ciphertext pair in this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PT SPAC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enabling value in the clear — a signing credential, a release-enable code, a safety-interlock unlock. Held only fleetingly, in memory, at the moment enough independent parties have contributed toward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Decrypting a file is the narrowest case: the protected action is simply “the codeword holder gets to read the plaintext.”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CT SPAC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same value, AES-256-GCM-encrypted under a DEK reconstructed only when D-of-T trustees — and any hardware binding — genuinely agree. What a fielded system actually holds at rest, indefinitely.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Real-world precedent: Permissive Action Links (PAL) and the Two-Person Integrity / Two-Man Rule — gating a capability, not just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4.2 — HARDWARE-BOUND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The Fielded Prime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§2.3's prime trustee generalizes to hardware with no new mathematics: a fielded system's own PUF/secure-element-sealed secret stands in for mask in §3.5's one-time-pad construction, reused unmodified.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03520" cy="37947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6634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E7B93E"/>
                </a:solidFill>
                <a:latin typeface="Calibri"/>
              </a:rPr>
              <a:t>WHAT MAKES IT SAFE TO FIELD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5973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86584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Non-extractable — generated once at emplacement, never leaves the hardware, never typed by a human, never a codeword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55848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82696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Fielded-system binding — a copied CT SPAC plus a full legitimate trustee quorum still fails to arm a different instance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51959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78807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Scoped to one specific piece of hardware — no multi-unit redundancy, no export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46634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50" b="0" i="1">
                <a:solidFill>
                  <a:srgbClr val="9FB2E0"/>
                </a:solidFill>
                <a:latin typeface="Calibri"/>
              </a:rPr>
              <a:t>If the fielded hardware is replaced, mask is gone with it — re-provision, don't migrate the secret.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440680" cy="3749039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E7B93E"/>
                </a:solidFill>
                <a:latin typeface="Calibri"/>
              </a:rPr>
              <a:t>RECOVERY REQUIRES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2514600"/>
            <a:ext cx="777240" cy="77724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7" y="2701137"/>
            <a:ext cx="404164" cy="404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333756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E7B93E"/>
                </a:solidFill>
                <a:latin typeface="Calibri"/>
              </a:rPr>
              <a:t>FIELDED PRIME</a:t>
            </a:r>
          </a:p>
          <a:p>
            <a:pPr algn="ctr"/>
            <a:r>
              <a:rPr sz="950" b="1" i="0">
                <a:solidFill>
                  <a:srgbClr val="E7B93E"/>
                </a:solidFill>
                <a:latin typeface="Calibri"/>
              </a:rPr>
              <a:t>ELEMENT — mask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6400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AND</a:t>
            </a:r>
          </a:p>
        </p:txBody>
      </p:sp>
      <p:sp>
        <p:nvSpPr>
          <p:cNvPr id="20" name="Oval 19"/>
          <p:cNvSpPr/>
          <p:nvPr/>
        </p:nvSpPr>
        <p:spPr>
          <a:xfrm>
            <a:off x="8915400" y="25146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046" y="2657246"/>
            <a:ext cx="309067" cy="309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32520" y="3246120"/>
            <a:ext cx="26517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AEB9DC"/>
                </a:solidFill>
                <a:latin typeface="Calibri"/>
              </a:rPr>
              <a:t>pool shares — shardware-token</a:t>
            </a:r>
          </a:p>
          <a:p>
            <a:pPr algn="ctr"/>
            <a:r>
              <a:rPr sz="950" b="0" i="0">
                <a:solidFill>
                  <a:srgbClr val="AEB9DC"/>
                </a:solidFill>
                <a:latin typeface="Calibri"/>
              </a:rPr>
              <a:t>or network (§3.6-3.7)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77639"/>
            <a:ext cx="48920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mask ⊕ pool_shares → DEK → CT_SPAC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20"/>
            <a:ext cx="493776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80" b="0" i="0">
                <a:solidFill>
                  <a:srgbClr val="9FB2E0"/>
                </a:solidFill>
                <a:latin typeface="Calibri"/>
              </a:rPr>
              <a:t>Note: named after the prime-trustee role (§2.3) it embodies in hardware — a shardware-token (§4.3) is the analogous physical-carriage device for pool shares.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4.3 — HARDWARE TOKEN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shardware-token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30614" y="438912"/>
            <a:ext cx="2216505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Two variants for how a physical token participates in a ceremony, differing in how much trust the token itself has to carry.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54386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5059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Physical Carriage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dumb-storage USB token simply transports an already public-key-wrapped shard — replacing a network hop with a courier, hand-off, or safe-deposit retrieval for a ceremony that wants to run entirely air-gapped past registration. Nothing on the token is ever unencrypted.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Open question: without a live authenticated session, “whose shard is this” needs either an attesting operator or a trustee-held signing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423160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54386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5059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PUF-Sealed Embed/Extract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71800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token generates its own keypair locally at “embed” time, seals the wrapped shard behind PUF/secure-element fuzzy-extractor storage, and releases it at “extract” time only against a vault-signed, token-bound, nonce-fresh extraction grant.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43484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A single live operator authorizes each grant — sufficient because the operator can only approve a request a genuine physical token already originated.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4.4 — SPAC ECOSYSTEM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Roles and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8448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67" y="1616659"/>
            <a:ext cx="332841" cy="3328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Trustee (pool)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must jointly agree to recover? Ordinary shardic-envelope trustees, unchanged from §3.6-3.7.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015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635" y="1616659"/>
            <a:ext cx="332841" cy="3328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16936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Fielded Prime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What binds recovery to one piece of fielded hardware? The fielded system's own sealed secret — never a party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5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5583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03" y="1616659"/>
            <a:ext cx="332841" cy="33284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75503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Local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custodian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is physically present to authorize the hardware's own local unseal? Whoever holds the deployment's key/token or PIN factor — a role, not an identity.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3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74151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7771" y="1616659"/>
            <a:ext cx="332841" cy="33284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34071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3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authorizes a given extraction request? A single, on-call role, barred from authorizing a grant naming their own token.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82911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2719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6339" y="1616659"/>
            <a:ext cx="332841" cy="3328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2639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Approver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1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attests the protected value is correct? An authority independent of the wrap/emplacement step, holding its own signing key.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5577840"/>
            <a:ext cx="548640" cy="54864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3" y="5709513"/>
            <a:ext cx="285292" cy="2852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08760" y="5440680"/>
            <a:ext cx="996696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Approver closes a gap AES-GCM alone can't: ciphertext integrity guarantees exact recovery of what was encrypted, not that what was encrypted was correct in the first place.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4.5 — CONOPS &amp; RTO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Three Levers, One Honest Trade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1812340"/>
            <a:ext cx="261518" cy="261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Convening the Quorum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Pre-forming a ceremony (§3.7, reused unmodified) converts “select, invite, wait for acceptance” into a one-time setup cost paid before the RTO clock starts — the single largest lever available. Cold-start: hours. Pre-formed, on-call: seconds to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53712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412" y="1812340"/>
            <a:ext cx="261518" cy="2615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93792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Share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network path is near-instant; physical carriage (§4.3) is inherently minutes to days. Air-gap independence and a tight RTO are largely mutually exclusive — a deployment chooses the one it actually needs.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38744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444" y="1812340"/>
            <a:ext cx="261518" cy="2615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78824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Endgame Unlock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single operator and custodian are each fast and cryptographically sufficient — but a lone unreachable authorizer is an availability risk, not an authorization one. An on-call backup roster protects availability without a second decision-maker.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50" b="0" i="0">
                <a:solidFill>
                  <a:srgbClr val="CADCFC"/>
                </a:solidFill>
                <a:latin typeface="Calibri"/>
              </a:rPr>
              <a:t>No lever here reduces how many independent parties are cryptographically required — every latency improvement is pre-positioning of already-required inputs, never fewer of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4.6 — NON-BYPASSABLE INVOCATION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Ensuring the Ceremony Can't Be Skipped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840" y="438912"/>
            <a:ext cx="2194040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A SPAC ceremony being cryptographically sound only matters if it's actually invoked on the path to the protected action. Four patterns close that gap — a topological property, distinct from the cryptographic guarantee — ordered by how strong a guarantee they provide.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28900" cy="3160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8640" y="2293120"/>
            <a:ext cx="430000" cy="430000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40" y="2396320"/>
            <a:ext cx="223600" cy="223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640" y="2783120"/>
            <a:ext cx="22489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Capability</a:t>
            </a:r>
          </a:p>
          <a:p>
            <a:r>
              <a:rPr sz="1350" b="1" i="0">
                <a:solidFill>
                  <a:srgbClr val="FFFFFF"/>
                </a:solidFill>
                <a:latin typeface="Calibri"/>
              </a:rPr>
              <a:t>Binding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640" y="3433120"/>
            <a:ext cx="2248900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The protected value is a signing or decryption key the end state structurally requires — not a boolean checked before proceeding.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640" y="4803120"/>
            <a:ext cx="22489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1" i="0">
                <a:solidFill>
                  <a:srgbClr val="E7B93E"/>
                </a:solidFill>
                <a:latin typeface="Calibri"/>
              </a:rPr>
              <a:t>BYPASS RESISTANCE: MEDIUM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0420" y="2103120"/>
            <a:ext cx="2628900" cy="3160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50420" y="2293120"/>
            <a:ext cx="430000" cy="430000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620" y="2396320"/>
            <a:ext cx="223600" cy="223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0420" y="2783120"/>
            <a:ext cx="22489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Constrained</a:t>
            </a:r>
          </a:p>
          <a:p>
            <a:r>
              <a:rPr sz="1350" b="1" i="0">
                <a:solidFill>
                  <a:srgbClr val="FFFFFF"/>
                </a:solidFill>
                <a:latin typeface="Calibri"/>
              </a:rPr>
              <a:t>State Machine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420" y="3433120"/>
            <a:ext cx="2248900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The operating sequence is modeled as a graph with no edge reaching the end state without passing through the ceremony.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420" y="4803120"/>
            <a:ext cx="22489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1" i="0">
                <a:solidFill>
                  <a:srgbClr val="E7B93E"/>
                </a:solidFill>
                <a:latin typeface="Calibri"/>
              </a:rPr>
              <a:t>BYPASS RESISTANCE: 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103120"/>
            <a:ext cx="2628900" cy="3160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62200" y="2293120"/>
            <a:ext cx="430000" cy="430000"/>
          </a:xfrm>
          <a:prstGeom prst="ellipse">
            <a:avLst/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400" y="2396320"/>
            <a:ext cx="223600" cy="223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62200" y="2783120"/>
            <a:ext cx="22489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Secure-Element</a:t>
            </a:r>
          </a:p>
          <a:p>
            <a:r>
              <a:rPr sz="1350" b="1" i="0">
                <a:solidFill>
                  <a:srgbClr val="FFFFFF"/>
                </a:solidFill>
                <a:latin typeface="Calibri"/>
              </a:rPr>
              <a:t>Sequencing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2200" y="3433120"/>
            <a:ext cx="2248900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The Fielded Prime Element (§4.2) performs the end-state operation internally as a side effect of completing the ceremony.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200" y="4803120"/>
            <a:ext cx="22489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1" i="0">
                <a:solidFill>
                  <a:srgbClr val="3EBD6E"/>
                </a:solidFill>
                <a:latin typeface="Calibri"/>
              </a:rPr>
              <a:t>BYPASS RESISTANCE: 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3980" y="2103120"/>
            <a:ext cx="2628900" cy="3160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73980" y="2293120"/>
            <a:ext cx="430000" cy="430000"/>
          </a:xfrm>
          <a:prstGeom prst="ellipse">
            <a:avLst/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7180" y="2396320"/>
            <a:ext cx="223600" cy="223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73980" y="2783120"/>
            <a:ext cx="22489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Physical</a:t>
            </a:r>
          </a:p>
          <a:p>
            <a:r>
              <a:rPr sz="1350" b="1" i="0">
                <a:solidFill>
                  <a:srgbClr val="FFFFFF"/>
                </a:solidFill>
                <a:latin typeface="Calibri"/>
              </a:rPr>
              <a:t>Interlock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980" y="3433120"/>
            <a:ext cx="2248900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The end state's actuation circuit is physically incomplete until the ceremony asserts an unlock signal.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3980" y="4803120"/>
            <a:ext cx="22489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1" i="0">
                <a:solidFill>
                  <a:srgbClr val="3EBD6E"/>
                </a:solidFill>
                <a:latin typeface="Calibri"/>
              </a:rPr>
              <a:t>BYPASS RESISTANCE: HIGHEST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4600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150">
                <a:solidFill>
                  <a:srgbClr val="CADCFC"/>
                </a:solidFill>
                <a:latin typeface="Calibri"/>
              </a:rPr>
              <a:t>Patterns are not mutually exclusive — a fielded deployment typically layers more than one, and the composite's strength is its weakest layer's, not its strongest. §6.6 states which tiers actually reach a non-bypassable guarantee.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08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5.1 – 5.2 — NOTIONAL 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Two Ceremony Lifecycles, Illustrative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80883" y="438912"/>
            <a:ext cx="3266236" cy="347472"/>
          </a:xfrm>
          <a:prstGeom prst="roundRect">
            <a:avLst>
              <a:gd name="adj" fmla="val 50000"/>
            </a:avLst>
          </a:prstGeom>
          <a:solidFill>
            <a:srgbClr val="263874"/>
          </a:solidFill>
          <a:ln w="12700">
            <a:solidFill>
              <a:srgbClr val="9F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9FB2E0"/>
                </a:solidFill>
                <a:latin typeface="Calibri"/>
              </a:rPr>
              <a:t>ILLUSTRATIVE — NOT A REAL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A — Treasury Disbursement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PT SPAC: a high-privilege disbursement-signing credential. T=5 pool trustees (treasury officers), D=3, plus a Fielded Prime Element in the treasury appliance's own HSM. Compliance-officer operator; data-center custodian; network delivery targets an RTO of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Replaces app-logic dual control — an audit log proves which accounts clicked approve, not which people independently chose 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B — Safety-Interlock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PT SPAC: a notional release-enable value. T=5 duty-crew trustees, D=3, plus a Fielded Prime Element in secure-element hardware and dual local key-switches. On-alert standing quorum targets an RTO of seconds to low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Replaces a procedural two-person rule enforced by human witnessing — the same organizational problem Permissive Action Links solve.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5.3 – 5.4 — NOTIONAL 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Two More Ceremony Lifecycles, Illustrative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80883" y="438912"/>
            <a:ext cx="3266236" cy="347472"/>
          </a:xfrm>
          <a:prstGeom prst="roundRect">
            <a:avLst>
              <a:gd name="adj" fmla="val 50000"/>
            </a:avLst>
          </a:prstGeom>
          <a:solidFill>
            <a:srgbClr val="263874"/>
          </a:solidFill>
          <a:ln w="12700">
            <a:solidFill>
              <a:srgbClr val="9F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9FB2E0"/>
                </a:solidFill>
                <a:latin typeface="Calibri"/>
              </a:rPr>
              <a:t>ILLUSTRATIVE — NOT A REAL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C — Path-Trustee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protected transfer releases only after designated network trustees participate in an ordered, authenticated protocol. Each node validates the predecessor receipt and policy before signing its own — fail-closed on any missing, duplicated, or out-of-policy receipt.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Evidence of participation, not proof of physical transit — used alongside TLS, IPsec, and standard network controls, not instead of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D — Hybrid Human-AI 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SPAC-gated capability needing both objective checks and accountable judgment. A bounded AI evaluator attests only against allow-listed, authenticated criteria; a separate human trustee ceremony supplies its own threshold — composed with an explicit AND rule.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AI attestation never bypasses human quorum, endpoint binding, or approver validation — a bounded evaluator, not a substitute for accountability.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6.5 — SECURITY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New Failure Modes, Each Addressed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1971446"/>
            <a:ext cx="309067" cy="309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19" y="180136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Fielded-System Binding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A copied CT SPAC plus a legitimate quorum would arm the action anywhere without §4.2. Reuses §3.5's one-time-pad mathematics unmodified — an algebraic guarantee, not a policy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1828800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06" y="1971446"/>
            <a:ext cx="309067" cy="3090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180136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Content Authenticity vs.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468880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AES-GCM guarantees exact recovery of what was encrypted, not that it was correct. The Approver role (§4.4) closes this gap with an independently signed commitment.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069079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211726"/>
            <a:ext cx="309067" cy="3090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404164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Single-Operator / Custodian Sufficiency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Neither role being singular weakens the guarantee — neither can originate a ceremony action alone. A sufficiency argument, not an availability 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59" y="4069079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606" y="4211726"/>
            <a:ext cx="309067" cy="309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0" y="404164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RTO as a Stated Trade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709159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Every latency reduction is pre-positioning of already-required inputs. A fast, networked ceremony trades away the friction a slower, dual-custodian one deliberately keeps.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6.6 — SECURITY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Software vs. Hardware-Anchored Enforcement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19812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RISK-REDUCTION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848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Software-Only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4632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Capability binding and the constrained state machine still rest on the integrity of the code that enforces them. A sufficiently privileged insider who can modify that code can in principle modify the path around the ceremony as easily as around any other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94960" cy="19812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645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63A28"/>
          </a:solidFill>
          <a:ln w="12700">
            <a:solidFill>
              <a:srgbClr val="3EB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100" b="1">
                <a:solidFill>
                  <a:srgbClr val="3EBD6E"/>
                </a:solidFill>
                <a:latin typeface="Calibri"/>
              </a:rPr>
              <a:t>TAMPER-ANCHORED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848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Hardware-Anchored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484632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Secure-element-internal sequencing and the physical interlock reach the same bar §7.2 claims for the threshold math itself — bypassing them requires compromising the tamper-resistant hardware boundary, or physically defeating a circuit, not modifying software logic that runs outside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140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150">
                <a:solidFill>
                  <a:srgbClr val="CADCFC"/>
                </a:solidFill>
                <a:latin typeface="Calibri"/>
              </a:rPr>
              <a:t>Non-bypassability claims must specify which surface they cover. A deployment adopting SPAC for a genuine non-bypassability requirement should treat the software-only patterns as necessary but not sufficient, and reach a hardware-anchored tier wherever an undetected topological bypass would be unacceptable.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08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7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7.2 —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548640" y="14173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7"/>
          <p:cNvSpPr/>
          <p:nvPr/>
        </p:nvSpPr>
        <p:spPr>
          <a:xfrm>
            <a:off x="749808" y="16002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56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980" y="16923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7"/>
          <p:cNvSpPr/>
          <p:nvPr/>
        </p:nvSpPr>
        <p:spPr>
          <a:xfrm>
            <a:off x="1261872" y="15453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lone-actor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749808" y="20756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Recovery is mathematically impossible below threshold, not just procedurally discouraged.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4325112" y="14173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7"/>
          <p:cNvSpPr/>
          <p:nvPr/>
        </p:nvSpPr>
        <p:spPr>
          <a:xfrm>
            <a:off x="4526280" y="16002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61" name="Google Shape;4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452" y="16923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7"/>
          <p:cNvSpPr/>
          <p:nvPr/>
        </p:nvSpPr>
        <p:spPr>
          <a:xfrm>
            <a:off x="5038344" y="15453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Graceful trustee-loss tolerance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4526280" y="20756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Any D of T is sufficient — survives unavailable or non-cooperating trustees.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8101584" y="14173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8302752" y="16002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66" name="Google Shape;4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924" y="16923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7"/>
          <p:cNvSpPr/>
          <p:nvPr/>
        </p:nvSpPr>
        <p:spPr>
          <a:xfrm>
            <a:off x="8814816" y="15453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metadata leakage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8302752" y="20756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vault file alone reveals no trustee-to-share mapping, even under direct inspection.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548640" y="30175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749808" y="32004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71" name="Google Shape;4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980" y="32925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7"/>
          <p:cNvSpPr/>
          <p:nvPr/>
        </p:nvSpPr>
        <p:spPr>
          <a:xfrm>
            <a:off x="1261872" y="31455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Self-describing recovery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749808" y="36758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KDF method and parameters travel with the vault — no external config to match.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4325112" y="30175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7"/>
          <p:cNvSpPr/>
          <p:nvPr/>
        </p:nvSpPr>
        <p:spPr>
          <a:xfrm>
            <a:off x="4526280" y="32004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76" name="Google Shape;4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452" y="32925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7"/>
          <p:cNvSpPr/>
          <p:nvPr/>
        </p:nvSpPr>
        <p:spPr>
          <a:xfrm>
            <a:off x="5038344" y="31455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Mandatory-signer variant available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4526280" y="36758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shardic-prime, without weakening the underlying guarantees.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8101584" y="30175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8302752" y="32004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81" name="Google Shape;4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924" y="32925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7"/>
          <p:cNvSpPr/>
          <p:nvPr/>
        </p:nvSpPr>
        <p:spPr>
          <a:xfrm>
            <a:off x="8814816" y="31455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Fail-closed throughout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8302752" y="36758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Insufficient or incorrect codewords stop the operation — no silent-degradation path.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548640" y="46177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749808" y="48006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86" name="Google Shape;4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980" y="48927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7"/>
          <p:cNvSpPr/>
          <p:nvPr/>
        </p:nvSpPr>
        <p:spPr>
          <a:xfrm>
            <a:off x="1261872" y="47457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Live, end-to-end verified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749808" y="52760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Ceremony formation, envelope wrap/deliver, and recovery run today against real Keycloak infra with a live dashboard — not a paper design.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454;p17"/>
          <p:cNvSpPr/>
          <p:nvPr/>
        </p:nvSpPr>
        <p:spPr>
          <a:xfrm>
            <a:off x="4325112" y="46177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455;p17"/>
          <p:cNvSpPr/>
          <p:nvPr/>
        </p:nvSpPr>
        <p:spPr>
          <a:xfrm>
            <a:off x="4526280" y="48006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602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452" y="48927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457;p17"/>
          <p:cNvSpPr/>
          <p:nvPr/>
        </p:nvSpPr>
        <p:spPr>
          <a:xfrm>
            <a:off x="5038344" y="47457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Generalizes past file decryption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458;p17"/>
          <p:cNvSpPr/>
          <p:nvPr/>
        </p:nvSpPr>
        <p:spPr>
          <a:xfrm>
            <a:off x="4526280" y="52760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same guarantee gates an arbitrary protected action, network-path attestation, or hybrid human-AI ceremony, not only file recovery.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454;p17"/>
          <p:cNvSpPr/>
          <p:nvPr/>
        </p:nvSpPr>
        <p:spPr>
          <a:xfrm>
            <a:off x="8101584" y="46177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455;p17"/>
          <p:cNvSpPr/>
          <p:nvPr/>
        </p:nvSpPr>
        <p:spPr>
          <a:xfrm>
            <a:off x="8302752" y="48006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612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924" y="48927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457;p17"/>
          <p:cNvSpPr/>
          <p:nvPr/>
        </p:nvSpPr>
        <p:spPr>
          <a:xfrm>
            <a:off x="8814816" y="47457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Composable trustee classes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458;p17"/>
          <p:cNvSpPr/>
          <p:nvPr/>
        </p:nvSpPr>
        <p:spPr>
          <a:xfrm>
            <a:off x="8302752" y="52760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AI evaluators, hardware relay nodes, and human trustees can all participate in one threshold-recovery framework, math enforcing that no class acts alone.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8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7.3 — SUMMARY (1 of 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Limitations — And How They're Mitigated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2436876" y="13716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2638044" y="15544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00" name="Google Shape;5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5826" y="164226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8"/>
          <p:cNvSpPr/>
          <p:nvPr/>
        </p:nvSpPr>
        <p:spPr>
          <a:xfrm>
            <a:off x="2638044" y="20299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Codeword strength is the real bottleneck for the base scheme.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2638044" y="24688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Largely moot with shardic-envelope (§3.6). Otherwise: use adequate word count, review the tool's own entropy estimate, and prefer Argon2id.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6213348" y="13716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6414516" y="15544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05" name="Google Shape;5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2298" y="164226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8"/>
          <p:cNvSpPr/>
          <p:nvPr/>
        </p:nvSpPr>
        <p:spPr>
          <a:xfrm>
            <a:off x="6414516" y="20299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Static, split-once design — no live rotation.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6414516" y="24688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Intentionally scoped to rare, offline break-glass access. Frequent/live authorization: use FROST or HSM-backed multisig instead.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2436876" y="324612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8"/>
          <p:cNvSpPr/>
          <p:nvPr/>
        </p:nvSpPr>
        <p:spPr>
          <a:xfrm>
            <a:off x="2638044" y="342900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10" name="Google Shape;5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5826" y="35167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8"/>
          <p:cNvSpPr/>
          <p:nvPr/>
        </p:nvSpPr>
        <p:spPr>
          <a:xfrm>
            <a:off x="2638044" y="390448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.krypt file is a single point of availability failure.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2638044" y="434340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Back up the container durably — unlike the legacy split-file format, there is only one file to protect.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6213348" y="324612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8"/>
          <p:cNvSpPr/>
          <p:nvPr/>
        </p:nvSpPr>
        <p:spPr>
          <a:xfrm>
            <a:off x="6414516" y="342900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15" name="Google Shape;5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2298" y="35167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8"/>
          <p:cNvSpPr/>
          <p:nvPr/>
        </p:nvSpPr>
        <p:spPr>
          <a:xfrm>
            <a:off x="6414516" y="390448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Doesn't scale limitlessly — 255-trustee GF(256) ceiling.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6414516" y="434340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Fits double-digit trustee models by design; use it where it fits the need.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8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7.3 — SUMMARY (2 of 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Limitations — SPAC &amp; Notional Missions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548640" y="22000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749808" y="23828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00" name="Google Shape;5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90" y="247505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8"/>
          <p:cNvSpPr/>
          <p:nvPr/>
        </p:nvSpPr>
        <p:spPr>
          <a:xfrm>
            <a:off x="749808" y="28583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SPAC extension (§4–§5) is an unimplemented design.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749808" y="32972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cryptographic core (§3.1–§3.5) is unmodified and reused as-is; LocalUnlockFactor, PUF/secure-element choice, and the extraction-grant wire format remain open integration decisions, not open cryptographic questions.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4325112" y="22000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4526280" y="23828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05" name="Google Shape;5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62" y="247505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8"/>
          <p:cNvSpPr/>
          <p:nvPr/>
        </p:nvSpPr>
        <p:spPr>
          <a:xfrm>
            <a:off x="4526280" y="28583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trustee data-feed integrity is an open design question.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4526280" y="32972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Feed authentication and AI trustee hardening are not yet designed. Mitigation: treat AI trustee agents as shardware-token equivalents; require multi-source feed authentication.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8101584" y="22000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8"/>
          <p:cNvSpPr/>
          <p:nvPr/>
        </p:nvSpPr>
        <p:spPr>
          <a:xfrm>
            <a:off x="8302752" y="23828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10" name="Google Shape;5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0534" y="247505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8"/>
          <p:cNvSpPr/>
          <p:nvPr/>
        </p:nvSpPr>
        <p:spPr>
          <a:xfrm>
            <a:off x="8302752" y="28583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Path-trustee chain liveness has no slack at D = 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8302752" y="32972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An all-of-N path-trustee configuration tolerates zero unavailable relay nodes. Mitigation: register alternate-route trustees at ceremony formation; set D &lt; T where the deployment can tolerate a redundant route.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Badge BG 915"/>
          <p:cNvSpPr/>
          <p:nvPr/>
        </p:nvSpPr>
        <p:spPr>
          <a:xfrm>
            <a:off x="7772400" y="438912"/>
            <a:ext cx="3840480" cy="347472"/>
          </a:xfrm>
          <a:prstGeom prst="roundRect">
            <a:avLst>
              <a:gd fmla="val 21053" name="adj"/>
            </a:avLst>
          </a:prstGeom>
          <a:solidFill>
            <a:srgbClr val="3A2F14"/>
          </a:solidFill>
          <a:ln cap="flat" cmpd="sng" w="12700">
            <a:solidFill>
              <a:srgbClr val="A379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Badge Text 916"/>
          <p:cNvSpPr/>
          <p:nvPr/>
        </p:nvSpPr>
        <p:spPr>
          <a:xfrm>
            <a:off x="7772400" y="4389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79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3790A"/>
                </a:solidFill>
                <a:latin typeface="Calibri"/>
                <a:ea typeface="Calibri"/>
                <a:cs typeface="Calibri"/>
                <a:sym typeface="Calibri"/>
              </a:rPr>
              <a:t>DESIGN-STAGE LIMITATIONS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0" name="Google Shape;540;p19"/>
          <p:cNvCxnSpPr/>
          <p:nvPr/>
        </p:nvCxnSpPr>
        <p:spPr>
          <a:xfrm>
            <a:off x="2286000" y="1920240"/>
            <a:ext cx="7589520" cy="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1" name="Google Shape;541;p19"/>
          <p:cNvSpPr/>
          <p:nvPr/>
        </p:nvSpPr>
        <p:spPr>
          <a:xfrm>
            <a:off x="1371600" y="2194560"/>
            <a:ext cx="9418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Calibri"/>
              <a:buNone/>
            </a:pPr>
            <a:r>
              <a:rPr b="1" i="1" lang="en-US" sz="3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“Math beats policies and permissions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Calibri"/>
              <a:buNone/>
            </a:pPr>
            <a:r>
              <a:rPr b="1" i="1" lang="en-US" sz="3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for enforcement.”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2286000" y="379476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Threshold recovery below D trustees is enforced by mathematics — not bypassable by any administrator, insider, or software defect in the recovery tool itself.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3" name="Google Shape;543;p19"/>
          <p:cNvCxnSpPr/>
          <p:nvPr/>
        </p:nvCxnSpPr>
        <p:spPr>
          <a:xfrm>
            <a:off x="2286000" y="4892040"/>
            <a:ext cx="7589520" cy="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p19"/>
          <p:cNvSpPr/>
          <p:nvPr/>
        </p:nvSpPr>
        <p:spPr>
          <a:xfrm>
            <a:off x="1371600" y="5120640"/>
            <a:ext cx="9418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github.com/splashd1/shardic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1371600" y="5440680"/>
            <a:ext cx="9418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 · Sharded Encryption for Threshold-Recoverable Vaults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4.7 — SPAC TRUSTEE SHARES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Codeword vs. shardic-envelope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840" y="438912"/>
            <a:ext cx="2194040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A SPAC’s protected action can be materially more consequential than reading a file — arming a system, releasing funds, granting access. shardic-envelope is therefore the default for SPAC trustee shares; a memorized codeword remains a named, lower-assurance opt-out.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2350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DEK / AES-256-GCM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4754880" cy="75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Holds only CT SPAC, no other angle of attack. Nothing else stands between this adversary and the plaintext — the full, unstructured 256-bit keyspace, with no known practical shortcut.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21800"/>
            <a:ext cx="4754880" cy="50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The only layer that must resist a global search — regardless of computing power (§6.1).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394960" cy="2350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Codeword / Share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26079"/>
            <a:ext cx="4754880" cy="75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Holds one stolen or leaked share record. The search is real but bounded — a wordlist and word count, Argon2id-stretched per guess, not a global keyspace.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721800"/>
            <a:ext cx="4754880" cy="50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Success yields one D-of-T point, worthless below threshold — bounded and cost-amplified, not global.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3120"/>
            <a:ext cx="11064240" cy="100000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150">
                <a:solidFill>
                  <a:srgbClr val="CADCFC"/>
                </a:solidFill>
                <a:latin typeface="Calibri"/>
              </a:rPr>
              <a:t>Field case: a device holding a shardic-envelope credential is a seizable, forensically-imageable artifact. A memorized codeword leaves nothing to seize, image, or subpoena, and can be relayed over any channel a trustee has available, including a single verbal exchange — the PAL precedent (§4.1).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" name="TextBox Eyebrow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4.8 — SPAC SHARE PROTECTION</a:t>
            </a:r>
          </a:p>
        </p:txBody>
      </p:sp>
      <p:sp>
        <p:nvSpPr>
          <p:cNvPr id="102" name="TextBox Title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Two Axes: Delivery vs. Entropy Source</a:t>
            </a:r>
          </a:p>
        </p:txBody>
      </p:sp>
      <p:sp>
        <p:nvSpPr>
          <p:cNvPr id="103" name="Rounded Rectangle Badge"/>
          <p:cNvSpPr/>
          <p:nvPr/>
        </p:nvSpPr>
        <p:spPr>
          <a:xfrm>
            <a:off x="9418840" y="438912"/>
            <a:ext cx="2194040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§4.8</a:t>
            </a:r>
          </a:p>
        </p:txBody>
      </p:sp>
      <p:sp>
        <p:nvSpPr>
          <p:cNvPr id="104" name="TextBox Intro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§4.7 settles how a SPAC trustee’s protection value reaches them; §4.8 asks a separate, composable question — where that value comes from. Crossing the two shows the asymmetry: a DRBG-sourced key can’t be memorized, so it forces envelope delivery, but envelope delivery doesn’t require a DRBG-sourced key.</a:t>
            </a:r>
          </a:p>
        </p:txBody>
      </p:sp>
      <p:sp>
        <p:nvSpPr>
          <p:cNvPr id="105" name="Card Rect 1"/>
          <p:cNvSpPr/>
          <p:nvPr/>
        </p:nvSpPr>
        <p:spPr>
          <a:xfrm>
            <a:off x="2436876" y="19500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Icon Circle 1"/>
          <p:cNvSpPr/>
          <p:nvPr/>
        </p:nvSpPr>
        <p:spPr>
          <a:xfrm>
            <a:off x="2638044" y="213288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Icon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826" y="2220662"/>
            <a:ext cx="190195" cy="190195"/>
          </a:xfrm>
          <a:prstGeom prst="rect">
            <a:avLst/>
          </a:prstGeom>
        </p:spPr>
      </p:pic>
      <p:sp>
        <p:nvSpPr>
          <p:cNvPr id="108" name="Card Title 1"/>
          <p:cNvSpPr txBox="1"/>
          <p:nvPr/>
        </p:nvSpPr>
        <p:spPr>
          <a:xfrm>
            <a:off x="2638044" y="2608368"/>
            <a:ext cx="319125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Memorized + Codeword→KDF</a:t>
            </a:r>
          </a:p>
        </p:txBody>
      </p:sp>
      <p:sp>
        <p:nvSpPr>
          <p:cNvPr id="109" name="Card Body 1"/>
          <p:cNvSpPr txBox="1"/>
          <p:nvPr/>
        </p:nvSpPr>
        <p:spPr>
          <a:xfrm>
            <a:off x="2638044" y="3047280"/>
            <a:ext cx="3191256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30" b="0" i="0">
                <a:solidFill>
                  <a:srgbClr val="AEB9DC"/>
                </a:solidFill>
                <a:latin typeface="Calibri"/>
              </a:rPr>
              <a:t>Base &amp; prime schemes today, PBKDF2/Argon2id-stretched — SPAC’s named, deliberate opt-out too.</a:t>
            </a:r>
          </a:p>
        </p:txBody>
      </p:sp>
      <p:sp>
        <p:nvSpPr>
          <p:cNvPr id="110" name="Card Rect 2"/>
          <p:cNvSpPr/>
          <p:nvPr/>
        </p:nvSpPr>
        <p:spPr>
          <a:xfrm>
            <a:off x="6213348" y="19500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 w="19050">
            <a:prstDash val="dash"/>
            <a:solidFill>
              <a:srgbClr val="64708F"/>
            </a:solidFill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Icon Circle 2"/>
          <p:cNvSpPr/>
          <p:nvPr/>
        </p:nvSpPr>
        <p:spPr>
          <a:xfrm>
            <a:off x="6414516" y="2132880"/>
            <a:ext cx="365760" cy="365760"/>
          </a:xfrm>
          <a:prstGeom prst="ellipse">
            <a:avLst/>
          </a:prstGeom>
          <a:solidFill>
            <a:srgbClr val="64708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Icon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98" y="2220662"/>
            <a:ext cx="190195" cy="190195"/>
          </a:xfrm>
          <a:prstGeom prst="rect">
            <a:avLst/>
          </a:prstGeom>
        </p:spPr>
      </p:pic>
      <p:sp>
        <p:nvSpPr>
          <p:cNvPr id="113" name="Card Title 2"/>
          <p:cNvSpPr txBox="1"/>
          <p:nvPr/>
        </p:nvSpPr>
        <p:spPr>
          <a:xfrm>
            <a:off x="6414516" y="2608368"/>
            <a:ext cx="319125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1">
                <a:solidFill>
                  <a:srgbClr val="FFFFFF"/>
                </a:solidFill>
                <a:latin typeface="Calibri"/>
              </a:rPr>
              <a:t>Memorized + DRBG-direct</a:t>
            </a:r>
          </a:p>
        </p:txBody>
      </p:sp>
      <p:sp>
        <p:nvSpPr>
          <p:cNvPr id="114" name="Card Body 2"/>
          <p:cNvSpPr txBox="1"/>
          <p:nvPr/>
        </p:nvSpPr>
        <p:spPr>
          <a:xfrm>
            <a:off x="6414516" y="3047280"/>
            <a:ext cx="3191256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30" b="0" i="1">
                <a:solidFill>
                  <a:srgbClr val="AEB9DC"/>
                </a:solidFill>
                <a:latin typeface="Calibri"/>
              </a:rPr>
              <a:t>Not possible: a full-strength DRBG key can’t be memorized. This is the axis asymmetry — DRBG forces envelope delivery, not the reverse.</a:t>
            </a:r>
          </a:p>
        </p:txBody>
      </p:sp>
      <p:sp>
        <p:nvSpPr>
          <p:cNvPr id="115" name="Card Rect 3"/>
          <p:cNvSpPr/>
          <p:nvPr/>
        </p:nvSpPr>
        <p:spPr>
          <a:xfrm>
            <a:off x="2436876" y="38245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con Circle 3"/>
          <p:cNvSpPr/>
          <p:nvPr/>
        </p:nvSpPr>
        <p:spPr>
          <a:xfrm>
            <a:off x="2638044" y="400740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Icon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826" y="4095182"/>
            <a:ext cx="190195" cy="190195"/>
          </a:xfrm>
          <a:prstGeom prst="rect">
            <a:avLst/>
          </a:prstGeom>
        </p:spPr>
      </p:pic>
      <p:sp>
        <p:nvSpPr>
          <p:cNvPr id="118" name="Card Title 3"/>
          <p:cNvSpPr txBox="1"/>
          <p:nvPr/>
        </p:nvSpPr>
        <p:spPr>
          <a:xfrm>
            <a:off x="2638044" y="4482888"/>
            <a:ext cx="319125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Envelope + Codeword→KDF</a:t>
            </a:r>
          </a:p>
        </p:txBody>
      </p:sp>
      <p:sp>
        <p:nvSpPr>
          <p:cNvPr id="119" name="Card Body 3"/>
          <p:cNvSpPr txBox="1"/>
          <p:nvPr/>
        </p:nvSpPr>
        <p:spPr>
          <a:xfrm>
            <a:off x="2638044" y="4921800"/>
            <a:ext cx="3191256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30" b="0" i="0">
                <a:solidFill>
                  <a:srgbClr val="AEB9DC"/>
                </a:solidFill>
                <a:latin typeface="Calibri"/>
              </a:rPr>
              <a:t>Today’s actual default (demo/combiner/app.py) — envelope wraps an ordinary generated codeword for transport confidentiality only.</a:t>
            </a:r>
          </a:p>
        </p:txBody>
      </p:sp>
      <p:sp>
        <p:nvSpPr>
          <p:cNvPr id="120" name="Card Rect 4"/>
          <p:cNvSpPr/>
          <p:nvPr/>
        </p:nvSpPr>
        <p:spPr>
          <a:xfrm>
            <a:off x="6213348" y="38245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Icon Circle 4"/>
          <p:cNvSpPr/>
          <p:nvPr/>
        </p:nvSpPr>
        <p:spPr>
          <a:xfrm>
            <a:off x="6414516" y="4007400"/>
            <a:ext cx="365760" cy="36576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2" name="Picture Icon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298" y="4095182"/>
            <a:ext cx="190195" cy="190195"/>
          </a:xfrm>
          <a:prstGeom prst="rect">
            <a:avLst/>
          </a:prstGeom>
        </p:spPr>
      </p:pic>
      <p:sp>
        <p:nvSpPr>
          <p:cNvPr id="123" name="Card Title 4"/>
          <p:cNvSpPr txBox="1"/>
          <p:nvPr/>
        </p:nvSpPr>
        <p:spPr>
          <a:xfrm>
            <a:off x="6414516" y="4482888"/>
            <a:ext cx="319125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Envelope + DRBG-direct</a:t>
            </a:r>
          </a:p>
        </p:txBody>
      </p:sp>
      <p:sp>
        <p:nvSpPr>
          <p:cNvPr id="124" name="Card Body 4"/>
          <p:cNvSpPr txBox="1"/>
          <p:nvPr/>
        </p:nvSpPr>
        <p:spPr>
          <a:xfrm>
            <a:off x="6414516" y="4921800"/>
            <a:ext cx="3191256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30" b="0" i="0">
                <a:solidFill>
                  <a:srgbClr val="AEB9DC"/>
                </a:solidFill>
                <a:latin typeface="Calibri"/>
              </a:rPr>
              <a:t>No KDF stretching, drawn straight from the DEK’s own CSPRNG class — proposed SPAC default, §4.8.</a:t>
            </a:r>
          </a:p>
        </p:txBody>
      </p:sp>
      <p:sp>
        <p:nvSpPr>
          <p:cNvPr id="125" name="Rounded Rectangle Callout"/>
          <p:cNvSpPr/>
          <p:nvPr/>
        </p:nvSpPr>
        <p:spPr>
          <a:xfrm>
            <a:off x="548640" y="5620000"/>
            <a:ext cx="11064240" cy="680000"/>
          </a:xfrm>
          <a:prstGeom prst="roundRect">
            <a:avLst>
              <a:gd name="adj" fmla="val 6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150">
                <a:solidFill>
                  <a:srgbClr val="CADCFC"/>
                </a:solidFill>
                <a:latin typeface="Calibri"/>
              </a:rPr>
              <a:t>Delivery and entropy source compose independently — an ordinary codeword can still be envelope-wrapped today, exactly as the current implementation does. Adopting a DRBG-sourced key, however, necessarily requires envelope delivery, since there is nothing left to memorize.</a:t>
            </a:r>
          </a:p>
        </p:txBody>
      </p:sp>
      <p:sp>
        <p:nvSpPr>
          <p:cNvPr id="126" name="TextBox Footer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27" name="TextBox PageNum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