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0" r:id="rId31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23.xml"/><Relationship Id="rId17" Type="http://schemas.openxmlformats.org/officeDocument/2006/relationships/slide" Target="slides/slide24.xml"/><Relationship Id="rId18" Type="http://schemas.openxmlformats.org/officeDocument/2006/relationships/slide" Target="slides/slide2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image" Target="../media/image-9-4.png"/><Relationship Id="rId8" Type="http://schemas.openxmlformats.org/officeDocument/2006/relationships/image" Target="../media/image-9-4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4-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2-1.png"/><Relationship Id="rId5" Type="http://schemas.openxmlformats.org/officeDocument/2006/relationships/image" Target="../media/image-8-1.png"/><Relationship Id="rId6" Type="http://schemas.openxmlformats.org/officeDocument/2006/relationships/image" Target="../media/image-9-9.png"/><Relationship Id="rId7" Type="http://schemas.openxmlformats.org/officeDocument/2006/relationships/image" Target="../media/image-12-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2-1.png"/><Relationship Id="rId4" Type="http://schemas.openxmlformats.org/officeDocument/2006/relationships/image" Target="../media/image-13-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12-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7.png"/><Relationship Id="rId4" Type="http://schemas.openxmlformats.org/officeDocument/2006/relationships/image" Target="../media/image-8-1.png"/><Relationship Id="rId5" Type="http://schemas.openxmlformats.org/officeDocument/2006/relationships/image" Target="../media/image-13-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image" Target="../media/image-1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Relationship Id="rId10" Type="http://schemas.openxmlformats.org/officeDocument/2006/relationships/image" Target="../media/image-7-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image" Target="../media/image-1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Relationship Id="rId10" Type="http://schemas.openxmlformats.org/officeDocument/2006/relationships/image" Target="../media/image-12-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 ·  THRESHOLD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Threshold-Recoverable Encrypted Vaults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multi-person integrity for high-stakes data recovery and capability authorization — pubkey envelope delivery, operator-run ceremony formation, and a design path to hardware-bound SPAC ceremonies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384048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 Companion Deck  ·  v2.1  ·  July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github.com/splashd1/shardic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THE STATUS QUO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One Point of Failure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holds the key — a person, a process, a single server — has complete and unilateral power over the data it protects. Access is a binary, anonymous fact: either you hold the key, or you don't.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577840" cy="3200400"/>
          </a:xfrm>
          <a:prstGeom prst="roundRect">
            <a:avLst>
              <a:gd name="adj" fmla="val 2571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7" name="Image 0" descr="/home/claude/shardic_deck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33082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unilateral access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these is sufficient to cause disclosure: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3708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9728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insider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8280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9728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operator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2852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97280" y="5193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credential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141732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66560" y="1554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a key with another key changes who the single point of control is — not that there is one.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92240" y="269748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76656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a key in an HSM or safe changes where it lives — a single compromised operator still defeats it.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92240" y="397764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766560" y="4160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changes the shape of the trust model — one secret, one holder, one point of failure.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THE ALTERNATIVE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Party Can Unilaterally Decrypt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4813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trustee — including the vault's creator — can ever recover the data alone.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20482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rogue insider or single compromised account is insufficient; collusion of D independents is required.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6151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loss of up to T − D trustees without losing recoverability.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31821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recovery event has a natural audit trail of who participated.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1252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(T)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4" name="Image 0" descr="/home/claude/shardic_deck/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917" y="1714317"/>
            <a:ext cx="247254" cy="2472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004304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6" name="Image 1" descr="/home/claude/shardic_deck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421" y="1714317"/>
            <a:ext cx="247254" cy="24725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607808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8" name="Image 2" descr="/home/claude/shardic_deck/icons/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25" y="1714317"/>
            <a:ext cx="247254" cy="24725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11312" y="1600200"/>
            <a:ext cx="475488" cy="475488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0" name="Image 3" descr="/home/claude/shardic_deck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29" y="1714317"/>
            <a:ext cx="247254" cy="24725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814816" y="1600200"/>
            <a:ext cx="475488" cy="475488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2" name="Image 4" descr="/home/claude/shardic_deck/icons/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933" y="1714317"/>
            <a:ext cx="247254" cy="24725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263640" y="1490472"/>
            <a:ext cx="1956816" cy="694944"/>
          </a:xfrm>
          <a:prstGeom prst="roundRect">
            <a:avLst>
              <a:gd name="adj" fmla="val 13158"/>
            </a:avLst>
          </a:prstGeom>
          <a:ln w="19050">
            <a:solidFill>
              <a:srgbClr val="E7B93E"/>
            </a:solidFill>
            <a:prstDash val="dash"/>
          </a:ln>
        </p:spPr>
        <p:txBody>
          <a:bodyPr/>
          <a:p/>
        </p:txBody>
      </p:sp>
      <p:sp>
        <p:nvSpPr>
          <p:cNvPr id="24" name="Text 17"/>
          <p:cNvSpPr/>
          <p:nvPr/>
        </p:nvSpPr>
        <p:spPr>
          <a:xfrm>
            <a:off x="64008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required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reconstruct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9555480" y="1764792"/>
            <a:ext cx="29260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9921240" y="1545336"/>
            <a:ext cx="566928" cy="566928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7" name="Image 5" descr="/home/claude/shardic_deck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7303" y="1681399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840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10122408" y="2441448"/>
            <a:ext cx="219456" cy="292608"/>
          </a:xfrm>
          <a:prstGeom prst="down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30" name="Shape 22"/>
          <p:cNvSpPr/>
          <p:nvPr/>
        </p:nvSpPr>
        <p:spPr>
          <a:xfrm>
            <a:off x="9893808" y="2852928"/>
            <a:ext cx="566928" cy="56692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31" name="Image 6" descr="/home/claude/shardic_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71" y="2988991"/>
            <a:ext cx="294803" cy="29480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418320" y="34472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recovered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4" name="Text 25"/>
          <p:cNvSpPr/>
          <p:nvPr/>
        </p:nvSpPr>
        <p:spPr>
          <a:xfrm>
            <a:off x="914400" y="41148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recovery reframes “access” from a binary fact about one secret into a quorum fact about independent people. That's not a policy statement enforced by a process — it's a mathematical property of the construction itself (see §3.1–§3.2).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REPRESENTATIVE USE CASES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Threshold Recovery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6" name="Image 0" descr="/home/claude/shardic_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01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Infrastructure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 keys, production database master keys, SCADA overrides. T=7, D=4 — nobody has access day-to-day.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1" name="Image 1" descr="/home/claude/shardic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01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Succession Planning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468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Password-manager master vaults split among relatives, a lawyer, and a partner (T=5, D=3), with memorable codewords.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6" name="Image 2" descr="/home/claude/shardic_deck/icons/lan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 Sector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two-person rules, lawful-intercept escrow, continuity-of-government credentials, election tabulation keys.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1" name="Image 3" descr="/home/claude/shardic_deck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Regulated Industry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escrow, treasury cold storage, whistleblower archives, SOX/HIPAA separation-of-duties enforcement.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THE INTUITION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Hidden as a Single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206240"/>
          </a:xfrm>
          <a:prstGeom prst="roundRect">
            <a:avLst>
              <a:gd name="adj" fmla="val 1957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80160" y="4937760"/>
            <a:ext cx="5394960" cy="-1559052"/>
          </a:xfrm>
          <a:prstGeom prst="line">
            <a:avLst/>
          </a:prstGeom>
          <a:noFill/>
          <a:ln w="254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35885" y="4446361"/>
            <a:ext cx="109728" cy="109728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424989" y="4117177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09667" y="3760379"/>
            <a:ext cx="109728" cy="109728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98771" y="343119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3632" y="4094226"/>
            <a:ext cx="128016" cy="128016"/>
          </a:xfrm>
          <a:prstGeom prst="ellipse">
            <a:avLst/>
          </a:prstGeom>
          <a:solidFill>
            <a:srgbClr val="3EBD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74720" y="429539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 → every secret still possible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8016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 → exactly one answer fits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1508760"/>
            <a:ext cx="4069080" cy="4206240"/>
          </a:xfrm>
          <a:prstGeom prst="roundRect">
            <a:avLst>
              <a:gd name="adj" fmla="val 2022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63840" y="1920240"/>
            <a:ext cx="3429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determine a line.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shardic's actual construction generalizes this to a degree-(D−1) polynomial over GF(2⁸) — see §3.2.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3790A"/>
                </a:solidFill>
                <a:latin typeface="Calibri"/>
              </a:rPr>
              <a:t>1.6 — THE CAPABILITY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41B4D"/>
                </a:solidFill>
                <a:latin typeface="Calibri"/>
              </a:rPr>
              <a:t>Four Layers, Each Building on the Last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3385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2E3E6B"/>
                </a:solidFill>
                <a:latin typeface="Calibri"/>
              </a:rPr>
              <a:t>Each layer changes what's possible without invalidating anything the layer beneath it guarantees.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422392"/>
            <a:ext cx="10177272" cy="896112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5138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FB2E0"/>
                </a:solidFill>
                <a:latin typeface="Calibri"/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67842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Sharded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558698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D-of-T Shamir split of the DEK — below threshold, shares carry zero information about the secret (§1–§3.5)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51393" y="57150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63A28"/>
          </a:solidFill>
          <a:ln w="12700">
            <a:solidFill>
              <a:srgbClr val="3EB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3EBD6E"/>
                </a:solidFill>
                <a:latin typeface="Calibri"/>
              </a:rPr>
              <a:t>IMPLEMENTED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78808"/>
            <a:ext cx="10177272" cy="896112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702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FB2E0"/>
                </a:solidFill>
                <a:latin typeface="Calibri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3484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shardic-envelope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4343400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Wraps each codeword under a trustee-controlled keypair — removes the human-memorability ceiling (§3.6)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3" y="447141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63A28"/>
          </a:solidFill>
          <a:ln w="12700">
            <a:solidFill>
              <a:srgbClr val="3EB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3EBD6E"/>
                </a:solidFill>
                <a:latin typeface="Calibri"/>
              </a:rPr>
              <a:t>IMPLEMENTED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35224"/>
            <a:ext cx="10177272" cy="896112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FB2E0"/>
                </a:solidFill>
                <a:latin typeface="Calibri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9125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Ceremony 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309981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Tracked trustee registration, quorum selection &amp; invitation, automatic backfill, single-read delivery (§3.7)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393" y="322783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63A28"/>
          </a:solidFill>
          <a:ln w="12700">
            <a:solidFill>
              <a:srgbClr val="3EB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3EBD6E"/>
                </a:solidFill>
                <a:latin typeface="Calibri"/>
              </a:rPr>
              <a:t>IMPLEMENTED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91640"/>
            <a:ext cx="10177272" cy="896112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1783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FB2E0"/>
                </a:solidFill>
                <a:latin typeface="Calibri"/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194767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SPAC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185623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Generalizes the protected value to any enabling capability, with a ceremony tailored per client CONOPS &amp; embedment (§4–§5)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51393" y="19842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E7B93E"/>
                </a:solidFill>
                <a:latin typeface="Calibri"/>
              </a:rPr>
              <a:t>DESIGN PROPOSAL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577840" y="5221224"/>
            <a:ext cx="0" cy="201168"/>
          </a:xfrm>
          <a:prstGeom prst="line">
            <a:avLst/>
          </a:prstGeom>
          <a:ln w="22225">
            <a:solidFill>
              <a:srgbClr val="5B6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77840" y="3977640"/>
            <a:ext cx="0" cy="201168"/>
          </a:xfrm>
          <a:prstGeom prst="line">
            <a:avLst/>
          </a:prstGeom>
          <a:ln w="22225">
            <a:solidFill>
              <a:srgbClr val="5B6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77840" y="2734056"/>
            <a:ext cx="0" cy="201168"/>
          </a:xfrm>
          <a:prstGeom prst="line">
            <a:avLst/>
          </a:prstGeom>
          <a:ln w="22225">
            <a:solidFill>
              <a:srgbClr val="5B6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08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OPERATOR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Vault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 (trustees) and D (threshold) before doing anything else.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035040" cy="4114800"/>
          </a:xfrm>
          <a:prstGeom prst="roundRect">
            <a:avLst>
              <a:gd name="adj" fmla="val 2000"/>
            </a:avLst>
          </a:prstGeom>
          <a:solidFill>
            <a:srgbClr val="10163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4592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vault_create.py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--input ./secret_docs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--trustees 5 --threshold 3 --word-count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Share protection KDF: pbkdf2 (400000 iters)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No --word-length: defaulting to --memorable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Loaded 7772 candidate words (EFF wordlist)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Estimated codeword strength: ~39 bits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combinatorial per trustee (before KDF)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Split DEK into 5 shares, threshold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Wrote vault container: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vault_out/ce28by1pn9z8wib2.krypt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Wrote 5 trustee codeword files.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Distribute out of band, then delete.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0" y="1417320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3898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selects the KDF — Argon2id if available, else PBKDF2.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858000" y="2075688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0" y="2075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204825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--memorable codewords from the bundled EFF wordlist.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0" y="2734056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0" y="2734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270662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 combinatorial strength estimate before anything is distributed.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858000" y="3392424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0" y="3392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33649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the archive once (AES-256-GCM) under a random 256-bit DEK, splits the DEK into T Shamir shares.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858000" y="4050792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40233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.krypt file, plus one codeword file per trustee.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858000" y="4709160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0" y="4709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468172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operator's remaining job is procedural, not cryptographic — distribute out of band, then delete local copies.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OPERATOR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a Vault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3291840"/>
          </a:xfrm>
          <a:prstGeom prst="roundRect">
            <a:avLst>
              <a:gd name="adj" fmla="val 2500"/>
            </a:avLst>
          </a:prstGeom>
          <a:solidFill>
            <a:srgbClr val="1016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0020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vault_recover.py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vault_out/ce28by1pn9z8wib2.krypt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"broadside-repulsion-subway"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"valuables-repeater-oversleep"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"winking-portly-diffusion"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This vault requires 3 of 5 codewords.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(1/3).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(2/3).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(3/3).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Reconstructing DEK from shares ...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Success. Recovered to /recovered_out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86600" y="141732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7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301" y="15380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44968" y="139903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order accepted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44968" y="172821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doesn't ask “which trustee are you” — each codeword is tried against every not-yet-matched share until one authenticates.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51460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1" name="Image 1" descr="/home/claude/shardi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301" y="26353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4968" y="249631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design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744968" y="282549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fewer than D codewords match, or any are wrong, the tool reports how many were accepted and stops — never partial or best-guess output.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86600" y="361188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5" name="Image 2" descr="/home/claude/shardic_deck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1" y="37325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44968" y="35935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required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744968" y="392277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never specifies which codeword belongs to which trustee — the tool figures it out via trial matching (§3.4).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A MANDATORY-TRUSTEE VARIANT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shardic-prime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scheme treats every trustee identically. shardic-prime adds one essential trustee: their codeword must always be supplied, no matter how many others are gathered.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2169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7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0004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5740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situations where one specific role — an estate's executor, a security lead — must always sign off, while backups can be any qualifying subset.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97280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CLI tools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9728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container format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1513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9728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metadata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7091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pool codewords, gathered without the prime's, recover nothing — a property of the construction itself, not just the CLI.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182880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REQUIRES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4, D = 3  example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37960" y="278892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20" name="Image 1" descr="/home/claude/shardic_deck/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975458"/>
            <a:ext cx="404165" cy="4041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9224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required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58952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3667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4" name="Image 2" descr="/home/claude/shardic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3023006"/>
            <a:ext cx="309067" cy="309067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2811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6" name="Image 3" descr="/home/claude/shardic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06" y="3023006"/>
            <a:ext cx="309067" cy="30906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1955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8" name="Image 4" descr="/home/claude/shardic_deck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206" y="3023006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6676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of 3 POOL trustees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9224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prime trustee  +  any 2 of 3 pool trustees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492240" y="4572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shardic-envelope (§3.6) builds directly on this construction — its live Keycloak demo uses a prime + pool ceremony under the hood.</a:t>
            </a:r>
            <a:endParaRPr lang="en-US" sz="1080" dirty="0"/>
          </a:p>
        </p:txBody>
      </p:sp>
      <p:sp>
        <p:nvSpPr>
          <p:cNvPr id="32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— TECHNICAL 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Key, Not Just Encrypting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5" name="Image 0" descr="/home/claude/shardic_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45920" y="1938528"/>
            <a:ext cx="457200" cy="292608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33172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9" name="Image 1" descr="/home/claude/shardi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90195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archive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random 256-bit DEK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7560" y="1938528"/>
            <a:ext cx="457200" cy="292608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02336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3" name="Image 2" descr="/home/claude/shardic_deck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190195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Split — GF(2⁸)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DEK's 32 bytes each become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term of a degree D−1 polynomial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120640" y="1755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shares, each at a distinct x-coordinate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12064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7" name="Image 3" descr="/home/claude/shardic_deck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703" y="2284903"/>
            <a:ext cx="294803" cy="294803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89788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9" name="Image 4" descr="/home/claude/shardic_deck/icons/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43" y="2284903"/>
            <a:ext cx="294803" cy="294803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67512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21" name="Image 5" descr="/home/claude/shardic_deck/icons/cub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183" y="2284903"/>
            <a:ext cx="294803" cy="294803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5236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23" name="Image 6" descr="/home/claude/shardic_deck/icons/cub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8423" y="2284903"/>
            <a:ext cx="294803" cy="294803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22960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25" name="Image 7" descr="/home/claude/shardic_deck/icons/cub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663" y="2284903"/>
            <a:ext cx="294803" cy="294803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Shape 17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28" name="Image 8" descr="/home/claude/shardic_deck/icons/balan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046" y="4422038"/>
            <a:ext cx="309067" cy="309067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691640" y="41605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Information-theoretic, not merely computational. A degree D−1 polynomial is uniquely determined by any D points — but with only D−1 points, every possible value of the secret byte remains equally consistent. An attacker holding fewer than D shares learns exactly zero bits, regardless of computing power.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1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– 3.4 — FILE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Zero Metadata Leakage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6" name="Image 0" descr="/home/claude/shardic_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.krypt — nothing to accidentally separate from a companion metadata file; copy, email, or upload a single .krypt.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1" name="Image 1" descr="/home/claude/shardic_deck/icons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assignment mapping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order is randomly shuffled at creation; no record ties a share to a trustee or a codeword.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6" name="Image 2" descr="/home/claude/shardic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8807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matching, not lookup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343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tries each codeword against every unmatched share; AES-GCM's auth tag is the correctness oracle — fails fast, never garbage output.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4747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1" name="Image 3" descr="/home/claude/shardic_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38807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leaks at rest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343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AES-GCM bytes, no base64 (avoids ~33% size penalty). Seizing the file, or several codewords, in isolation reveals no assignment information.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– 6.3 — SECURITY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Guarantees, Two Different Levers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645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 &amp; Shamir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D, shares carry zero information about the key — regardless of computing power. Raising T or D changes how many parties must collude, not how hard one share is to attack.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3A2F14"/>
          </a:solidFill>
          <a:ln w="12700">
            <a:solidFill>
              <a:srgbClr val="E7B93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16459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Codeword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strong as its own guessing space and KDF cost — the operator's responsibility. A higher D does not compensate: an attacker only ever needs D individually weak codewords.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generation modes — word count is what sets the real security margin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Memorable (default)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~12.9 bits/word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real words, EFF long list. 8 words ≈ 103 bits by default.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53712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53712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~8–11 bits/word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53712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from a supplied wordlist — uniform shape, smaller pool.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101584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330184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30184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~3.36 bits/char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Pronounceable syllables; --strong-words adds case + digits for density.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548640" y="6016752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i="1">
                <a:solidFill>
                  <a:srgbClr val="64708F"/>
                </a:solidFill>
                <a:latin typeface="Calibri"/>
              </a:rPr>
              <a:t>Note: once shardic-envelope (§3.6) removes the memorability requirement, Synthetic — the densest of the three — becomes the baseline; Memorable/Dictionary stay right where a human still holds the codeword (§1.3).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AN IMPLEMENTED EXTENSION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shardic-envelope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— LIVE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codeword mode ultimately protects a share with something a human can recall — the design's real computational bottleneck. shardic-envelope removes that ceiling for trustees willing to hold a keypair, wrapping each codeword under a key they already control rather than under a memory limit. Built on shardic-prime; demoed end-to-end against real Keycloak infrastructure with a live SSE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24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9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54386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pools who already function as cryptographic identities in their day job — infra engineers, security officers, multisig cold-storage signers, PKI-backed roles. Near-arbitrary codeword strength, zero memorization burden.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mechanisms are complementary — which trustees use envelope wrapping vs. a memorable phrase is a per-trustee decision, not vault-wide.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24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15" name="Image 1" descr="/home/claude/shardic_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54386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2971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diceware-style family-estate case (§1.3): the whole premise is a relative who can recall a phrase without managing cryptographic material. Trading “remember five words” for “protect a key file forever” is plausibly a net loss for a non-technical trustee.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 private key becomes a new single point of failure per share, and credential lookup introduces a new trust boundary.</a:t>
            </a:r>
            <a:endParaRPr lang="en-US" sz="113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— OPERATOR-RUN TRUSTEE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— V1.0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shardic-envelope's operator selects T primaries plus an ordered backup list from a registered candidate directory, issues per-trustee invitations, and the ceremony self-heals around declines or timeouts — without the operator ever being eligible to select themselves as a trustee.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STATE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3A2F14"/>
          </a:solidFill>
          <a:ln w="12700">
            <a:solidFill>
              <a:srgbClr val="E7B93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2487168"/>
            <a:ext cx="320040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26080" y="24231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2608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accepted → vault creation unlocked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487168"/>
            <a:ext cx="320040" cy="219456"/>
          </a:xfrm>
          <a:prstGeom prst="rightArrow">
            <a:avLst/>
          </a:prstGeom>
          <a:solidFill>
            <a:srgbClr val="E5605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183880" y="24231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A1E1C"/>
          </a:solidFill>
          <a:ln w="12700">
            <a:solidFill>
              <a:srgbClr val="E5605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83880" y="2423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backup list exhausted first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4672" y="342900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1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789" y="3543117"/>
            <a:ext cx="247254" cy="24725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3401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3950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role (a dedicated Keycloak realm role) is checked against ceremony trustee selections — an operator can't invite themselves.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473952" y="342900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6" name="Image 1" descr="/home/claude/shardic_deck/icons/user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69" y="3543117"/>
            <a:ext cx="247254" cy="24725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6600" y="3401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/ TTL handling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73952" y="3950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invitation is ephemeral and polled (GET /trustees/pending-invitation). A decline or timeout lapses the slot immediately.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804672" y="521208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31" name="Image 2" descr="/home/claude/shardic_deck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5326197"/>
            <a:ext cx="247254" cy="24725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17320" y="5184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backfill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04672" y="57332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next-ranked candidate on the ordered backup list is promoted into a lapsed slot, inheriting its role (prime or pool) — race-safe against duplicate responses.</a:t>
            </a:r>
            <a:endParaRPr lang="en-US" sz="1030" dirty="0"/>
          </a:p>
        </p:txBody>
      </p:sp>
      <p:sp>
        <p:nvSpPr>
          <p:cNvPr id="34" name="Shape 29"/>
          <p:cNvSpPr/>
          <p:nvPr/>
        </p:nvSpPr>
        <p:spPr>
          <a:xfrm>
            <a:off x="621792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6473952" y="521208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36" name="Image 3" descr="/home/claude/shardic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69" y="5326197"/>
            <a:ext cx="247254" cy="24725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86600" y="5184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routes, real state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473952" y="57332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/admin/ceremony/initiate, STATE["ceremony"], and SSE events (ceremony_initiated / ceremony_formed / ceremony_failed) — not a design sketch.</a:t>
            </a:r>
            <a:endParaRPr lang="en-US" sz="1030" dirty="0"/>
          </a:p>
        </p:txBody>
      </p:sp>
      <p:sp>
        <p:nvSpPr>
          <p:cNvPr id="39" name="Text 3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– 3.7 — THE OPERATIONAL 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Form → Wrap → Deliver → Recover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6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067" y="16166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Trustees join a Keycloak candidate directory. Keypair is generated client-side only (WebCrypto / hardware token) — the private key never leaves the device.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85800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5800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2908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807208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557016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4" name="Image 1" descr="/home/claude/shardic_deck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16166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6936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44368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initiates a ceremony (§3.7); invitations, decline/TTL, and backfill run until every slot is accepted or the backup list is exhausted.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2944368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2944368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51476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065776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815584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2" name="Image 2" descr="/home/claude/shardic_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203" y="161665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5504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Wrap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02936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vault creation, each codeword is wrapped under its trustee's ceremony-confirmed public key via shardic_envelope_crypto.wrap() — the combiner never sees a plaintext codeword.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5202936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5202936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210044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7324344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8074152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30" name="Image 3" descr="/home/claude/shardic_deck/icons/mail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771" y="1616659"/>
            <a:ext cx="332842" cy="33284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34072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Deliver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461504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polls GET /trustees/pending-envelope, a pull-based, single-read drop point. Working end-to-end today as an in-process store — a pluggable EnvelopeDropPoint backend is the tracked follow-on.</a:t>
            </a:r>
            <a:endParaRPr lang="en-US" sz="960" dirty="0"/>
          </a:p>
        </p:txBody>
      </p:sp>
      <p:sp>
        <p:nvSpPr>
          <p:cNvPr id="33" name="Shape 27"/>
          <p:cNvSpPr/>
          <p:nvPr/>
        </p:nvSpPr>
        <p:spPr>
          <a:xfrm>
            <a:off x="7461504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7461504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468612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36" name="Shape 30"/>
          <p:cNvSpPr/>
          <p:nvPr/>
        </p:nvSpPr>
        <p:spPr>
          <a:xfrm>
            <a:off x="9582912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10332720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38" name="Image 4" descr="/home/claude/shardic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339" y="1616659"/>
            <a:ext cx="332842" cy="33284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6926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Recover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9720072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decrypts their own envelope locally, then supplies the shard — the base recovery flow (§2.2) is otherwise unchanged.</a:t>
            </a:r>
            <a:endParaRPr lang="en-US" sz="960" dirty="0"/>
          </a:p>
        </p:txBody>
      </p:sp>
      <p:sp>
        <p:nvSpPr>
          <p:cNvPr id="41" name="Shape 34"/>
          <p:cNvSpPr/>
          <p:nvPr/>
        </p:nvSpPr>
        <p:spPr>
          <a:xfrm>
            <a:off x="9720072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42" name="Text 35"/>
          <p:cNvSpPr/>
          <p:nvPr/>
        </p:nvSpPr>
        <p:spPr>
          <a:xfrm>
            <a:off x="9720072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44" name="Shape 37"/>
          <p:cNvSpPr/>
          <p:nvPr/>
        </p:nvSpPr>
        <p:spPr>
          <a:xfrm>
            <a:off x="822960" y="5687568"/>
            <a:ext cx="548640" cy="54864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45" name="Image 5" descr="/home/claude/shardic_deck/icons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5819242"/>
            <a:ext cx="285293" cy="285293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508760" y="56235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around this flow is pluggable by design: NotificationChannel (Log/Webhook/Email, implemented v1.0, wired to ceremony invitations — envelope_ready/drop_expired await the EnvelopeDropPoint above) and VaultStore (implemented v1.0, filesystem backend) both sit behind clean protocols the core crypto path never depends on.</a:t>
            </a:r>
            <a:endParaRPr lang="en-US" sz="1080" dirty="0"/>
          </a:p>
        </p:txBody>
      </p:sp>
      <p:sp>
        <p:nvSpPr>
          <p:cNvPr id="47" name="Text 3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4.1 — FROM DATA TO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Shardic Protected Action Code (SPAC)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0576" y="438912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The plaintext shardic protects has never had to be a file — it is, more generally, the enabling value for a protected action: financial access, a safety interlock, a sensitive document, account access. A SPAC names that value; PT SPAC and CT SPAC name its plaintext and ciphertext forms, exactly like any other plaintext/ciphertext pair in this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enabling value in the clear — a signing credential, a release-enable code, a safety-interlock unlock. Held only fleetingly, in memory, at the moment enough independent parties have contributed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Decrypting a file is the narrowest case: the protected action is simply “the codeword holder gets to read the plaintext.”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CT SPAC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same value, AES-256-GCM-encrypted under a DEK reconstructed only when D-of-T trustees — and any hardware binding — genuinely agree. What a fielded system actually holds at rest, indefinitely.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Real-world precedent: Permissive Action Links (PAL) and the Two-Person Integrity / Two-Man Rule — gating a capability, not just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4.2 — HARDWARE-BOUND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The Fielded Prime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§2.3's prime trustee generalizes to hardware with no new mathematics: a fielded system's own PUF/secure-element-sealed secret stands in for mask in §3.5's one-time-pad construction, reused unmodified.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WHAT MAKES IT SAFE TO FIELD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5973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Non-extractable — generated once at emplacement, never leaves the hardware, never typed by a human, never a codeword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82696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Fielded-system binding — a copied CT SPAC plus a full legitimate trustee quorum still fails to arm a different instance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51959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7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Scoped to one specific piece of hardware — no multi-unit redundancy, no export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50" b="0" i="1">
                <a:solidFill>
                  <a:srgbClr val="9FB2E0"/>
                </a:solidFill>
                <a:latin typeface="Calibri"/>
              </a:rPr>
              <a:t>If the fielded hardware is replaced, mask is gone with it — re-provision, don't migrate the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3749039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RECOVERY REQUIRES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7" y="270113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333756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FIELDED PRIME</a:t>
            </a:r>
          </a:p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ELEMENT —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640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25146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46" y="265724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32520" y="3246120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pool shares — shardware-token</a:t>
            </a:r>
          </a:p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or network (§3.6-3.7)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39"/>
            <a:ext cx="48920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mask ⊕ pool_shares → DEK → CT_SPAC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80" b="0" i="0">
                <a:solidFill>
                  <a:srgbClr val="9FB2E0"/>
                </a:solidFill>
                <a:latin typeface="Calibri"/>
              </a:rPr>
              <a:t>Note: named after the prime-trustee role (§2.3) it embodies in hardware — a shardware-token (§4.3) is the analogous physical-carriage device for pool shares.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4.3 — HARDWARE TOKEN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shardware-token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30614" y="438912"/>
            <a:ext cx="2216505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Two variants for how a physical token participates in a ceremony, differing in how much trust the token itself has to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54386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Physical Carriage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dumb-storage USB token simply transports an already public-key-wrapped shard — replacing a network hop with a courier, hand-off, or safe-deposit retrieval for a ceremony that wants to run entirely air-gapped past registration. Nothing on the token is ever unencrypted.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Open question: without a live authenticated session, “whose shard is this” needs either an attesting operator or a trustee-held signing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54386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PUF-Sealed Embed/Extract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token generates its own keypair locally at “embed” time, seals the wrapped shard behind PUF/secure-element fuzzy-extractor storage, and releases it at “extract” time only against a vault-signed, token-bound, nonce-fresh extraction grant.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 single live operator authorizes each grant — sufficient because the operator can only approve a request a genuine physical token already originated.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4.4 — SPAC ECOSYSTEM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Roles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7" y="1616659"/>
            <a:ext cx="332841" cy="33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Trustee (pool)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must jointly agree to recover? Ordinary shardic-envelope trustees, unchanged from §3.6-3.7.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5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161665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6936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Fielded Prime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What binds recovery to one piece of fielded hardware? The fielded system's own sealed secret — never a party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5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583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1616659"/>
            <a:ext cx="332841" cy="3328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75503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Local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custodian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is physically present to authorize the hardware's own local unseal? Whoever holds the deployment's key/token or PIN factor — a role, not an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3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1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771" y="1616659"/>
            <a:ext cx="332841" cy="3328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4071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3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authorizes a given extraction request? A single, on-call role, barred from authorizing a grant naming their own token.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1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19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1616659"/>
            <a:ext cx="332841" cy="3328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39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1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attests the protected value is correct? An authority independent of the wrap/emplacement step, holding its own signing key.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577840"/>
            <a:ext cx="548640" cy="5486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" y="5709513"/>
            <a:ext cx="285292" cy="2852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8760" y="5440680"/>
            <a:ext cx="99669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Approver closes a gap AES-GCM alone can't: ciphertext integrity guarantees exact recovery of what was encrypted, not that what was encrypted was correct in the first place.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4.5 — CONOPS &amp; RTO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Three Levers, One Honest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1812340"/>
            <a:ext cx="261518" cy="261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Convening the 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Pre-forming a ceremony (§3.7, reused unmodified) converts “select, invite, wait for acceptance” into a one-time setup cost paid before the RTO clock starts — the single largest lever available. Cold-start: hours. Pre-formed, on-call: seconds to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12" y="18123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3792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Share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network path is near-instant; physical carriage (§4.3) is inherently minutes to days. Air-gap independence and a tight RTO are largely mutually exclusive — a deployment chooses the one it actually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44" y="1812340"/>
            <a:ext cx="261518" cy="2615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78824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Endgame Unlock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single operator and custodian are each fast and cryptographically sufficient — but a lone unreachable authorizer is an availability risk, not an authorization one. An on-call backup roster protects availability without a second decision-maker.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No lever here reduces how many independent parties are cryptographically required — every latency improvement is pre-positioning of already-required inputs, never fewer of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5.1 – 5.2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A — Treasury Disbursement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high-privilege disbursement-signing credential. T=5 pool trustees (treasury officers), D=3, plus a Fielded Prime Element in the treasury appliance's own HSM. Compliance-officer operator; data-center custodian; network delivery targets an RTO of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app-logic dual control — an audit log proves which accounts clicked approve, not which people independently chose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B — Safety-Interlock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notional release-enable value. T=5 duty-crew trustees, D=3, plus a Fielded Prime Element in secure-element hardware and dual local key-switches. On-alert standing quorum targets an RTO of seconds to low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 procedural two-person rule enforced by human witnessing — the same organizational problem Permissive Action Links 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6.5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New Failure Modes, Each Addressed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Fielded-System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 copied CT SPAC plus a legitimate quorum would arm the action anywhere without §4.2. Reuses §3.5's one-time-pad mathematics unmodified — an algebraic guarantee, not a policy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Content Authenticity vs.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AES-GCM guarantees exact recovery of what was encrypted, not that it was correct. The Approver role (§4.4) closes this gap with an independently signed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Single-Operator / Custodian Sufficiency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Neither role being singular weakens the guarantee — neither can originate a ceremony action alone. A sufficiency argument, not an availability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RTO as a Stated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Every latency reduction is pre-positioning of already-required inputs. A fast, networked ceremony trades away the friction a slower, dual-custodian one deliberately keeps.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6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16923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lone-actor 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mathematically impossible below threshold, not just procedurally discouraged.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25112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11" name="Image 1" descr="/home/claude/shardic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452" y="169237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38344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trustee-loss tolerance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26280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 of T is sufficient — survives unavailable or non-cooperating trustees.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01584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16" name="Image 2" descr="/home/claude/shardic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1692372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14816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metadata leakage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02752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file alone reveals no trustee-to-share mapping, even under direct inspection.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49808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21" name="Image 3" descr="/home/claude/shardic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80" y="3292572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recovery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9808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KDF method and parameters travel with the vault — no external config to match.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25112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26280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26" name="Image 4" descr="/home/claude/shardic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452" y="3292572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38344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Mandatory-signer variant available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26280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shardic-prime, without weakening the underlying guarantees.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101584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02752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31" name="Image 5" descr="/home/claude/shardic_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924" y="3292572"/>
            <a:ext cx="199705" cy="1997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14816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throughout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02752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or incorrect codewords stop the operation — no silent-degradation path.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548640" y="46177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Shape 27"/>
          <p:cNvSpPr/>
          <p:nvPr/>
        </p:nvSpPr>
        <p:spPr>
          <a:xfrm>
            <a:off x="749808" y="48006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36" name="Image 6" descr="/home/claude/shardic_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80" y="4892772"/>
            <a:ext cx="199705" cy="19970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61872" y="47457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end-to-end verified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749808" y="52760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formation, envelope wrap/deliver, and recovery run today against real Keycloak infra with a live dashboard — not a paper design.</a:t>
            </a:r>
            <a:endParaRPr lang="en-US" sz="98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1" name="Rounded Rectangle 40"/>
          <p:cNvSpPr/>
          <p:nvPr/>
        </p:nvSpPr>
        <p:spPr>
          <a:xfrm>
            <a:off x="4325112" y="4617720"/>
            <a:ext cx="3593592" cy="14173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26280" y="4800600"/>
            <a:ext cx="384048" cy="384048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8451" y="4892771"/>
            <a:ext cx="199704" cy="19970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38344" y="4745736"/>
            <a:ext cx="267919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Generalizes past file decryption entirely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276088"/>
            <a:ext cx="3191256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80" b="0" i="0">
                <a:solidFill>
                  <a:srgbClr val="AEB9DC"/>
                </a:solidFill>
                <a:latin typeface="Calibri"/>
              </a:rPr>
              <a:t>The same guarantee that protects a vault's plaintext can, per §4–§5, gate an arbitrary protected action — fielded-system-binding and approver mechanisms already designed.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And How They're Mitigated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6" name="Image 0" descr="/home/claude/shardic_dec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642262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strength is the real bottleneck.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adequate word count; review the tool's own entropy estimate before distribution; prefer Argon2id.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26280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11" name="Image 1" descr="/home/claude/shardic_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062" y="1642262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split-once design — no live rotation.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26280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scoped to rare, offline break-glass access. Frequent/live authorization: use FROST or HSM-backed multisig instead.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8101584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02752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16" name="Image 2" descr="/home/claude/shardic_deck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1642262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.krypt file is a single point of availability failure.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302752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container durably — unlike the legacy split-file format, there is only one file to protect.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49808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21" name="Image 3" descr="/home/claude/shardic_deck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3516782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limitlessly — 255-trustee GF(256) ceiling.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double-digit trustee models by design; use it where it fits the need.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4325112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26280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26" name="Image 4" descr="/home/claude/shardic_deck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062" y="3516782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delivery isn't yet a pluggable backend.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26280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EnvelopeDropPoint (§3.7) works today as an in-process store; a durable, swappable backend is a tracked follow-on, not a blocker for the current demo scope.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8101584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02752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31" name="Image 5" descr="/home/claude/shardic_deck/icons/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3516782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browser-based trustee client yet.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302752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trustee client (registration + custody in-browser) remains a proposed, unimplemented design — today's trustee flow is a Python/CLI client.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548640" y="512064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Shape 27"/>
          <p:cNvSpPr/>
          <p:nvPr/>
        </p:nvSpPr>
        <p:spPr>
          <a:xfrm>
            <a:off x="749808" y="530352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36" name="Image 6" descr="/home/claude/shardic_deck/icons/ale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" y="5391302"/>
            <a:ext cx="190195" cy="1901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9808" y="577900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build path not yet verified on real hardware.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749808" y="621792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CLI, GUI, and AppImage builds are independently verified; Windows verification is a tracked open item.</a:t>
            </a:r>
            <a:endParaRPr lang="en-US" sz="93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1" name="Rounded Rectangle 40"/>
          <p:cNvSpPr/>
          <p:nvPr/>
        </p:nvSpPr>
        <p:spPr>
          <a:xfrm>
            <a:off x="4325112" y="5120640"/>
            <a:ext cx="3593592" cy="169164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26280" y="530352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4062" y="5391302"/>
            <a:ext cx="190195" cy="19019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526280" y="5779007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The SPAC extension is an unimplemented design.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6217920"/>
            <a:ext cx="3191256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LocalUnlockFactor category, target PUF/secure-element hardware, and the extraction-grant wire format (§4–§5) remain open — none of it weakens the cryptographic core every SPAC construction reuses unmodified.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920240"/>
            <a:ext cx="758952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71600" y="219456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“Math beats policies and permissions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enforcement.”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0" y="37947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recovery below D trustees is enforced by mathematics — not bypassable by any administrator, insider, or software defect in the recovery tool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4892040"/>
            <a:ext cx="758952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51206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github.com/splashd1/shardic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 · Sharded Encryption for Threshold-Recoverable Vaults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2026-07-22T03:35:40Z</dcterms:created>
  <dcterms:modified xsi:type="dcterms:W3CDTF">2026-07-22T03:35:40Z</dcterms:modified>
</cp:coreProperties>
</file>