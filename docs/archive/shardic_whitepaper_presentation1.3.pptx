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1.png"/><Relationship Id="rId5" Type="http://schemas.openxmlformats.org/officeDocument/2006/relationships/image" Target="../media/image-3-1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3.png"/><Relationship Id="rId4" Type="http://schemas.openxmlformats.org/officeDocument/2006/relationships/image" Target="../media/image-8-3.png"/><Relationship Id="rId5" Type="http://schemas.openxmlformats.org/officeDocument/2006/relationships/image" Target="../media/image-8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4.png"/><Relationship Id="rId6" Type="http://schemas.openxmlformats.org/officeDocument/2006/relationships/image" Target="../media/image-9-4.png"/><Relationship Id="rId7" Type="http://schemas.openxmlformats.org/officeDocument/2006/relationships/image" Target="../media/image-9-4.png"/><Relationship Id="rId8" Type="http://schemas.openxmlformats.org/officeDocument/2006/relationships/image" Target="../media/image-9-4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image" Target="../media/image-15-1.png"/><Relationship Id="rId5" Type="http://schemas.openxmlformats.org/officeDocument/2006/relationships/image" Target="../media/image-15-1.png"/><Relationship Id="rId6" Type="http://schemas.openxmlformats.org/officeDocument/2006/relationships/image" Target="../media/image-15-1.png"/><Relationship Id="rId7" Type="http://schemas.openxmlformats.org/officeDocument/2006/relationships/image" Target="../media/image-15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1.png"/><Relationship Id="rId3" Type="http://schemas.openxmlformats.org/officeDocument/2006/relationships/image" Target="../media/image-16-1.png"/><Relationship Id="rId4" Type="http://schemas.openxmlformats.org/officeDocument/2006/relationships/image" Target="../media/image-16-1.png"/><Relationship Id="rId5" Type="http://schemas.openxmlformats.org/officeDocument/2006/relationships/image" Target="../media/image-16-1.png"/><Relationship Id="rId6" Type="http://schemas.openxmlformats.org/officeDocument/2006/relationships/image" Target="../media/image-16-1.png"/><Relationship Id="rId7" Type="http://schemas.openxmlformats.org/officeDocument/2006/relationships/image" Target="../media/image-16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SHARES  ·  THRESHOLD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Threshold-Recoverable Encrypted Vaults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Enforcing multi-person integrity for high-stakes data recovery — now with pubkey-based envelope delivery and operator-run ceremony formation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5806440"/>
            <a:ext cx="3840480" cy="0"/>
          </a:xfrm>
          <a:prstGeom prst="line">
            <a:avLst/>
          </a:prstGeom>
          <a:noFill/>
          <a:ln w="12700">
            <a:solidFill>
              <a:srgbClr val="5B6E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943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Paper Companion Deck  ·  July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6217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github.com/splashd1/shardic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— THE STATUS QUO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Key, One Point of Failure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577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Whoever holds the key — a person, a process, a single server — has complete and unilateral power over the data it protects. Access is a binary, anonymous fact: either you hold the key, or you don't.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5577840" cy="3200400"/>
          </a:xfrm>
          <a:prstGeom prst="roundRect">
            <a:avLst>
              <a:gd name="adj" fmla="val 2571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3154680"/>
            <a:ext cx="640080" cy="640080"/>
          </a:xfrm>
          <a:prstGeom prst="ellipse">
            <a:avLst/>
          </a:prstGeom>
          <a:solidFill>
            <a:srgbClr val="263874"/>
          </a:solidFill>
          <a:ln/>
        </p:spPr>
      </p:sp>
      <p:pic>
        <p:nvPicPr>
          <p:cNvPr id="7" name="Image 0" descr="/home/claude/shardic_deck/icons/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330829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3200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KEY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91640" y="3520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complete, unilateral access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39776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ONE of these is sufficient to cause disclosure: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68680" y="4370832"/>
            <a:ext cx="82296" cy="82296"/>
          </a:xfrm>
          <a:prstGeom prst="ellipse">
            <a:avLst/>
          </a:prstGeom>
          <a:solidFill>
            <a:srgbClr val="E7B93E"/>
          </a:solidFill>
          <a:ln/>
        </p:spPr>
      </p:sp>
      <p:sp>
        <p:nvSpPr>
          <p:cNvPr id="12" name="Text 9"/>
          <p:cNvSpPr/>
          <p:nvPr/>
        </p:nvSpPr>
        <p:spPr>
          <a:xfrm>
            <a:off x="1097280" y="42793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Rogue insider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68680" y="4828032"/>
            <a:ext cx="82296" cy="82296"/>
          </a:xfrm>
          <a:prstGeom prst="ellipse">
            <a:avLst/>
          </a:prstGeom>
          <a:solidFill>
            <a:srgbClr val="E7B93E"/>
          </a:solidFill>
          <a:ln/>
        </p:spPr>
      </p:sp>
      <p:sp>
        <p:nvSpPr>
          <p:cNvPr id="14" name="Text 11"/>
          <p:cNvSpPr/>
          <p:nvPr/>
        </p:nvSpPr>
        <p:spPr>
          <a:xfrm>
            <a:off x="1097280" y="47365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Coerced operator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68680" y="5285232"/>
            <a:ext cx="82296" cy="82296"/>
          </a:xfrm>
          <a:prstGeom prst="ellipse">
            <a:avLst/>
          </a:prstGeom>
          <a:solidFill>
            <a:srgbClr val="E7B93E"/>
          </a:solidFill>
          <a:ln/>
        </p:spPr>
      </p:sp>
      <p:sp>
        <p:nvSpPr>
          <p:cNvPr id="16" name="Text 13"/>
          <p:cNvSpPr/>
          <p:nvPr/>
        </p:nvSpPr>
        <p:spPr>
          <a:xfrm>
            <a:off x="1097280" y="51937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credential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92240" y="1417320"/>
            <a:ext cx="5120640" cy="1097280"/>
          </a:xfrm>
          <a:prstGeom prst="roundRect">
            <a:avLst>
              <a:gd name="adj" fmla="val 7500"/>
            </a:avLst>
          </a:prstGeom>
          <a:solidFill>
            <a:srgbClr val="263874"/>
          </a:solidFill>
          <a:ln/>
        </p:spPr>
      </p:sp>
      <p:sp>
        <p:nvSpPr>
          <p:cNvPr id="18" name="Text 15"/>
          <p:cNvSpPr/>
          <p:nvPr/>
        </p:nvSpPr>
        <p:spPr>
          <a:xfrm>
            <a:off x="6766560" y="15544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a key with another key changes who the single point of control is — not that there is one.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492240" y="2697480"/>
            <a:ext cx="5120640" cy="1097280"/>
          </a:xfrm>
          <a:prstGeom prst="roundRect">
            <a:avLst>
              <a:gd name="adj" fmla="val 7500"/>
            </a:avLst>
          </a:prstGeom>
          <a:solidFill>
            <a:srgbClr val="263874"/>
          </a:solidFill>
          <a:ln/>
        </p:spPr>
      </p:sp>
      <p:sp>
        <p:nvSpPr>
          <p:cNvPr id="20" name="Text 17"/>
          <p:cNvSpPr/>
          <p:nvPr/>
        </p:nvSpPr>
        <p:spPr>
          <a:xfrm>
            <a:off x="6766560" y="28346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Locking a key in an HSM or safe changes where it lives — a single compromised operator still defeats it.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492240" y="3977640"/>
            <a:ext cx="5120640" cy="1280160"/>
          </a:xfrm>
          <a:prstGeom prst="roundRect">
            <a:avLst>
              <a:gd name="adj" fmla="val 6429"/>
            </a:avLst>
          </a:prstGeom>
          <a:solidFill>
            <a:srgbClr val="263874"/>
          </a:solidFill>
          <a:ln/>
        </p:spPr>
      </p:sp>
      <p:sp>
        <p:nvSpPr>
          <p:cNvPr id="22" name="Text 19"/>
          <p:cNvSpPr/>
          <p:nvPr/>
        </p:nvSpPr>
        <p:spPr>
          <a:xfrm>
            <a:off x="6766560" y="41605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changes the shape of the trust model — one secret, one holder, one point of failure.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— THE ALTERNATIVE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Party Can Unilaterally Decrypt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91440" cy="91440"/>
          </a:xfrm>
          <a:prstGeom prst="ellipse">
            <a:avLst/>
          </a:prstGeom>
          <a:solidFill>
            <a:srgbClr val="E7B93E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481328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trustee — including the vault's creator — can ever recover the data alone.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167128"/>
            <a:ext cx="91440" cy="91440"/>
          </a:xfrm>
          <a:prstGeom prst="ellipse">
            <a:avLst/>
          </a:prstGeom>
          <a:solidFill>
            <a:srgbClr val="E7B93E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48256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rogue insider or single compromised account is insufficient; collusion of D independents is required.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734056"/>
            <a:ext cx="91440" cy="91440"/>
          </a:xfrm>
          <a:prstGeom prst="ellipse">
            <a:avLst/>
          </a:prstGeom>
          <a:solidFill>
            <a:srgbClr val="E7B93E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2615184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Tolerates loss of up to T − D trustees without losing recoverability.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300984"/>
            <a:ext cx="91440" cy="91440"/>
          </a:xfrm>
          <a:prstGeom prst="ellipse">
            <a:avLst/>
          </a:prstGeom>
          <a:solidFill>
            <a:srgbClr val="E7B93E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182112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recovery event has a natural audit trail of who participated.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0" y="12527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shares (T)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1600200"/>
            <a:ext cx="475488" cy="475488"/>
          </a:xfrm>
          <a:prstGeom prst="ellipse">
            <a:avLst/>
          </a:prstGeom>
          <a:solidFill>
            <a:srgbClr val="5B6E9E"/>
          </a:solidFill>
          <a:ln/>
        </p:spPr>
      </p:sp>
      <p:pic>
        <p:nvPicPr>
          <p:cNvPr id="14" name="Image 0" descr="/home/claude/shardic_deck/icons/cub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4917" y="1714317"/>
            <a:ext cx="247254" cy="247254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004304" y="1600200"/>
            <a:ext cx="475488" cy="475488"/>
          </a:xfrm>
          <a:prstGeom prst="ellipse">
            <a:avLst/>
          </a:prstGeom>
          <a:solidFill>
            <a:srgbClr val="5B6E9E"/>
          </a:solidFill>
          <a:ln/>
        </p:spPr>
      </p:sp>
      <p:pic>
        <p:nvPicPr>
          <p:cNvPr id="16" name="Image 1" descr="/home/claude/shardic_deck/icons/cub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8421" y="1714317"/>
            <a:ext cx="247254" cy="247254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7607808" y="1600200"/>
            <a:ext cx="475488" cy="475488"/>
          </a:xfrm>
          <a:prstGeom prst="ellipse">
            <a:avLst/>
          </a:prstGeom>
          <a:solidFill>
            <a:srgbClr val="5B6E9E"/>
          </a:solidFill>
          <a:ln/>
        </p:spPr>
      </p:sp>
      <p:pic>
        <p:nvPicPr>
          <p:cNvPr id="18" name="Image 2" descr="/home/claude/shardic_deck/icons/cub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925" y="1714317"/>
            <a:ext cx="247254" cy="247254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211312" y="1600200"/>
            <a:ext cx="475488" cy="475488"/>
          </a:xfrm>
          <a:prstGeom prst="ellipse">
            <a:avLst/>
          </a:prstGeom>
          <a:solidFill>
            <a:srgbClr val="263874"/>
          </a:solidFill>
          <a:ln/>
        </p:spPr>
      </p:sp>
      <p:pic>
        <p:nvPicPr>
          <p:cNvPr id="20" name="Image 3" descr="/home/claude/shardic_deck/icons/cub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5429" y="1714317"/>
            <a:ext cx="247254" cy="247254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8814816" y="1600200"/>
            <a:ext cx="475488" cy="475488"/>
          </a:xfrm>
          <a:prstGeom prst="ellipse">
            <a:avLst/>
          </a:prstGeom>
          <a:solidFill>
            <a:srgbClr val="263874"/>
          </a:solidFill>
          <a:ln/>
        </p:spPr>
      </p:sp>
      <p:pic>
        <p:nvPicPr>
          <p:cNvPr id="22" name="Image 4" descr="/home/claude/shardic_deck/icons/cub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8933" y="1714317"/>
            <a:ext cx="247254" cy="247254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6263640" y="1490472"/>
            <a:ext cx="1956816" cy="694944"/>
          </a:xfrm>
          <a:prstGeom prst="roundRect">
            <a:avLst>
              <a:gd name="adj" fmla="val 13158"/>
            </a:avLst>
          </a:prstGeom>
          <a:ln w="19050">
            <a:solidFill>
              <a:srgbClr val="E7B93E"/>
            </a:solidFill>
            <a:prstDash val="dash"/>
          </a:ln>
        </p:spPr>
      </p:sp>
      <p:sp>
        <p:nvSpPr>
          <p:cNvPr id="24" name="Text 17"/>
          <p:cNvSpPr/>
          <p:nvPr/>
        </p:nvSpPr>
        <p:spPr>
          <a:xfrm>
            <a:off x="6400800" y="2240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5 required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reconstruct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9555480" y="1764792"/>
            <a:ext cx="292608" cy="219456"/>
          </a:xfrm>
          <a:prstGeom prst="rightArrow">
            <a:avLst/>
          </a:prstGeom>
          <a:solidFill>
            <a:srgbClr val="9FB2E0"/>
          </a:solidFill>
          <a:ln/>
        </p:spPr>
      </p:sp>
      <p:sp>
        <p:nvSpPr>
          <p:cNvPr id="26" name="Shape 19"/>
          <p:cNvSpPr/>
          <p:nvPr/>
        </p:nvSpPr>
        <p:spPr>
          <a:xfrm>
            <a:off x="9921240" y="1545336"/>
            <a:ext cx="566928" cy="566928"/>
          </a:xfrm>
          <a:prstGeom prst="ellipse">
            <a:avLst/>
          </a:prstGeom>
          <a:solidFill>
            <a:srgbClr val="263874"/>
          </a:solidFill>
          <a:ln/>
        </p:spPr>
      </p:sp>
      <p:pic>
        <p:nvPicPr>
          <p:cNvPr id="27" name="Image 5" descr="/home/claude/shardic_deck/icons/ke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7303" y="1681399"/>
            <a:ext cx="294803" cy="294803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784080" y="2148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10122408" y="2441448"/>
            <a:ext cx="219456" cy="292608"/>
          </a:xfrm>
          <a:prstGeom prst="downArrow">
            <a:avLst/>
          </a:prstGeom>
          <a:solidFill>
            <a:srgbClr val="9FB2E0"/>
          </a:solidFill>
          <a:ln/>
        </p:spPr>
      </p:sp>
      <p:sp>
        <p:nvSpPr>
          <p:cNvPr id="30" name="Shape 22"/>
          <p:cNvSpPr/>
          <p:nvPr/>
        </p:nvSpPr>
        <p:spPr>
          <a:xfrm>
            <a:off x="9893808" y="2852928"/>
            <a:ext cx="566928" cy="566928"/>
          </a:xfrm>
          <a:prstGeom prst="ellipse">
            <a:avLst/>
          </a:prstGeom>
          <a:solidFill>
            <a:srgbClr val="163A28"/>
          </a:solidFill>
          <a:ln/>
        </p:spPr>
      </p:sp>
      <p:pic>
        <p:nvPicPr>
          <p:cNvPr id="31" name="Image 6" descr="/home/claude/shardic_deck/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9871" y="2988991"/>
            <a:ext cx="294803" cy="294803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9418320" y="344728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recovered</a:t>
            </a:r>
            <a:endParaRPr lang="en-US" sz="1000" dirty="0"/>
          </a:p>
        </p:txBody>
      </p:sp>
      <p:sp>
        <p:nvSpPr>
          <p:cNvPr id="33" name="Shape 24"/>
          <p:cNvSpPr/>
          <p:nvPr/>
        </p:nvSpPr>
        <p:spPr>
          <a:xfrm>
            <a:off x="548640" y="3794760"/>
            <a:ext cx="11064240" cy="2148840"/>
          </a:xfrm>
          <a:prstGeom prst="roundRect">
            <a:avLst>
              <a:gd name="adj" fmla="val 3830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Text 25"/>
          <p:cNvSpPr/>
          <p:nvPr/>
        </p:nvSpPr>
        <p:spPr>
          <a:xfrm>
            <a:off x="914400" y="4114800"/>
            <a:ext cx="10332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recovery reframes “access” from a binary fact about one secret into a quorum fact about independent people. That's not a policy statement enforced by a process — it's a mathematical property of the construction itself (see §3.1–§3.2).</a:t>
            </a:r>
            <a:endParaRPr lang="en-US" sz="1500" dirty="0"/>
          </a:p>
        </p:txBody>
      </p:sp>
      <p:sp>
        <p:nvSpPr>
          <p:cNvPr id="35" name="Text 26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1000" dirty="0"/>
          </a:p>
        </p:txBody>
      </p:sp>
      <p:sp>
        <p:nvSpPr>
          <p:cNvPr id="36" name="Text 27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— REPRESENTATIVE USE CASES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Threshold Recovery Fits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594360" cy="594360"/>
          </a:xfrm>
          <a:prstGeom prst="ellipse">
            <a:avLst/>
          </a:prstGeom>
          <a:solidFill>
            <a:srgbClr val="263874"/>
          </a:solidFill>
          <a:ln/>
        </p:spPr>
      </p:sp>
      <p:pic>
        <p:nvPicPr>
          <p:cNvPr id="6" name="Image 0" descr="/home/claude/shardic_deck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197144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0136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Break-Glass Infrastructure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46888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 keys, production database master keys, SCADA overrides. T=7, D=4 — nobody has access day-to-day.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50876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828800"/>
            <a:ext cx="594360" cy="594360"/>
          </a:xfrm>
          <a:prstGeom prst="ellipse">
            <a:avLst/>
          </a:prstGeom>
          <a:solidFill>
            <a:srgbClr val="263874"/>
          </a:solidFill>
          <a:ln/>
        </p:spPr>
      </p:sp>
      <p:pic>
        <p:nvPicPr>
          <p:cNvPr id="11" name="Image 1" descr="/home/claude/shardic_deck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606" y="197144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80136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 &amp; Succession Planning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37960" y="246888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Password-manager master vaults split among relatives, a lawyer, and a partner (T=5, D=3), with memorable codewords.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74904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069080"/>
            <a:ext cx="594360" cy="594360"/>
          </a:xfrm>
          <a:prstGeom prst="ellipse">
            <a:avLst/>
          </a:prstGeom>
          <a:solidFill>
            <a:srgbClr val="263874"/>
          </a:solidFill>
          <a:ln/>
        </p:spPr>
      </p:sp>
      <p:pic>
        <p:nvPicPr>
          <p:cNvPr id="16" name="Image 2" descr="/home/claude/shardic_deck/icons/landm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" y="4211726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04164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&amp; Public Sector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68680" y="47091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Generalized two-person rules, lawful-intercept escrow, continuity-of-government credentials, election tabulation keys.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17920" y="374904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4069080"/>
            <a:ext cx="594360" cy="594360"/>
          </a:xfrm>
          <a:prstGeom prst="ellipse">
            <a:avLst/>
          </a:prstGeom>
          <a:solidFill>
            <a:srgbClr val="263874"/>
          </a:solidFill>
          <a:ln/>
        </p:spPr>
      </p:sp>
      <p:pic>
        <p:nvPicPr>
          <p:cNvPr id="21" name="Image 3" descr="/home/claude/shardic_deck/icons/briefc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606" y="4211726"/>
            <a:ext cx="309067" cy="30906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04164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Regulated Industry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537960" y="47091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 escrow, treasury cold storage, whistleblower archives, SOX/HIPAA separation-of-duties enforcement.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— THE INTUITION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Secret Hidden as a Single Point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766560" cy="4206240"/>
          </a:xfrm>
          <a:prstGeom prst="roundRect">
            <a:avLst>
              <a:gd name="adj" fmla="val 1957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4937760"/>
            <a:ext cx="5394960" cy="-1559052"/>
          </a:xfrm>
          <a:prstGeom prst="line">
            <a:avLst/>
          </a:prstGeom>
          <a:noFill/>
          <a:ln w="25400">
            <a:solidFill>
              <a:srgbClr val="5B6E9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35885" y="4446361"/>
            <a:ext cx="109728" cy="109728"/>
          </a:xfrm>
          <a:prstGeom prst="ellipse">
            <a:avLst/>
          </a:prstGeom>
          <a:solidFill>
            <a:srgbClr val="E7B93E"/>
          </a:solidFill>
          <a:ln/>
        </p:spPr>
      </p:sp>
      <p:sp>
        <p:nvSpPr>
          <p:cNvPr id="7" name="Text 5"/>
          <p:cNvSpPr/>
          <p:nvPr/>
        </p:nvSpPr>
        <p:spPr>
          <a:xfrm>
            <a:off x="2424989" y="4117177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109667" y="3760379"/>
            <a:ext cx="109728" cy="109728"/>
          </a:xfrm>
          <a:prstGeom prst="ellipse">
            <a:avLst/>
          </a:prstGeom>
          <a:solidFill>
            <a:srgbClr val="E7B93E"/>
          </a:solidFill>
          <a:ln/>
        </p:spPr>
      </p:sp>
      <p:sp>
        <p:nvSpPr>
          <p:cNvPr id="9" name="Text 7"/>
          <p:cNvSpPr/>
          <p:nvPr/>
        </p:nvSpPr>
        <p:spPr>
          <a:xfrm>
            <a:off x="4798771" y="3431195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13632" y="4094226"/>
            <a:ext cx="128016" cy="128016"/>
          </a:xfrm>
          <a:prstGeom prst="ellipse">
            <a:avLst/>
          </a:prstGeom>
          <a:solidFill>
            <a:srgbClr val="3EBD6E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429539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B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secret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5257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share → every secret still possible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280160" y="5532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points → exactly one answer fits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543800" y="1508760"/>
            <a:ext cx="4069080" cy="4206240"/>
          </a:xfrm>
          <a:prstGeom prst="roundRect">
            <a:avLst>
              <a:gd name="adj" fmla="val 2022"/>
            </a:avLst>
          </a:prstGeom>
          <a:solidFill>
            <a:srgbClr val="263874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0" y="1920240"/>
            <a:ext cx="34290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points determine a line.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shardic's actual construction generalizes this to a degree-(D−1) polynomial over GF(2⁸) — see §3.2.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— OPERATOR WALKTHROUGH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Vault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 (trustees) and D (threshold) before doing anything else.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6035040" cy="4114800"/>
          </a:xfrm>
          <a:prstGeom prst="roundRect">
            <a:avLst>
              <a:gd name="adj" fmla="val 2000"/>
            </a:avLst>
          </a:prstGeom>
          <a:solidFill>
            <a:srgbClr val="10163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45920"/>
            <a:ext cx="55778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python3 vault_create.py \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--input ./secret_docs \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--trustees 5 --threshold 3 --word-count 3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[i] Share protection KDF: pbkdf2 (400000 iters)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[i] No --word-length: defaulting to --memorable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[*] Loaded 7772 candidate words (EFF wordlist)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[*] Estimated codeword strength: ~39 bits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combinatorial per trustee (before KDF)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[*] Split DEK into 5 shares, threshold 3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[+] Wrote vault container: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vault_out/ce28by1pn9z8wib2.krypt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[+] Wrote 5 trustee codeword files.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Distribute out of band, then delete.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0" y="1417320"/>
            <a:ext cx="329184" cy="329184"/>
          </a:xfrm>
          <a:prstGeom prst="ellipse">
            <a:avLst/>
          </a:prstGeom>
          <a:solidFill>
            <a:srgbClr val="263874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14173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0" y="1389888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selects the KDF — Argon2id if available, else PBKDF2.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6858000" y="2075688"/>
            <a:ext cx="329184" cy="329184"/>
          </a:xfrm>
          <a:prstGeom prst="ellipse">
            <a:avLst/>
          </a:prstGeom>
          <a:solidFill>
            <a:srgbClr val="263874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20756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0" y="2048256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to --memorable codewords from the bundled EFF wordlist.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6858000" y="2734056"/>
            <a:ext cx="329184" cy="329184"/>
          </a:xfrm>
          <a:prstGeom prst="ellipse">
            <a:avLst/>
          </a:prstGeom>
          <a:solidFill>
            <a:srgbClr val="263874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27340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0" y="2706624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 combinatorial strength estimate before anything is distributed.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6858000" y="3392424"/>
            <a:ext cx="329184" cy="329184"/>
          </a:xfrm>
          <a:prstGeom prst="ellipse">
            <a:avLst/>
          </a:prstGeom>
          <a:solidFill>
            <a:srgbClr val="263874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33924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0" y="3364992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Encrypts the archive once (AES-256-GCM) under a random 256-bit DEK, splits the DEK into T Shamir shares.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6858000" y="4050792"/>
            <a:ext cx="329184" cy="329184"/>
          </a:xfrm>
          <a:prstGeom prst="ellipse">
            <a:avLst/>
          </a:prstGeom>
          <a:solidFill>
            <a:srgbClr val="263874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40507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0" y="4023360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one .krypt file, plus one codeword file per trustee.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6858000" y="4709160"/>
            <a:ext cx="329184" cy="329184"/>
          </a:xfrm>
          <a:prstGeom prst="ellipse">
            <a:avLst/>
          </a:prstGeom>
          <a:solidFill>
            <a:srgbClr val="263874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47091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0" y="4681728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operator's remaining job is procedural, not cryptographic — distribute out of band, then delete local copies.</a:t>
            </a:r>
            <a:endParaRPr lang="en-US" sz="1130" dirty="0"/>
          </a:p>
        </p:txBody>
      </p:sp>
      <p:sp>
        <p:nvSpPr>
          <p:cNvPr id="25" name="Text 23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— OPERATOR WALKTHROUGH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Recovering a Vault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309360" cy="3291840"/>
          </a:xfrm>
          <a:prstGeom prst="roundRect">
            <a:avLst>
              <a:gd name="adj" fmla="val 2500"/>
            </a:avLst>
          </a:prstGeom>
          <a:solidFill>
            <a:srgbClr val="10163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5852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python3 vault_recover.py \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vault_out/ce28by1pn9z8wib2.krypt \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--word "broadside-repulsion-subway" \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--word "valuables-repeater-oversleep" \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--word "winking-portly-diffusion"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[i] This vault requires 3 of 5 codewords.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[+] Codeword accepted (1/3).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[+] Codeword accepted (2/3).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[+] Codeword accepted (3/3).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[*] Reconstructing DEK from shares ...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[*] Success. Recovered to /recovered_out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086600" y="1417320"/>
            <a:ext cx="502920" cy="502920"/>
          </a:xfrm>
          <a:prstGeom prst="ellipse">
            <a:avLst/>
          </a:prstGeom>
          <a:solidFill>
            <a:srgbClr val="263874"/>
          </a:solidFill>
          <a:ln/>
        </p:spPr>
      </p:sp>
      <p:pic>
        <p:nvPicPr>
          <p:cNvPr id="7" name="Image 0" descr="/home/claude/shardic_deck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7301" y="1538021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44968" y="1399032"/>
            <a:ext cx="3913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order accepted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44968" y="1728216"/>
            <a:ext cx="39136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doesn't ask “which trustee are you” — each codeword is tried against every not-yet-matched share until one authenticates.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086600" y="2514600"/>
            <a:ext cx="502920" cy="502920"/>
          </a:xfrm>
          <a:prstGeom prst="ellipse">
            <a:avLst/>
          </a:prstGeom>
          <a:solidFill>
            <a:srgbClr val="263874"/>
          </a:solidFill>
          <a:ln/>
        </p:spPr>
      </p:sp>
      <p:pic>
        <p:nvPicPr>
          <p:cNvPr id="11" name="Image 1" descr="/home/claude/shardic_deck/icons/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7301" y="263530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44968" y="2496312"/>
            <a:ext cx="3913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by design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744968" y="2825496"/>
            <a:ext cx="39136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fewer than D codewords match, or any are wrong, the tool reports how many were accepted and stops — never partial or best-guess output.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086600" y="3611880"/>
            <a:ext cx="502920" cy="502920"/>
          </a:xfrm>
          <a:prstGeom prst="ellipse">
            <a:avLst/>
          </a:prstGeom>
          <a:solidFill>
            <a:srgbClr val="263874"/>
          </a:solidFill>
          <a:ln/>
        </p:spPr>
      </p:sp>
      <p:pic>
        <p:nvPicPr>
          <p:cNvPr id="15" name="Image 2" descr="/home/claude/shardic_deck/icons/puzz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301" y="3732581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44968" y="3593592"/>
            <a:ext cx="3913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mapping required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7744968" y="3922776"/>
            <a:ext cx="39136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 never specifies which codeword belongs to which trustee — the tool figures it out via trial matching (§3.4).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— A MANDATORY-TRUSTEE VARIANT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shardic-prime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scheme treats every trustee identically. shardic-prime adds one essential trustee: their codeword must always be supplied, no matter how many others are gathered.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03520" cy="3794760"/>
          </a:xfrm>
          <a:prstGeom prst="roundRect">
            <a:avLst>
              <a:gd name="adj" fmla="val 2169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057400"/>
            <a:ext cx="594360" cy="594360"/>
          </a:xfrm>
          <a:prstGeom prst="ellipse">
            <a:avLst/>
          </a:prstGeom>
          <a:solidFill>
            <a:srgbClr val="263874"/>
          </a:solidFill>
          <a:ln/>
        </p:spPr>
      </p:sp>
      <p:pic>
        <p:nvPicPr>
          <p:cNvPr id="7" name="Image 0" descr="/home/claude/shardic_deck/icons/user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2200046"/>
            <a:ext cx="309067" cy="3090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057400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situations where one specific role — an estate's executor, a security lead — must always sign off, while backups can be any qualifying subset.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" y="3236976"/>
            <a:ext cx="73152" cy="73152"/>
          </a:xfrm>
          <a:prstGeom prst="ellipse">
            <a:avLst/>
          </a:prstGeom>
          <a:solidFill>
            <a:srgbClr val="E7B93E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32004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CLI tools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68680" y="3694176"/>
            <a:ext cx="73152" cy="73152"/>
          </a:xfrm>
          <a:prstGeom prst="ellipse">
            <a:avLst/>
          </a:prstGeom>
          <a:solidFill>
            <a:srgbClr val="E7B93E"/>
          </a:solidFill>
          <a:ln/>
        </p:spPr>
      </p:sp>
      <p:sp>
        <p:nvSpPr>
          <p:cNvPr id="12" name="Text 9"/>
          <p:cNvSpPr/>
          <p:nvPr/>
        </p:nvSpPr>
        <p:spPr>
          <a:xfrm>
            <a:off x="1097280" y="36576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container format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68680" y="4151376"/>
            <a:ext cx="73152" cy="73152"/>
          </a:xfrm>
          <a:prstGeom prst="ellipse">
            <a:avLst/>
          </a:prstGeom>
          <a:solidFill>
            <a:srgbClr val="E7B93E"/>
          </a:solidFill>
          <a:ln/>
        </p:spPr>
      </p:sp>
      <p:sp>
        <p:nvSpPr>
          <p:cNvPr id="14" name="Text 11"/>
          <p:cNvSpPr/>
          <p:nvPr/>
        </p:nvSpPr>
        <p:spPr>
          <a:xfrm>
            <a:off x="1097280" y="4114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 metadata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68680" y="470916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pool codewords, gathered without the prime's, recover nothing — a property of the construction itself, not just the CLI.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72200" y="1828800"/>
            <a:ext cx="5440680" cy="3749040"/>
          </a:xfrm>
          <a:prstGeom prst="roundRect">
            <a:avLst>
              <a:gd name="adj" fmla="val 2195"/>
            </a:avLst>
          </a:prstGeom>
          <a:solidFill>
            <a:srgbClr val="263874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REQUIRES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9224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4, D = 3  example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537960" y="2788920"/>
            <a:ext cx="777240" cy="777240"/>
          </a:xfrm>
          <a:prstGeom prst="ellipse">
            <a:avLst/>
          </a:prstGeom>
          <a:solidFill>
            <a:srgbClr val="3A2F14"/>
          </a:solidFill>
          <a:ln/>
        </p:spPr>
      </p:sp>
      <p:pic>
        <p:nvPicPr>
          <p:cNvPr id="20" name="Image 1" descr="/home/claude/shardic_deck/icons/user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498" y="2975458"/>
            <a:ext cx="404165" cy="40416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492240" y="36118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required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7589520" y="30175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8366760" y="2880360"/>
            <a:ext cx="594360" cy="594360"/>
          </a:xfrm>
          <a:prstGeom prst="ellipse">
            <a:avLst/>
          </a:prstGeom>
          <a:solidFill>
            <a:srgbClr val="24316E"/>
          </a:solidFill>
          <a:ln/>
        </p:spPr>
      </p:sp>
      <p:pic>
        <p:nvPicPr>
          <p:cNvPr id="24" name="Image 2" descr="/home/claude/shardic_deck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406" y="3023006"/>
            <a:ext cx="309067" cy="309067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9281160" y="2880360"/>
            <a:ext cx="594360" cy="594360"/>
          </a:xfrm>
          <a:prstGeom prst="ellipse">
            <a:avLst/>
          </a:prstGeom>
          <a:solidFill>
            <a:srgbClr val="24316E"/>
          </a:solidFill>
          <a:ln/>
        </p:spPr>
      </p:sp>
      <p:pic>
        <p:nvPicPr>
          <p:cNvPr id="26" name="Image 3" descr="/home/claude/shardic_deck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3806" y="3023006"/>
            <a:ext cx="309067" cy="309067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10195560" y="2880360"/>
            <a:ext cx="594360" cy="594360"/>
          </a:xfrm>
          <a:prstGeom prst="ellipse">
            <a:avLst/>
          </a:prstGeom>
          <a:solidFill>
            <a:srgbClr val="24316E"/>
          </a:solidFill>
          <a:ln/>
        </p:spPr>
      </p:sp>
      <p:pic>
        <p:nvPicPr>
          <p:cNvPr id="28" name="Image 4" descr="/home/claude/shardic_deck/icons/us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8206" y="3023006"/>
            <a:ext cx="309067" cy="309067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366760" y="3566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2 of 3 POOL trustees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6492240" y="41605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prime trustee  +  any 2 of 3 pool trustees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6492240" y="457200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i="1" dirty="0">
                <a:solidFill>
                  <a:srgbClr val="9FB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shardic-envelope (§3.5) builds directly on this construction — its live Keycloak demo uses a prime + pool ceremony under the hood.</a:t>
            </a:r>
            <a:endParaRPr lang="en-US" sz="1080" dirty="0"/>
          </a:p>
        </p:txBody>
      </p:sp>
      <p:sp>
        <p:nvSpPr>
          <p:cNvPr id="32" name="Text 25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– 3.2 — TECHNICAL MECHANICS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the Key, Not Just Encrypting the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85800" cy="685800"/>
          </a:xfrm>
          <a:prstGeom prst="ellipse">
            <a:avLst/>
          </a:prstGeom>
          <a:solidFill>
            <a:srgbClr val="263874"/>
          </a:solidFill>
          <a:ln/>
        </p:spPr>
      </p:sp>
      <p:pic>
        <p:nvPicPr>
          <p:cNvPr id="5" name="Image 0" descr="/home/claude/shardic_deck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901952"/>
            <a:ext cx="356616" cy="356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" y="251460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file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1645920" y="1938528"/>
            <a:ext cx="457200" cy="292608"/>
          </a:xfrm>
          <a:prstGeom prst="rightArrow">
            <a:avLst/>
          </a:prstGeom>
          <a:solidFill>
            <a:srgbClr val="9FB2E0"/>
          </a:solidFill>
          <a:ln/>
        </p:spPr>
      </p:sp>
      <p:sp>
        <p:nvSpPr>
          <p:cNvPr id="8" name="Shape 5"/>
          <p:cNvSpPr/>
          <p:nvPr/>
        </p:nvSpPr>
        <p:spPr>
          <a:xfrm>
            <a:off x="2331720" y="1737360"/>
            <a:ext cx="685800" cy="685800"/>
          </a:xfrm>
          <a:prstGeom prst="ellipse">
            <a:avLst/>
          </a:prstGeom>
          <a:solidFill>
            <a:srgbClr val="263874"/>
          </a:solidFill>
          <a:ln/>
        </p:spPr>
      </p:sp>
      <p:pic>
        <p:nvPicPr>
          <p:cNvPr id="9" name="Image 1" descr="/home/claude/shardic_deck/icons/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2" y="1901952"/>
            <a:ext cx="356616" cy="3566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74520" y="251460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 archive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a random 256-bit DEK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337560" y="1938528"/>
            <a:ext cx="457200" cy="292608"/>
          </a:xfrm>
          <a:prstGeom prst="rightArrow">
            <a:avLst/>
          </a:prstGeom>
          <a:solidFill>
            <a:srgbClr val="9FB2E0"/>
          </a:solidFill>
          <a:ln/>
        </p:spPr>
      </p:sp>
      <p:sp>
        <p:nvSpPr>
          <p:cNvPr id="12" name="Shape 8"/>
          <p:cNvSpPr/>
          <p:nvPr/>
        </p:nvSpPr>
        <p:spPr>
          <a:xfrm>
            <a:off x="4023360" y="1737360"/>
            <a:ext cx="685800" cy="685800"/>
          </a:xfrm>
          <a:prstGeom prst="ellipse">
            <a:avLst/>
          </a:prstGeom>
          <a:solidFill>
            <a:srgbClr val="263874"/>
          </a:solidFill>
          <a:ln/>
        </p:spPr>
      </p:sp>
      <p:pic>
        <p:nvPicPr>
          <p:cNvPr id="13" name="Image 2" descr="/home/claude/shardic_deck/icons/puzz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7952" y="1901952"/>
            <a:ext cx="356616" cy="35661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66160" y="251460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Shamir Split — GF(2⁸)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DEK's 32 bytes each become the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term of a degree D−1 polynomial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5120640" y="17556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shares, each at a distinct x-coordinate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120640" y="2148840"/>
            <a:ext cx="566928" cy="566928"/>
          </a:xfrm>
          <a:prstGeom prst="ellipse">
            <a:avLst/>
          </a:prstGeom>
          <a:solidFill>
            <a:srgbClr val="5B6E9E"/>
          </a:solidFill>
          <a:ln/>
        </p:spPr>
      </p:sp>
      <p:pic>
        <p:nvPicPr>
          <p:cNvPr id="17" name="Image 3" descr="/home/claude/shardic_deck/icons/cub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6703" y="2284903"/>
            <a:ext cx="294803" cy="294803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897880" y="2148840"/>
            <a:ext cx="566928" cy="566928"/>
          </a:xfrm>
          <a:prstGeom prst="ellipse">
            <a:avLst/>
          </a:prstGeom>
          <a:solidFill>
            <a:srgbClr val="5B6E9E"/>
          </a:solidFill>
          <a:ln/>
        </p:spPr>
      </p:sp>
      <p:pic>
        <p:nvPicPr>
          <p:cNvPr id="19" name="Image 4" descr="/home/claude/shardic_deck/icons/cub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3943" y="2284903"/>
            <a:ext cx="294803" cy="294803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6675120" y="2148840"/>
            <a:ext cx="566928" cy="566928"/>
          </a:xfrm>
          <a:prstGeom prst="ellipse">
            <a:avLst/>
          </a:prstGeom>
          <a:solidFill>
            <a:srgbClr val="5B6E9E"/>
          </a:solidFill>
          <a:ln/>
        </p:spPr>
      </p:sp>
      <p:pic>
        <p:nvPicPr>
          <p:cNvPr id="21" name="Image 5" descr="/home/claude/shardic_deck/icons/cube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1183" y="2284903"/>
            <a:ext cx="294803" cy="294803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452360" y="2148840"/>
            <a:ext cx="566928" cy="566928"/>
          </a:xfrm>
          <a:prstGeom prst="ellipse">
            <a:avLst/>
          </a:prstGeom>
          <a:solidFill>
            <a:srgbClr val="5B6E9E"/>
          </a:solidFill>
          <a:ln/>
        </p:spPr>
      </p:sp>
      <p:pic>
        <p:nvPicPr>
          <p:cNvPr id="23" name="Image 6" descr="/home/claude/shardic_deck/icons/cube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8423" y="2284903"/>
            <a:ext cx="294803" cy="294803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8229600" y="2148840"/>
            <a:ext cx="566928" cy="566928"/>
          </a:xfrm>
          <a:prstGeom prst="ellipse">
            <a:avLst/>
          </a:prstGeom>
          <a:solidFill>
            <a:srgbClr val="5B6E9E"/>
          </a:solidFill>
          <a:ln/>
        </p:spPr>
      </p:sp>
      <p:pic>
        <p:nvPicPr>
          <p:cNvPr id="25" name="Image 7" descr="/home/claude/shardic_deck/icons/cube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5663" y="2284903"/>
            <a:ext cx="294803" cy="294803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548640" y="3977640"/>
            <a:ext cx="11064240" cy="2011680"/>
          </a:xfrm>
          <a:prstGeom prst="roundRect">
            <a:avLst>
              <a:gd name="adj" fmla="val 4091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Shape 17"/>
          <p:cNvSpPr/>
          <p:nvPr/>
        </p:nvSpPr>
        <p:spPr>
          <a:xfrm>
            <a:off x="914400" y="4279392"/>
            <a:ext cx="594360" cy="594360"/>
          </a:xfrm>
          <a:prstGeom prst="ellipse">
            <a:avLst/>
          </a:prstGeom>
          <a:solidFill>
            <a:srgbClr val="163A28"/>
          </a:solidFill>
          <a:ln/>
        </p:spPr>
      </p:sp>
      <p:pic>
        <p:nvPicPr>
          <p:cNvPr id="28" name="Image 8" descr="/home/claude/shardic_deck/icons/balanc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046" y="4422038"/>
            <a:ext cx="309067" cy="309067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1691640" y="416052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Information-theoretic, not merely computational. A degree D−1 polynomial is uniquely determined by any D points — but with only D−1 points, every possible value of the secret byte remains equally consistent. An attacker holding fewer than D shares learns exactly zero bits, regardless of computing power.</a:t>
            </a:r>
            <a:endParaRPr lang="en-US" sz="1350" dirty="0"/>
          </a:p>
        </p:txBody>
      </p:sp>
      <p:sp>
        <p:nvSpPr>
          <p:cNvPr id="30" name="Text 19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1000" dirty="0"/>
          </a:p>
        </p:txBody>
      </p:sp>
      <p:sp>
        <p:nvSpPr>
          <p:cNvPr id="31" name="Text 20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– 3.4 — FILE FORMAT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File, Zero Metadata Leakage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263874"/>
          </a:solidFill>
          <a:ln/>
        </p:spPr>
      </p:sp>
      <p:pic>
        <p:nvPicPr>
          <p:cNvPr id="6" name="Image 0" descr="/home/claude/shardic_deck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82331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642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file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28600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.krypt — nothing to accidentally separate from a companion metadata file; copy, email, or upload a single .krypt.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141732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1691640"/>
            <a:ext cx="548640" cy="548640"/>
          </a:xfrm>
          <a:prstGeom prst="ellipse">
            <a:avLst/>
          </a:prstGeom>
          <a:solidFill>
            <a:srgbClr val="263874"/>
          </a:solidFill>
          <a:ln/>
        </p:spPr>
      </p:sp>
      <p:pic>
        <p:nvPicPr>
          <p:cNvPr id="11" name="Image 1" descr="/home/claude/shardic_deck/icons/puzz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3914" y="182331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6642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assignment mapping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92240" y="228600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order is randomly shuffled at creation; no record ties a share to a trustee or a codeword.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47472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3749040"/>
            <a:ext cx="548640" cy="548640"/>
          </a:xfrm>
          <a:prstGeom prst="ellipse">
            <a:avLst/>
          </a:prstGeom>
          <a:solidFill>
            <a:srgbClr val="263874"/>
          </a:solidFill>
          <a:ln/>
        </p:spPr>
      </p:sp>
      <p:pic>
        <p:nvPicPr>
          <p:cNvPr id="16" name="Image 2" descr="/home/claude/shardic_deck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388071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7216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matching, not lookup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2960" y="434340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tries each codeword against every unmatched share; AES-GCM's auth tag is the correctness oracle — fails fast, never garbage output.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17920" y="347472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3749040"/>
            <a:ext cx="548640" cy="548640"/>
          </a:xfrm>
          <a:prstGeom prst="ellipse">
            <a:avLst/>
          </a:prstGeom>
          <a:solidFill>
            <a:srgbClr val="263874"/>
          </a:solidFill>
          <a:ln/>
        </p:spPr>
      </p:sp>
      <p:pic>
        <p:nvPicPr>
          <p:cNvPr id="21" name="Image 3" descr="/home/claude/shardic_deck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3914" y="388071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37216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leaks at rest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492240" y="434340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AES-GCM bytes, no base64 (avoids ~33% size penalty). Seizing the file, or several codewords, in isolation reveals no assignment information.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– 4.3 — SECURITY DISCUSSION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Guarantees, Two Different Levers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4592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63A28"/>
          </a:solidFill>
          <a:ln w="12700">
            <a:solidFill>
              <a:srgbClr val="3EBD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459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EB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UNCONDITIONAL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08483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 &amp; Shamir Split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42316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threshold D, shares carry zero information about the key — regardless of computing power. Raising T or D changes how many parties must collude, not how hard one share is to attack.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645920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3A2F14"/>
          </a:solidFill>
          <a:ln w="12700">
            <a:solidFill>
              <a:srgbClr val="E7B9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6459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37960" y="208483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Codeword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242316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as strong as its own guessing space and KDF cost — the operator's responsibility. A higher D does not compensate: an attacker only ever needs D individually weak codewords.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37033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Codeword generation modes — word count is what sets the real security margin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3593592" cy="1828800"/>
          </a:xfrm>
          <a:prstGeom prst="roundRect">
            <a:avLst>
              <a:gd name="adj" fmla="val 4500"/>
            </a:avLst>
          </a:prstGeom>
          <a:solidFill>
            <a:srgbClr val="26387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97680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Memorable (default)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77240" y="4617720"/>
            <a:ext cx="3136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~12.9 bits/word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4983480"/>
            <a:ext cx="31363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real words, EFF long list. 8 words ≈ 103 bits by default.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4325112" y="4114800"/>
            <a:ext cx="3593592" cy="1828800"/>
          </a:xfrm>
          <a:prstGeom prst="roundRect">
            <a:avLst>
              <a:gd name="adj" fmla="val 4500"/>
            </a:avLst>
          </a:prstGeom>
          <a:solidFill>
            <a:srgbClr val="263874"/>
          </a:solidFill>
          <a:ln/>
        </p:spPr>
      </p:sp>
      <p:sp>
        <p:nvSpPr>
          <p:cNvPr id="20" name="Text 18"/>
          <p:cNvSpPr/>
          <p:nvPr/>
        </p:nvSpPr>
        <p:spPr>
          <a:xfrm>
            <a:off x="4553712" y="4297680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53712" y="4617720"/>
            <a:ext cx="3136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~8–11 bits/word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53712" y="4983480"/>
            <a:ext cx="31363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length from a supplied wordlist — uniform shape, smaller pool.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8101584" y="4114800"/>
            <a:ext cx="3593592" cy="1828800"/>
          </a:xfrm>
          <a:prstGeom prst="roundRect">
            <a:avLst>
              <a:gd name="adj" fmla="val 4500"/>
            </a:avLst>
          </a:prstGeom>
          <a:solidFill>
            <a:srgbClr val="263874"/>
          </a:solidFill>
          <a:ln/>
        </p:spPr>
      </p:sp>
      <p:sp>
        <p:nvSpPr>
          <p:cNvPr id="24" name="Text 22"/>
          <p:cNvSpPr/>
          <p:nvPr/>
        </p:nvSpPr>
        <p:spPr>
          <a:xfrm>
            <a:off x="8330184" y="4297680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330184" y="4617720"/>
            <a:ext cx="3136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~3.36 bits/char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330184" y="4983480"/>
            <a:ext cx="31363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Pronounceable syllables; --strong-words adds case + digits for density.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— AN IMPLEMENTED EXTENSION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shardic-envelope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869680" y="438912"/>
            <a:ext cx="2743200" cy="347472"/>
          </a:xfrm>
          <a:prstGeom prst="roundRect">
            <a:avLst>
              <a:gd name="adj" fmla="val 21053"/>
            </a:avLst>
          </a:prstGeom>
          <a:solidFill>
            <a:srgbClr val="163A28"/>
          </a:solidFill>
          <a:ln w="12700">
            <a:solidFill>
              <a:srgbClr val="3EBD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0" y="4389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EB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— LIVE DEMO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codeword mode ultimately protects a share with something a human can recall — the design's real computational bottleneck. shardic-envelope removes that ceiling for trustees willing to hold a keypair, wrapping each codeword under a key they already control rather than under a memory limit. Built on shardic-prime; demoed end-to-end against real Keycloak infrastructure with a live SSE dashboard.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394960" cy="3429000"/>
          </a:xfrm>
          <a:prstGeom prst="roundRect">
            <a:avLst>
              <a:gd name="adj" fmla="val 2400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423160"/>
            <a:ext cx="502920" cy="502920"/>
          </a:xfrm>
          <a:prstGeom prst="ellipse">
            <a:avLst/>
          </a:prstGeom>
          <a:solidFill>
            <a:srgbClr val="163A28"/>
          </a:solidFill>
          <a:ln/>
        </p:spPr>
      </p:sp>
      <p:pic>
        <p:nvPicPr>
          <p:cNvPr id="9" name="Image 0" descr="/home/claude/shardic_deck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2543861"/>
            <a:ext cx="261518" cy="26151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2450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fit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68680" y="297180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Trustee pools who already function as cryptographic identities in their day job — infra engineers, security officers, multisig cold-storage signers, PKI-backed roles. Near-arbitrary codeword strength, zero memorization burden.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68680" y="44348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i="1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mechanisms are complementary — which trustees use envelope wrapping vs. a memorable phrase is a per-trustee decision, not vault-wide.</a:t>
            </a:r>
            <a:endParaRPr lang="en-US" sz="1130" dirty="0"/>
          </a:p>
        </p:txBody>
      </p:sp>
      <p:sp>
        <p:nvSpPr>
          <p:cNvPr id="13" name="Shape 10"/>
          <p:cNvSpPr/>
          <p:nvPr/>
        </p:nvSpPr>
        <p:spPr>
          <a:xfrm>
            <a:off x="6217920" y="2148840"/>
            <a:ext cx="5394960" cy="3429000"/>
          </a:xfrm>
          <a:prstGeom prst="roundRect">
            <a:avLst>
              <a:gd name="adj" fmla="val 2400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37960" y="2423160"/>
            <a:ext cx="502920" cy="502920"/>
          </a:xfrm>
          <a:prstGeom prst="ellipse">
            <a:avLst/>
          </a:prstGeom>
          <a:solidFill>
            <a:srgbClr val="3A2F14"/>
          </a:solidFill>
          <a:ln/>
        </p:spPr>
      </p:sp>
      <p:pic>
        <p:nvPicPr>
          <p:cNvPr id="15" name="Image 1" descr="/home/claude/shardic_deck/icons/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661" y="2543861"/>
            <a:ext cx="261518" cy="26151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78040" y="2450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fit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537960" y="297180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diceware-style family-estate case (§1.3): the whole premise is a relative who can recall a phrase without managing cryptographic material. Trading “remember five words” for “protect a key file forever” is plausibly a net loss for a non-technical trustee.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537960" y="44348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i="1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a private key becomes a new single point of failure per share, and credential lookup introduces a new trust boundary.</a:t>
            </a:r>
            <a:endParaRPr lang="en-US" sz="1130" dirty="0"/>
          </a:p>
        </p:txBody>
      </p:sp>
      <p:sp>
        <p:nvSpPr>
          <p:cNvPr id="19" name="Text 15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— OPERATOR-RUN TRUSTEE SELECTION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Ceremony Formation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869680" y="438912"/>
            <a:ext cx="2743200" cy="347472"/>
          </a:xfrm>
          <a:prstGeom prst="roundRect">
            <a:avLst>
              <a:gd name="adj" fmla="val 21053"/>
            </a:avLst>
          </a:prstGeom>
          <a:solidFill>
            <a:srgbClr val="163A28"/>
          </a:solidFill>
          <a:ln w="12700">
            <a:solidFill>
              <a:srgbClr val="3EBD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0" y="4389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EB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— V1.0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shardic-envelope's operator selects T primaries plus an ordered backup list from a registered candidate directory, issues per-trustee invitations, and the ceremony self-heals around declines or timeouts — without the operator ever being eligible to select themselves as a trustee.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103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CEREMONY STATE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68680" y="242316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3A2F14"/>
          </a:solidFill>
          <a:ln w="12700">
            <a:solidFill>
              <a:srgbClr val="E7B9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42316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87168" y="2487168"/>
            <a:ext cx="320040" cy="219456"/>
          </a:xfrm>
          <a:prstGeom prst="rightArrow">
            <a:avLst/>
          </a:prstGeom>
          <a:solidFill>
            <a:srgbClr val="9FB2E0"/>
          </a:solidFill>
          <a:ln/>
        </p:spPr>
      </p:sp>
      <p:sp>
        <p:nvSpPr>
          <p:cNvPr id="12" name="Shape 10"/>
          <p:cNvSpPr/>
          <p:nvPr/>
        </p:nvSpPr>
        <p:spPr>
          <a:xfrm>
            <a:off x="2926080" y="242316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163A28"/>
          </a:solidFill>
          <a:ln w="12700">
            <a:solidFill>
              <a:srgbClr val="3EBD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242316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EB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17720" y="2468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slot accepted → vault creation unlocked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26680" y="2487168"/>
            <a:ext cx="320040" cy="219456"/>
          </a:xfrm>
          <a:prstGeom prst="rightArrow">
            <a:avLst/>
          </a:prstGeom>
          <a:solidFill>
            <a:srgbClr val="E5605A"/>
          </a:solidFill>
          <a:ln/>
        </p:spPr>
      </p:sp>
      <p:sp>
        <p:nvSpPr>
          <p:cNvPr id="16" name="Shape 14"/>
          <p:cNvSpPr/>
          <p:nvPr/>
        </p:nvSpPr>
        <p:spPr>
          <a:xfrm>
            <a:off x="8183880" y="242316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3A1E1C"/>
          </a:solidFill>
          <a:ln w="12700">
            <a:solidFill>
              <a:srgbClr val="E560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3880" y="24231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5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92640" y="2468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backup list exhausted first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20040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263874"/>
          </a:solidFill>
          <a:ln/>
        </p:spPr>
      </p:sp>
      <p:sp>
        <p:nvSpPr>
          <p:cNvPr id="20" name="Shape 18"/>
          <p:cNvSpPr/>
          <p:nvPr/>
        </p:nvSpPr>
        <p:spPr>
          <a:xfrm>
            <a:off x="804672" y="3429000"/>
            <a:ext cx="475488" cy="475488"/>
          </a:xfrm>
          <a:prstGeom prst="ellipse">
            <a:avLst/>
          </a:prstGeom>
          <a:solidFill>
            <a:srgbClr val="24316E"/>
          </a:solidFill>
          <a:ln/>
        </p:spPr>
      </p:sp>
      <p:pic>
        <p:nvPicPr>
          <p:cNvPr id="21" name="Image 0" descr="/home/claude/shardic_deck/icons/user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789" y="3543117"/>
            <a:ext cx="247254" cy="24725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417320" y="340156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duties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04672" y="395020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 role (a dedicated Keycloak realm role) is checked against ceremony trustee selections — an operator can't invite themselves.</a:t>
            </a:r>
            <a:endParaRPr lang="en-US" sz="1030" dirty="0"/>
          </a:p>
        </p:txBody>
      </p:sp>
      <p:sp>
        <p:nvSpPr>
          <p:cNvPr id="24" name="Shape 21"/>
          <p:cNvSpPr/>
          <p:nvPr/>
        </p:nvSpPr>
        <p:spPr>
          <a:xfrm>
            <a:off x="6217920" y="320040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263874"/>
          </a:solidFill>
          <a:ln/>
        </p:spPr>
      </p:sp>
      <p:sp>
        <p:nvSpPr>
          <p:cNvPr id="25" name="Shape 22"/>
          <p:cNvSpPr/>
          <p:nvPr/>
        </p:nvSpPr>
        <p:spPr>
          <a:xfrm>
            <a:off x="6473952" y="3429000"/>
            <a:ext cx="475488" cy="475488"/>
          </a:xfrm>
          <a:prstGeom prst="ellipse">
            <a:avLst/>
          </a:prstGeom>
          <a:solidFill>
            <a:srgbClr val="24316E"/>
          </a:solidFill>
          <a:ln/>
        </p:spPr>
      </p:sp>
      <p:pic>
        <p:nvPicPr>
          <p:cNvPr id="26" name="Image 1" descr="/home/claude/shardic_deck/icons/user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069" y="3543117"/>
            <a:ext cx="247254" cy="247254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086600" y="340156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 / TTL handling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6473952" y="395020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invitation is ephemeral and polled (GET /trustees/pending-invitation). A decline or timeout lapses the slot immediately.</a:t>
            </a:r>
            <a:endParaRPr lang="en-US" sz="1030" dirty="0"/>
          </a:p>
        </p:txBody>
      </p:sp>
      <p:sp>
        <p:nvSpPr>
          <p:cNvPr id="29" name="Shape 25"/>
          <p:cNvSpPr/>
          <p:nvPr/>
        </p:nvSpPr>
        <p:spPr>
          <a:xfrm>
            <a:off x="548640" y="498348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263874"/>
          </a:solidFill>
          <a:ln/>
        </p:spPr>
      </p:sp>
      <p:sp>
        <p:nvSpPr>
          <p:cNvPr id="30" name="Shape 26"/>
          <p:cNvSpPr/>
          <p:nvPr/>
        </p:nvSpPr>
        <p:spPr>
          <a:xfrm>
            <a:off x="804672" y="5212080"/>
            <a:ext cx="475488" cy="475488"/>
          </a:xfrm>
          <a:prstGeom prst="ellipse">
            <a:avLst/>
          </a:prstGeom>
          <a:solidFill>
            <a:srgbClr val="24316E"/>
          </a:solidFill>
          <a:ln/>
        </p:spPr>
      </p:sp>
      <p:pic>
        <p:nvPicPr>
          <p:cNvPr id="31" name="Image 2" descr="/home/claude/shardic_deck/icons/site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789" y="5326197"/>
            <a:ext cx="247254" cy="247254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1417320" y="518464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backfill</a:t>
            </a:r>
            <a:endParaRPr lang="en-US" sz="1250" dirty="0"/>
          </a:p>
        </p:txBody>
      </p:sp>
      <p:sp>
        <p:nvSpPr>
          <p:cNvPr id="33" name="Text 28"/>
          <p:cNvSpPr/>
          <p:nvPr/>
        </p:nvSpPr>
        <p:spPr>
          <a:xfrm>
            <a:off x="804672" y="573328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next-ranked candidate on the ordered backup list is promoted into a lapsed slot, inheriting its role (prime or pool) — race-safe against duplicate responses.</a:t>
            </a:r>
            <a:endParaRPr lang="en-US" sz="1030" dirty="0"/>
          </a:p>
        </p:txBody>
      </p:sp>
      <p:sp>
        <p:nvSpPr>
          <p:cNvPr id="34" name="Shape 29"/>
          <p:cNvSpPr/>
          <p:nvPr/>
        </p:nvSpPr>
        <p:spPr>
          <a:xfrm>
            <a:off x="6217920" y="498348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263874"/>
          </a:solidFill>
          <a:ln/>
        </p:spPr>
      </p:sp>
      <p:sp>
        <p:nvSpPr>
          <p:cNvPr id="35" name="Shape 30"/>
          <p:cNvSpPr/>
          <p:nvPr/>
        </p:nvSpPr>
        <p:spPr>
          <a:xfrm>
            <a:off x="6473952" y="5212080"/>
            <a:ext cx="475488" cy="475488"/>
          </a:xfrm>
          <a:prstGeom prst="ellipse">
            <a:avLst/>
          </a:prstGeom>
          <a:solidFill>
            <a:srgbClr val="24316E"/>
          </a:solidFill>
          <a:ln/>
        </p:spPr>
      </p:sp>
      <p:pic>
        <p:nvPicPr>
          <p:cNvPr id="36" name="Image 3" descr="/home/claude/shardic_deck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069" y="5326197"/>
            <a:ext cx="247254" cy="247254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7086600" y="518464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routes, real state</a:t>
            </a:r>
            <a:endParaRPr lang="en-US" sz="1250" dirty="0"/>
          </a:p>
        </p:txBody>
      </p:sp>
      <p:sp>
        <p:nvSpPr>
          <p:cNvPr id="38" name="Text 32"/>
          <p:cNvSpPr/>
          <p:nvPr/>
        </p:nvSpPr>
        <p:spPr>
          <a:xfrm>
            <a:off x="6473952" y="573328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/admin/ceremony/initiate, STATE["ceremony"], and SSE events (ceremony_initiated / ceremony_formed / ceremony_failed) — not a design sketch.</a:t>
            </a:r>
            <a:endParaRPr lang="en-US" sz="1030" dirty="0"/>
          </a:p>
        </p:txBody>
      </p:sp>
      <p:sp>
        <p:nvSpPr>
          <p:cNvPr id="39" name="Text 33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 — THE OPERATIONAL LIFECYCLE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→ Form → Wrap → Deliver → Recover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139696" cy="4114800"/>
          </a:xfrm>
          <a:prstGeom prst="roundRect">
            <a:avLst>
              <a:gd name="adj" fmla="val 384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98448" y="1463040"/>
            <a:ext cx="640080" cy="640080"/>
          </a:xfrm>
          <a:prstGeom prst="ellipse">
            <a:avLst/>
          </a:prstGeom>
          <a:solidFill>
            <a:srgbClr val="263874"/>
          </a:solidFill>
          <a:ln/>
        </p:spPr>
      </p:sp>
      <p:pic>
        <p:nvPicPr>
          <p:cNvPr id="6" name="Image 0" descr="/home/claude/shardic_deck/icons/user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2067" y="161665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Register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85800" y="2606040"/>
            <a:ext cx="186537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6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Trustees join a Keycloak candidate directory. Keypair is generated client-side only (WebCrypto / hardware token) — the private key never leaves the device.</a:t>
            </a:r>
            <a:endParaRPr lang="en-US" sz="960" dirty="0"/>
          </a:p>
        </p:txBody>
      </p:sp>
      <p:sp>
        <p:nvSpPr>
          <p:cNvPr id="9" name="Shape 6"/>
          <p:cNvSpPr/>
          <p:nvPr/>
        </p:nvSpPr>
        <p:spPr>
          <a:xfrm>
            <a:off x="685800" y="4846320"/>
            <a:ext cx="1865376" cy="347472"/>
          </a:xfrm>
          <a:prstGeom prst="roundRect">
            <a:avLst>
              <a:gd name="adj" fmla="val 21053"/>
            </a:avLst>
          </a:prstGeom>
          <a:solidFill>
            <a:srgbClr val="163A28"/>
          </a:solidFill>
          <a:ln w="12700">
            <a:solidFill>
              <a:srgbClr val="3EBD6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4846320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EB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692908" y="3182112"/>
            <a:ext cx="109728" cy="219456"/>
          </a:xfrm>
          <a:prstGeom prst="rightArrow">
            <a:avLst/>
          </a:prstGeom>
          <a:solidFill>
            <a:srgbClr val="9FB2E0"/>
          </a:solidFill>
          <a:ln/>
        </p:spPr>
      </p:sp>
      <p:sp>
        <p:nvSpPr>
          <p:cNvPr id="12" name="Shape 9"/>
          <p:cNvSpPr/>
          <p:nvPr/>
        </p:nvSpPr>
        <p:spPr>
          <a:xfrm>
            <a:off x="2807208" y="1234440"/>
            <a:ext cx="2139696" cy="4114800"/>
          </a:xfrm>
          <a:prstGeom prst="roundRect">
            <a:avLst>
              <a:gd name="adj" fmla="val 384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57016" y="1463040"/>
            <a:ext cx="640080" cy="640080"/>
          </a:xfrm>
          <a:prstGeom prst="ellipse">
            <a:avLst/>
          </a:prstGeom>
          <a:solidFill>
            <a:srgbClr val="263874"/>
          </a:solidFill>
          <a:ln/>
        </p:spPr>
      </p:sp>
      <p:pic>
        <p:nvPicPr>
          <p:cNvPr id="14" name="Image 1" descr="/home/claude/shardic_deck/icons/site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635" y="1616659"/>
            <a:ext cx="332842" cy="33284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916936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Form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2944368" y="2606040"/>
            <a:ext cx="186537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6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initiates a ceremony (§3.6); invitations, decline/TTL, and backfill run until every slot is accepted or the backup list is exhausted.</a:t>
            </a:r>
            <a:endParaRPr lang="en-US" sz="960" dirty="0"/>
          </a:p>
        </p:txBody>
      </p:sp>
      <p:sp>
        <p:nvSpPr>
          <p:cNvPr id="17" name="Shape 13"/>
          <p:cNvSpPr/>
          <p:nvPr/>
        </p:nvSpPr>
        <p:spPr>
          <a:xfrm>
            <a:off x="2944368" y="4846320"/>
            <a:ext cx="1865376" cy="347472"/>
          </a:xfrm>
          <a:prstGeom prst="roundRect">
            <a:avLst>
              <a:gd name="adj" fmla="val 21053"/>
            </a:avLst>
          </a:prstGeom>
          <a:solidFill>
            <a:srgbClr val="163A28"/>
          </a:solidFill>
          <a:ln w="12700">
            <a:solidFill>
              <a:srgbClr val="3EBD6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944368" y="4846320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EB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951476" y="3182112"/>
            <a:ext cx="109728" cy="219456"/>
          </a:xfrm>
          <a:prstGeom prst="rightArrow">
            <a:avLst/>
          </a:prstGeom>
          <a:solidFill>
            <a:srgbClr val="9FB2E0"/>
          </a:solidFill>
          <a:ln/>
        </p:spPr>
      </p:sp>
      <p:sp>
        <p:nvSpPr>
          <p:cNvPr id="20" name="Shape 16"/>
          <p:cNvSpPr/>
          <p:nvPr/>
        </p:nvSpPr>
        <p:spPr>
          <a:xfrm>
            <a:off x="5065776" y="1234440"/>
            <a:ext cx="2139696" cy="4114800"/>
          </a:xfrm>
          <a:prstGeom prst="roundRect">
            <a:avLst>
              <a:gd name="adj" fmla="val 384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815584" y="1463040"/>
            <a:ext cx="640080" cy="640080"/>
          </a:xfrm>
          <a:prstGeom prst="ellipse">
            <a:avLst/>
          </a:prstGeom>
          <a:solidFill>
            <a:srgbClr val="263874"/>
          </a:solidFill>
          <a:ln/>
        </p:spPr>
      </p:sp>
      <p:pic>
        <p:nvPicPr>
          <p:cNvPr id="22" name="Image 2" descr="/home/claude/shardic_deck/icons/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203" y="1616659"/>
            <a:ext cx="332842" cy="33284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175504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Wrap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5202936" y="2606040"/>
            <a:ext cx="186537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6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vault creation, each codeword is wrapped under its trustee's ceremony-confirmed public key via shardic_envelope_crypto.wrap() — the combiner never sees a plaintext codeword.</a:t>
            </a:r>
            <a:endParaRPr lang="en-US" sz="960" dirty="0"/>
          </a:p>
        </p:txBody>
      </p:sp>
      <p:sp>
        <p:nvSpPr>
          <p:cNvPr id="25" name="Shape 20"/>
          <p:cNvSpPr/>
          <p:nvPr/>
        </p:nvSpPr>
        <p:spPr>
          <a:xfrm>
            <a:off x="5202936" y="4846320"/>
            <a:ext cx="1865376" cy="347472"/>
          </a:xfrm>
          <a:prstGeom prst="roundRect">
            <a:avLst>
              <a:gd name="adj" fmla="val 21053"/>
            </a:avLst>
          </a:prstGeom>
          <a:solidFill>
            <a:srgbClr val="163A28"/>
          </a:solidFill>
          <a:ln w="12700">
            <a:solidFill>
              <a:srgbClr val="3EBD6E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202936" y="4846320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EB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7210044" y="3182112"/>
            <a:ext cx="109728" cy="219456"/>
          </a:xfrm>
          <a:prstGeom prst="rightArrow">
            <a:avLst/>
          </a:prstGeom>
          <a:solidFill>
            <a:srgbClr val="9FB2E0"/>
          </a:solidFill>
          <a:ln/>
        </p:spPr>
      </p:sp>
      <p:sp>
        <p:nvSpPr>
          <p:cNvPr id="28" name="Shape 23"/>
          <p:cNvSpPr/>
          <p:nvPr/>
        </p:nvSpPr>
        <p:spPr>
          <a:xfrm>
            <a:off x="7324344" y="1234440"/>
            <a:ext cx="2139696" cy="4114800"/>
          </a:xfrm>
          <a:prstGeom prst="roundRect">
            <a:avLst>
              <a:gd name="adj" fmla="val 384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8074152" y="1463040"/>
            <a:ext cx="640080" cy="640080"/>
          </a:xfrm>
          <a:prstGeom prst="ellipse">
            <a:avLst/>
          </a:prstGeom>
          <a:solidFill>
            <a:srgbClr val="263874"/>
          </a:solidFill>
          <a:ln/>
        </p:spPr>
      </p:sp>
      <p:pic>
        <p:nvPicPr>
          <p:cNvPr id="30" name="Image 3" descr="/home/claude/shardic_deck/icons/mailenvelop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7771" y="1616659"/>
            <a:ext cx="332842" cy="33284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434072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Deliver</a:t>
            </a:r>
            <a:endParaRPr lang="en-US" sz="1350" dirty="0"/>
          </a:p>
        </p:txBody>
      </p:sp>
      <p:sp>
        <p:nvSpPr>
          <p:cNvPr id="32" name="Text 26"/>
          <p:cNvSpPr/>
          <p:nvPr/>
        </p:nvSpPr>
        <p:spPr>
          <a:xfrm>
            <a:off x="7461504" y="2606040"/>
            <a:ext cx="186537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6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Trustee polls GET /trustees/pending-envelope, a pull-based, single-read drop point. Working end-to-end today as an in-process store — a pluggable EnvelopeDropPoint backend is the tracked follow-on.</a:t>
            </a:r>
            <a:endParaRPr lang="en-US" sz="960" dirty="0"/>
          </a:p>
        </p:txBody>
      </p:sp>
      <p:sp>
        <p:nvSpPr>
          <p:cNvPr id="33" name="Shape 27"/>
          <p:cNvSpPr/>
          <p:nvPr/>
        </p:nvSpPr>
        <p:spPr>
          <a:xfrm>
            <a:off x="7461504" y="4846320"/>
            <a:ext cx="1865376" cy="347472"/>
          </a:xfrm>
          <a:prstGeom prst="roundRect">
            <a:avLst>
              <a:gd name="adj" fmla="val 21053"/>
            </a:avLst>
          </a:prstGeom>
          <a:solidFill>
            <a:srgbClr val="163A28"/>
          </a:solidFill>
          <a:ln w="12700">
            <a:solidFill>
              <a:srgbClr val="3EBD6E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7461504" y="4846320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EB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9468612" y="3182112"/>
            <a:ext cx="109728" cy="219456"/>
          </a:xfrm>
          <a:prstGeom prst="rightArrow">
            <a:avLst/>
          </a:prstGeom>
          <a:solidFill>
            <a:srgbClr val="9FB2E0"/>
          </a:solidFill>
          <a:ln/>
        </p:spPr>
      </p:sp>
      <p:sp>
        <p:nvSpPr>
          <p:cNvPr id="36" name="Shape 30"/>
          <p:cNvSpPr/>
          <p:nvPr/>
        </p:nvSpPr>
        <p:spPr>
          <a:xfrm>
            <a:off x="9582912" y="1234440"/>
            <a:ext cx="2139696" cy="4114800"/>
          </a:xfrm>
          <a:prstGeom prst="roundRect">
            <a:avLst>
              <a:gd name="adj" fmla="val 384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10332720" y="1463040"/>
            <a:ext cx="640080" cy="640080"/>
          </a:xfrm>
          <a:prstGeom prst="ellipse">
            <a:avLst/>
          </a:prstGeom>
          <a:solidFill>
            <a:srgbClr val="263874"/>
          </a:solidFill>
          <a:ln/>
        </p:spPr>
      </p:sp>
      <p:pic>
        <p:nvPicPr>
          <p:cNvPr id="38" name="Image 4" descr="/home/claude/shardic_deck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6339" y="1616659"/>
            <a:ext cx="332842" cy="332842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9692640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Recover</a:t>
            </a:r>
            <a:endParaRPr lang="en-US" sz="1350" dirty="0"/>
          </a:p>
        </p:txBody>
      </p:sp>
      <p:sp>
        <p:nvSpPr>
          <p:cNvPr id="40" name="Text 33"/>
          <p:cNvSpPr/>
          <p:nvPr/>
        </p:nvSpPr>
        <p:spPr>
          <a:xfrm>
            <a:off x="9720072" y="2606040"/>
            <a:ext cx="186537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6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Trustee decrypts their own envelope locally, then supplies the shard — the base recovery flow (§2.2) is otherwise unchanged.</a:t>
            </a:r>
            <a:endParaRPr lang="en-US" sz="960" dirty="0"/>
          </a:p>
        </p:txBody>
      </p:sp>
      <p:sp>
        <p:nvSpPr>
          <p:cNvPr id="41" name="Shape 34"/>
          <p:cNvSpPr/>
          <p:nvPr/>
        </p:nvSpPr>
        <p:spPr>
          <a:xfrm>
            <a:off x="9720072" y="4846320"/>
            <a:ext cx="1865376" cy="347472"/>
          </a:xfrm>
          <a:prstGeom prst="roundRect">
            <a:avLst>
              <a:gd name="adj" fmla="val 21053"/>
            </a:avLst>
          </a:prstGeom>
          <a:solidFill>
            <a:srgbClr val="163A28"/>
          </a:solidFill>
          <a:ln w="12700">
            <a:solidFill>
              <a:srgbClr val="3EBD6E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9720072" y="4846320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EB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100" dirty="0"/>
          </a:p>
        </p:txBody>
      </p:sp>
      <p:sp>
        <p:nvSpPr>
          <p:cNvPr id="43" name="Shape 36"/>
          <p:cNvSpPr/>
          <p:nvPr/>
        </p:nvSpPr>
        <p:spPr>
          <a:xfrm>
            <a:off x="548640" y="553212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263874"/>
          </a:solidFill>
          <a:ln/>
        </p:spPr>
      </p:sp>
      <p:sp>
        <p:nvSpPr>
          <p:cNvPr id="44" name="Shape 37"/>
          <p:cNvSpPr/>
          <p:nvPr/>
        </p:nvSpPr>
        <p:spPr>
          <a:xfrm>
            <a:off x="822960" y="5687568"/>
            <a:ext cx="548640" cy="548640"/>
          </a:xfrm>
          <a:prstGeom prst="ellipse">
            <a:avLst/>
          </a:prstGeom>
          <a:solidFill>
            <a:srgbClr val="24316E"/>
          </a:solidFill>
          <a:ln/>
        </p:spPr>
      </p:sp>
      <p:pic>
        <p:nvPicPr>
          <p:cNvPr id="45" name="Image 5" descr="/home/claude/shardic_deck/icons/bel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634" y="5819242"/>
            <a:ext cx="285293" cy="285293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1508760" y="562356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Plumbing around this flow is pluggable by design: NotificationChannel (Log/Webhook/Email, implemented v1.0, wired to ceremony invitations — envelope_ready/drop_expired await the EnvelopeDropPoint above) and VaultStore (implemented v1.0, filesystem backend) both sit behind clean protocols the core crypto path never depends on.</a:t>
            </a:r>
            <a:endParaRPr lang="en-US" sz="1080" dirty="0"/>
          </a:p>
        </p:txBody>
      </p:sp>
      <p:sp>
        <p:nvSpPr>
          <p:cNvPr id="47" name="Text 39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1000" dirty="0"/>
          </a:p>
        </p:txBody>
      </p:sp>
      <p:sp>
        <p:nvSpPr>
          <p:cNvPr id="48" name="Text 40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—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93592" cy="1417320"/>
          </a:xfrm>
          <a:prstGeom prst="roundRect">
            <a:avLst>
              <a:gd name="adj" fmla="val 580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00200"/>
            <a:ext cx="384048" cy="384048"/>
          </a:xfrm>
          <a:prstGeom prst="ellipse">
            <a:avLst/>
          </a:prstGeom>
          <a:solidFill>
            <a:srgbClr val="163A28"/>
          </a:solidFill>
          <a:ln/>
        </p:spPr>
      </p:sp>
      <p:pic>
        <p:nvPicPr>
          <p:cNvPr id="6" name="Image 0" descr="/home/claude/shardic_deck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980" y="1692372"/>
            <a:ext cx="199705" cy="1997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1872" y="1545336"/>
            <a:ext cx="2679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lone-actor risk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9808" y="2075688"/>
            <a:ext cx="31912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is mathematically impossible below threshold, not just procedurally discouraged.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4325112" y="1417320"/>
            <a:ext cx="3593592" cy="1417320"/>
          </a:xfrm>
          <a:prstGeom prst="roundRect">
            <a:avLst>
              <a:gd name="adj" fmla="val 580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1600200"/>
            <a:ext cx="384048" cy="384048"/>
          </a:xfrm>
          <a:prstGeom prst="ellipse">
            <a:avLst/>
          </a:prstGeom>
          <a:solidFill>
            <a:srgbClr val="163A28"/>
          </a:solidFill>
          <a:ln/>
        </p:spPr>
      </p:sp>
      <p:pic>
        <p:nvPicPr>
          <p:cNvPr id="11" name="Image 1" descr="/home/claude/shardic_deck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8452" y="1692372"/>
            <a:ext cx="199705" cy="19970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38344" y="1545336"/>
            <a:ext cx="2679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trustee-loss tolerance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526280" y="2075688"/>
            <a:ext cx="31912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 of T is sufficient — survives unavailable or non-cooperating trustees.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8101584" y="1417320"/>
            <a:ext cx="3593592" cy="1417320"/>
          </a:xfrm>
          <a:prstGeom prst="roundRect">
            <a:avLst>
              <a:gd name="adj" fmla="val 580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02752" y="1600200"/>
            <a:ext cx="384048" cy="384048"/>
          </a:xfrm>
          <a:prstGeom prst="ellipse">
            <a:avLst/>
          </a:prstGeom>
          <a:solidFill>
            <a:srgbClr val="163A28"/>
          </a:solidFill>
          <a:ln/>
        </p:spPr>
      </p:sp>
      <p:pic>
        <p:nvPicPr>
          <p:cNvPr id="16" name="Image 2" descr="/home/claude/shardic_deck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924" y="1692372"/>
            <a:ext cx="199705" cy="19970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14816" y="1545336"/>
            <a:ext cx="2679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metadata leakage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302752" y="2075688"/>
            <a:ext cx="31912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vault file alone reveals no trustee-to-share mapping, even under direct inspection.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548640" y="3017520"/>
            <a:ext cx="3593592" cy="1417320"/>
          </a:xfrm>
          <a:prstGeom prst="roundRect">
            <a:avLst>
              <a:gd name="adj" fmla="val 580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3200400"/>
            <a:ext cx="384048" cy="384048"/>
          </a:xfrm>
          <a:prstGeom prst="ellipse">
            <a:avLst/>
          </a:prstGeom>
          <a:solidFill>
            <a:srgbClr val="163A28"/>
          </a:solidFill>
          <a:ln/>
        </p:spPr>
      </p:sp>
      <p:pic>
        <p:nvPicPr>
          <p:cNvPr id="21" name="Image 3" descr="/home/claude/shardic_deck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980" y="3292572"/>
            <a:ext cx="199705" cy="19970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61872" y="3145536"/>
            <a:ext cx="2679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Self-describing recovery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49808" y="3675888"/>
            <a:ext cx="31912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KDF method and parameters travel with the vault — no external config to match.</a:t>
            </a:r>
            <a:endParaRPr lang="en-US" sz="980" dirty="0"/>
          </a:p>
        </p:txBody>
      </p:sp>
      <p:sp>
        <p:nvSpPr>
          <p:cNvPr id="24" name="Shape 18"/>
          <p:cNvSpPr/>
          <p:nvPr/>
        </p:nvSpPr>
        <p:spPr>
          <a:xfrm>
            <a:off x="4325112" y="3017520"/>
            <a:ext cx="3593592" cy="1417320"/>
          </a:xfrm>
          <a:prstGeom prst="roundRect">
            <a:avLst>
              <a:gd name="adj" fmla="val 580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26280" y="3200400"/>
            <a:ext cx="384048" cy="384048"/>
          </a:xfrm>
          <a:prstGeom prst="ellipse">
            <a:avLst/>
          </a:prstGeom>
          <a:solidFill>
            <a:srgbClr val="163A28"/>
          </a:solidFill>
          <a:ln/>
        </p:spPr>
      </p:sp>
      <p:pic>
        <p:nvPicPr>
          <p:cNvPr id="26" name="Image 4" descr="/home/claude/shardic_deck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8452" y="3292572"/>
            <a:ext cx="199705" cy="19970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38344" y="3145536"/>
            <a:ext cx="2679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Mandatory-signer variant available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4526280" y="3675888"/>
            <a:ext cx="31912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shardic-prime, without weakening the underlying guarantees.</a:t>
            </a:r>
            <a:endParaRPr lang="en-US" sz="980" dirty="0"/>
          </a:p>
        </p:txBody>
      </p:sp>
      <p:sp>
        <p:nvSpPr>
          <p:cNvPr id="29" name="Shape 22"/>
          <p:cNvSpPr/>
          <p:nvPr/>
        </p:nvSpPr>
        <p:spPr>
          <a:xfrm>
            <a:off x="8101584" y="3017520"/>
            <a:ext cx="3593592" cy="1417320"/>
          </a:xfrm>
          <a:prstGeom prst="roundRect">
            <a:avLst>
              <a:gd name="adj" fmla="val 580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02752" y="3200400"/>
            <a:ext cx="384048" cy="384048"/>
          </a:xfrm>
          <a:prstGeom prst="ellipse">
            <a:avLst/>
          </a:prstGeom>
          <a:solidFill>
            <a:srgbClr val="163A28"/>
          </a:solidFill>
          <a:ln/>
        </p:spPr>
      </p:sp>
      <p:pic>
        <p:nvPicPr>
          <p:cNvPr id="31" name="Image 5" descr="/home/claude/shardic_deck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924" y="3292572"/>
            <a:ext cx="199705" cy="19970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14816" y="3145536"/>
            <a:ext cx="2679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throughout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8302752" y="3675888"/>
            <a:ext cx="31912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or incorrect codewords stop the operation — no silent-degradation path.</a:t>
            </a:r>
            <a:endParaRPr lang="en-US" sz="980" dirty="0"/>
          </a:p>
        </p:txBody>
      </p:sp>
      <p:sp>
        <p:nvSpPr>
          <p:cNvPr id="34" name="Shape 26"/>
          <p:cNvSpPr/>
          <p:nvPr/>
        </p:nvSpPr>
        <p:spPr>
          <a:xfrm>
            <a:off x="548640" y="4617720"/>
            <a:ext cx="3593592" cy="1417320"/>
          </a:xfrm>
          <a:prstGeom prst="roundRect">
            <a:avLst>
              <a:gd name="adj" fmla="val 580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49808" y="4800600"/>
            <a:ext cx="384048" cy="384048"/>
          </a:xfrm>
          <a:prstGeom prst="ellipse">
            <a:avLst/>
          </a:prstGeom>
          <a:solidFill>
            <a:srgbClr val="163A28"/>
          </a:solidFill>
          <a:ln/>
        </p:spPr>
      </p:sp>
      <p:pic>
        <p:nvPicPr>
          <p:cNvPr id="36" name="Image 6" descr="/home/claude/shardic_deck/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980" y="4892772"/>
            <a:ext cx="199705" cy="19970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261872" y="4745736"/>
            <a:ext cx="2679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end-to-end verified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749808" y="5276088"/>
            <a:ext cx="31912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Ceremony formation, envelope wrap/deliver, and recovery run today against real Keycloak infra with a live dashboard — not a paper design.</a:t>
            </a:r>
            <a:endParaRPr lang="en-US" sz="980" dirty="0"/>
          </a:p>
        </p:txBody>
      </p:sp>
      <p:sp>
        <p:nvSpPr>
          <p:cNvPr id="39" name="Text 30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1000" dirty="0"/>
          </a:p>
        </p:txBody>
      </p:sp>
      <p:sp>
        <p:nvSpPr>
          <p:cNvPr id="40" name="Text 31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 —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— And How They're Mitigated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93592" cy="1691640"/>
          </a:xfrm>
          <a:prstGeom prst="roundRect">
            <a:avLst>
              <a:gd name="adj" fmla="val 4865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554480"/>
            <a:ext cx="365760" cy="365760"/>
          </a:xfrm>
          <a:prstGeom prst="ellipse">
            <a:avLst/>
          </a:prstGeom>
          <a:solidFill>
            <a:srgbClr val="3A2F14"/>
          </a:solidFill>
          <a:ln/>
        </p:spPr>
      </p:sp>
      <p:pic>
        <p:nvPicPr>
          <p:cNvPr id="6" name="Image 0" descr="/home/claude/shardic_deck/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90" y="1642262"/>
            <a:ext cx="190195" cy="1901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029968"/>
            <a:ext cx="3191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Codeword strength is the real bottleneck.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2468880"/>
            <a:ext cx="31912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adequate word count; review the tool's own entropy estimate before distribution; prefer Argon2id.</a:t>
            </a:r>
            <a:endParaRPr lang="en-US" sz="930" dirty="0"/>
          </a:p>
        </p:txBody>
      </p:sp>
      <p:sp>
        <p:nvSpPr>
          <p:cNvPr id="9" name="Shape 6"/>
          <p:cNvSpPr/>
          <p:nvPr/>
        </p:nvSpPr>
        <p:spPr>
          <a:xfrm>
            <a:off x="4325112" y="1371600"/>
            <a:ext cx="3593592" cy="1691640"/>
          </a:xfrm>
          <a:prstGeom prst="roundRect">
            <a:avLst>
              <a:gd name="adj" fmla="val 4865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1554480"/>
            <a:ext cx="365760" cy="365760"/>
          </a:xfrm>
          <a:prstGeom prst="ellipse">
            <a:avLst/>
          </a:prstGeom>
          <a:solidFill>
            <a:srgbClr val="3A2F14"/>
          </a:solidFill>
          <a:ln/>
        </p:spPr>
      </p:sp>
      <p:pic>
        <p:nvPicPr>
          <p:cNvPr id="11" name="Image 1" descr="/home/claude/shardic_deck/icons/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062" y="1642262"/>
            <a:ext cx="190195" cy="19019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029968"/>
            <a:ext cx="3191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split-once design — no live rotation.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526280" y="2468880"/>
            <a:ext cx="31912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Intentionally scoped to rare, offline break-glass access. Frequent/live authorization: use FROST or HSM-backed multisig instead.</a:t>
            </a:r>
            <a:endParaRPr lang="en-US" sz="930" dirty="0"/>
          </a:p>
        </p:txBody>
      </p:sp>
      <p:sp>
        <p:nvSpPr>
          <p:cNvPr id="14" name="Shape 10"/>
          <p:cNvSpPr/>
          <p:nvPr/>
        </p:nvSpPr>
        <p:spPr>
          <a:xfrm>
            <a:off x="8101584" y="1371600"/>
            <a:ext cx="3593592" cy="1691640"/>
          </a:xfrm>
          <a:prstGeom prst="roundRect">
            <a:avLst>
              <a:gd name="adj" fmla="val 4865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02752" y="1554480"/>
            <a:ext cx="365760" cy="365760"/>
          </a:xfrm>
          <a:prstGeom prst="ellipse">
            <a:avLst/>
          </a:prstGeom>
          <a:solidFill>
            <a:srgbClr val="3A2F14"/>
          </a:solidFill>
          <a:ln/>
        </p:spPr>
      </p:sp>
      <p:pic>
        <p:nvPicPr>
          <p:cNvPr id="16" name="Image 2" descr="/home/claude/shardic_deck/icons/ale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0534" y="1642262"/>
            <a:ext cx="190195" cy="19019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02752" y="2029968"/>
            <a:ext cx="3191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.krypt file is a single point of availability failure.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8302752" y="2468880"/>
            <a:ext cx="31912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up the container durably — unlike the legacy split-file format, there is only one file to protect.</a:t>
            </a:r>
            <a:endParaRPr lang="en-US" sz="930" dirty="0"/>
          </a:p>
        </p:txBody>
      </p:sp>
      <p:sp>
        <p:nvSpPr>
          <p:cNvPr id="19" name="Shape 14"/>
          <p:cNvSpPr/>
          <p:nvPr/>
        </p:nvSpPr>
        <p:spPr>
          <a:xfrm>
            <a:off x="548640" y="3246120"/>
            <a:ext cx="3593592" cy="1691640"/>
          </a:xfrm>
          <a:prstGeom prst="roundRect">
            <a:avLst>
              <a:gd name="adj" fmla="val 4865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3429000"/>
            <a:ext cx="365760" cy="365760"/>
          </a:xfrm>
          <a:prstGeom prst="ellipse">
            <a:avLst/>
          </a:prstGeom>
          <a:solidFill>
            <a:srgbClr val="3A2F14"/>
          </a:solidFill>
          <a:ln/>
        </p:spPr>
      </p:sp>
      <p:pic>
        <p:nvPicPr>
          <p:cNvPr id="21" name="Image 3" descr="/home/claude/shardic_deck/icons/ale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" y="3516782"/>
            <a:ext cx="190195" cy="19019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3904488"/>
            <a:ext cx="3191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scale limitlessly — 255-trustee GF(256) ceiling.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749808" y="4343400"/>
            <a:ext cx="31912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double-digit trustee models by design; use it where it fits the need.</a:t>
            </a:r>
            <a:endParaRPr lang="en-US" sz="930" dirty="0"/>
          </a:p>
        </p:txBody>
      </p:sp>
      <p:sp>
        <p:nvSpPr>
          <p:cNvPr id="24" name="Shape 18"/>
          <p:cNvSpPr/>
          <p:nvPr/>
        </p:nvSpPr>
        <p:spPr>
          <a:xfrm>
            <a:off x="4325112" y="3246120"/>
            <a:ext cx="3593592" cy="1691640"/>
          </a:xfrm>
          <a:prstGeom prst="roundRect">
            <a:avLst>
              <a:gd name="adj" fmla="val 4865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26280" y="3429000"/>
            <a:ext cx="365760" cy="365760"/>
          </a:xfrm>
          <a:prstGeom prst="ellipse">
            <a:avLst/>
          </a:prstGeom>
          <a:solidFill>
            <a:srgbClr val="3A2F14"/>
          </a:solidFill>
          <a:ln/>
        </p:spPr>
      </p:sp>
      <p:pic>
        <p:nvPicPr>
          <p:cNvPr id="26" name="Image 4" descr="/home/claude/shardic_deck/icons/ale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4062" y="3516782"/>
            <a:ext cx="190195" cy="19019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26280" y="3904488"/>
            <a:ext cx="3191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 delivery isn't yet a pluggable backend.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4526280" y="4343400"/>
            <a:ext cx="31912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EnvelopeDropPoint (§3.7) works today as an in-process store; a durable, swappable backend is a tracked follow-on, not a blocker for the current demo scope.</a:t>
            </a:r>
            <a:endParaRPr lang="en-US" sz="930" dirty="0"/>
          </a:p>
        </p:txBody>
      </p:sp>
      <p:sp>
        <p:nvSpPr>
          <p:cNvPr id="29" name="Shape 22"/>
          <p:cNvSpPr/>
          <p:nvPr/>
        </p:nvSpPr>
        <p:spPr>
          <a:xfrm>
            <a:off x="8101584" y="3246120"/>
            <a:ext cx="3593592" cy="1691640"/>
          </a:xfrm>
          <a:prstGeom prst="roundRect">
            <a:avLst>
              <a:gd name="adj" fmla="val 4865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02752" y="3429000"/>
            <a:ext cx="365760" cy="365760"/>
          </a:xfrm>
          <a:prstGeom prst="ellipse">
            <a:avLst/>
          </a:prstGeom>
          <a:solidFill>
            <a:srgbClr val="3A2F14"/>
          </a:solidFill>
          <a:ln/>
        </p:spPr>
      </p:sp>
      <p:pic>
        <p:nvPicPr>
          <p:cNvPr id="31" name="Image 5" descr="/home/claude/shardic_deck/icons/ale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0534" y="3516782"/>
            <a:ext cx="190195" cy="19019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02752" y="3904488"/>
            <a:ext cx="3191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browser-based trustee client yet.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8302752" y="4343400"/>
            <a:ext cx="31912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trustee client (registration + custody in-browser) remains a proposed, unimplemented design — today's trustee flow is a Python/CLI client.</a:t>
            </a:r>
            <a:endParaRPr lang="en-US" sz="930" dirty="0"/>
          </a:p>
        </p:txBody>
      </p:sp>
      <p:sp>
        <p:nvSpPr>
          <p:cNvPr id="34" name="Shape 26"/>
          <p:cNvSpPr/>
          <p:nvPr/>
        </p:nvSpPr>
        <p:spPr>
          <a:xfrm>
            <a:off x="548640" y="5120640"/>
            <a:ext cx="3593592" cy="1691640"/>
          </a:xfrm>
          <a:prstGeom prst="roundRect">
            <a:avLst>
              <a:gd name="adj" fmla="val 4865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49808" y="5303520"/>
            <a:ext cx="365760" cy="365760"/>
          </a:xfrm>
          <a:prstGeom prst="ellipse">
            <a:avLst/>
          </a:prstGeom>
          <a:solidFill>
            <a:srgbClr val="3A2F14"/>
          </a:solidFill>
          <a:ln/>
        </p:spPr>
      </p:sp>
      <p:pic>
        <p:nvPicPr>
          <p:cNvPr id="36" name="Image 6" descr="/home/claude/shardic_deck/icons/aler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590" y="5391302"/>
            <a:ext cx="190195" cy="19019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49808" y="5779008"/>
            <a:ext cx="3191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build path not yet verified on real hardware.</a:t>
            </a:r>
            <a:endParaRPr lang="en-US" sz="1100" dirty="0"/>
          </a:p>
        </p:txBody>
      </p:sp>
      <p:sp>
        <p:nvSpPr>
          <p:cNvPr id="38" name="Text 29"/>
          <p:cNvSpPr/>
          <p:nvPr/>
        </p:nvSpPr>
        <p:spPr>
          <a:xfrm>
            <a:off x="749808" y="6217920"/>
            <a:ext cx="31912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CLI, GUI, and AppImage builds are independently verified; Windows verification is a tracked open item.</a:t>
            </a:r>
            <a:endParaRPr lang="en-US" sz="930" dirty="0"/>
          </a:p>
        </p:txBody>
      </p:sp>
      <p:sp>
        <p:nvSpPr>
          <p:cNvPr id="39" name="Text 30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1000" dirty="0"/>
          </a:p>
        </p:txBody>
      </p:sp>
      <p:sp>
        <p:nvSpPr>
          <p:cNvPr id="40" name="Text 31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1920240"/>
            <a:ext cx="7589520" cy="0"/>
          </a:xfrm>
          <a:prstGeom prst="line">
            <a:avLst/>
          </a:prstGeom>
          <a:noFill/>
          <a:ln w="12700">
            <a:solidFill>
              <a:srgbClr val="5B6E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2194560"/>
            <a:ext cx="9418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“Math beats policies and permissions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enforcement.”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286000" y="379476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recovery below D trustees is enforced by mathematics — not bypassable by any administrator, insider, or software defect in the recovery tool itself.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0" y="4892040"/>
            <a:ext cx="7589520" cy="0"/>
          </a:xfrm>
          <a:prstGeom prst="line">
            <a:avLst/>
          </a:prstGeom>
          <a:noFill/>
          <a:ln w="12700">
            <a:solidFill>
              <a:srgbClr val="5B6E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512064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github.com/splashd1/shardic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544068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 · Sharded Encryption for Threshold-Recoverable Vaults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2026-07-22T03:35:40Z</dcterms:created>
  <dcterms:modified xsi:type="dcterms:W3CDTF">2026-07-22T03:35:40Z</dcterms:modified>
</cp:coreProperties>
</file>