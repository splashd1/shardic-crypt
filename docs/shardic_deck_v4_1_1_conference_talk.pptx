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[0:00] Title. Introduce yourself in one sentence. Promise: a live demo, the math from first principles, and where it goes next — including human-AI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[0:00–0:04] Frame via a real incident class — insider risk, one compromised credential — not abstractly. Pick a recent public example suited to the audience. Point: every one of these had policy saying 'no one should do this alone.' Nothing in the crypto enforced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thesis in one slide.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[0:04–0:10] Switch to a real terminal — not slides. Create T=5, D=3 on demo/sample-secret; show the single .krypt file; recover with three codewords in shuffled order; show a mistyped codeword being rejected; show that two codewords never produce output. Finish with diff -r. Fallback: recorded run if venue AV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[0:10] Ask the room: how would you split a key among five people? Most will say chunks or XOR. Both are all-or-nothing — you can't ask for 'any 3 of 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[0:11] The secret is where the line crosses the axis. One point: infinitely many lines, every secret possible. Two points: one line, one crossing. For D = 3, a parabola. For D, a degree D-1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[0:13] Constant term is the secret; shards are points; Lagrange interpolation at x = 0 recovers it. Mirrors docs/sss_explained_for_shardic.md.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The key slide. Not 'hard to break' — nothing to break. Relevant to the post-quantum conversation: no computational assumption to erode.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[0:17] Reals bring fractions and rounding that corrupt the secret. GF(256): exact, one element per byte, AES's own field. The side effect: at most 255 shards — an operational ceiling that real deployments never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[0:18] SSS never touches the bulk data — AES-256-GCM encrypts the archive once; Shamir splits only the 32-byte DEK. Then the step people skip: a raw Shamir point is just data, so D of them stored in the clear would rebuild the key with nobody's cooperation. Each shard is sealed under its own shardic encryption key — a codeword through Argon2id today, or a full-strength key by envelope. Finally, the .krypt file carries no trustee map: records are opaque and shuffled, and recovery tries every codeword against every record — the GCM auth tag confirms the match. With T in the tens that's instant, and the file reveals nothing about who holds what. This is what takeaway 2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Some roles must always sign off — an executor, a security lead. shardic-prime layers a one-time-pad mask over the ordinary split: the prime trustee holds the mask, the pool holds Shamir shards of the masked key. Every pool shard together still yields only random noise; the mask alone yields nothing. So the prime is mathematically essential, not just required by policy. Plant the payoff: the mask is just a value — nothing says a person has to hold it. Hold that thought for Level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Answer the challenge before someone asks it. The DEK and the Shamir split are effectively unconditional. Each codeword is only computationally strong — guess space times KDF cost — and a higher D doesn't compensate, because an attacker cracks codewords one at a time, never the set at once. Two knobs; neither substitutes for the other. And for high-assurance ceremonies you skip the codeword entirely. Numbers are on the backup slide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[0:24–0:25] Credibility: be explicit. Levels 1 and 2 are running code. Level 3 is a design proposal built on the same unmodified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[0:25–0:27] What makes Level 2 more than a CLI. Registration: trustees come from a dedicated Keycloak group and generate their own keypairs on their own devices — the private key never touches a server shardic controls. Formation: an operator with the shardic-operator role picks T trustees plus an ordered backup list; declines and timeouts backfill automatically, race-safe; and the operator can't pick themselves. Delivery: each trustee fetches their own wrapped envelope, addressed by authenticated identity (a single-read drop point is designed but not built yet — say so if asked). Recovery: the combiner only ever receives unsealed shards, never a codeword. The organizing principle: a compromised identity provider or a stalled ceremony can block provisioning, but neither can weaken D-of-T.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[0:27] The plaintext never had to be a file. A SPAC is any enabling value: a signing key, a release-enable code. The Fielded Prime Element reuses shardic-prime's mask so a copied CT SPAC plus a legitimate quorum still fails on the wrong hardware. Precedent: Permissive Action Links, Two-Person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[0:29] Walk the five stages. Contrast with the as-is: two web-app approvals that one compromised admin or two coerced officers can fake. Here, three of five officers plus the appliance's own hardware plus an on-site key-switch — and the controller's commitment is checked at arming. Point out why the approver exists: AES-GCM guarantees the CT SPAC decrypts to exactly what went in, but says nothing about whether what went in was the right value. A stale or substituted value would sail through — so an approver independent of whoever wraps it signs a commitment, checked thoroughly at emplacement and quickly at every arming.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[0:31] The same D-of-T rule, pointed either way by trustee-class assignment. AI-initiated action needs independent human sign-off — no prompt or internal state rebuilds a key that doesn't exist. Human-initiated action needs an independent AI evaluator's attestation against allow-listed criteria — no seniority or urgency talks it out of failing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[0:33] A single Shamir split can't express 'all three AI checks AND any two humans.' Use separate gates or a vetted access-structure scheme, combined by an explicit AND, verified server-side — and treat that composition logic as security-critical: deny by default, and test missing, stale, duplicate, invalid, and wrong-role contributions. The AI is a bounded evaluator — never an autonomous authority, never able to waive the human threshold. Walk the rules box: authenticate and audit what it reads and which policy it ran; its attestation expires; ambiguous or conflicting evidence fails closed; and for irreversible actions it shouldn't be the only thing enabling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The most important idea after the math itself. Below-threshold recovery is a cryptographic guarantee. Whether the system ever invokes the ceremony is a topological property of the surrounding design — a second code path, a config flag, or a maintenance mode can reach the end state without it. Four patterns bind the ceremony into the execution path, weakest to strongest. The software patterns reduce risk, but a privileged insider who can edit that code can route around them. Only the hardware-anchored patterns reach the same bar as the math, because bypassing them means breaking the hardware boundary or physically defeating a circuit. Real deployments layer several; the composite is only as strong as its weakest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[0:37] NEAT names what the previous slide implies. It extends the classic reference-monitor requirements (tamperproof, always invoked, small enough to verify). It's a deployment framework, not a cryptographic one — meeting it doesn't make the math stronger, it makes the system around the math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[0:39–0:41] Say this out loud. Frequent or live authorization, per-trustee revocation, online quorum and key rotation: use FROST or HSM-backed multisig. shardic is for rare, high-stakes, deliberate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[0:41–0:43] The second half of the credibility section: each of these is a boundary the deployment has to own, not a flaw in the threshold guarantee. SPAC's open parameters are integration decisions, not open cryptographic questions. AI-trustee data feeds need multi-source authentication designed per deployment. The creator's deletion is an operational assumption the cryptography can't enforce. Reconstruction records contributions; it doesn't prove who or why. And the one-file design trades availability risk for simplicity — back it up durably.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CFP 'attendees will learn'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[0:43–0:45] Repo link, README use-case catalog, and how to reach the project for integration conversations. Then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slide 12. The 256-bit comparison measures the wrong thing: the DEK layer faces an unbounded, global keyspace search with nothing else in the way; a codeword faces someone holding one stolen record, searching a bounded, memory-hard space, and success yields one D-of-T point — worthless below threshold. Even at a deliberately impossible 10^12 Argon2id guesses per second, exhausting 2^100 takes ~1.3×10^18 seconds — tens of billions of years — and that guess rate implies ~250 exabytes per second of memory bandwidth. More words or higher Argon2id cost is still worthwhile headroom, not a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slide 12. The task is long-term retention through rehearsal, not one-shot recall — Miller's 'seven plus or minus two' is about working memory and doesn't describe a standing trustee. Diceware recommends six words as standard and ten for 10+ year use; eight sits inside that range, and real words become a mental sentence. BIP39's 'write it down' advice answers a harder question: three times the words, zero error tolerance, silent catastrophic failure, and one holder who must recall 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Backup, for 'who would actually use this?' Every case shares the shape: policy or regulation already says no single party should decrypt this alone, and access is rare and deliberate rather than routine. Full catalog in the white paper's use-case section and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the SPAC section. Target recovery time is a per-deployment parameter. Pre-forming the ceremony is the biggest lever — it moves select/invite/accept out of the clock entirely. Network delivery is near-instant; physical carriage is minutes to days, so air-gap independence and a tight recovery time largely exclude each other. A single operator and custodian are fast, but an unreachable one is a single point of availability failure — on-call backups fix that without adding authorizers. None of this reduces how many parties the cryptography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CONFERENCE TALK  ·  45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Splitting Trust, Not Just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  <a:latin typeface="Calibri"/>
              </a:rPr>
              <a:t>Threshold recoverability by construction, not by policy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02336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2" y="4159422"/>
            <a:ext cx="294802" cy="29480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00200" y="402336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1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262" y="4159422"/>
            <a:ext cx="294802" cy="29480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377440" y="402336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4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502" y="415942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EB9DC"/>
                </a:solidFill>
                <a:latin typeface="Calibri"/>
              </a:rPr>
              <a:t>John Davis  ·  Venue and date TBD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9DC"/>
                </a:solidFill>
                <a:latin typeface="Calibri"/>
              </a:rPr>
              <a:t>github.com/splashd1/shardic-crypt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It only took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509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compromised credential, coerced admin, or rogue insider — that's all a conventional key-custody design needs to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57784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09360" y="192024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422" y="205630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Insider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Trusted, authorized, acting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035808"/>
            <a:ext cx="557784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309360" y="3401568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2" y="3537630"/>
            <a:ext cx="294802" cy="2948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20" y="33101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Credential theft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72160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account, full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517136"/>
            <a:ext cx="557784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09360" y="488289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-12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422" y="5018958"/>
            <a:ext cx="294802" cy="2948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0" y="479145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Coercion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029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person under pressure.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B6B8C"/>
                </a:solidFill>
                <a:latin typeface="Calibri"/>
              </a:rPr>
              <a:t>Policy said "no one does this alone." Nothing in the cryptography agreed.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Make "no single party can decrypt this alone" a mathematical fact — not a policy 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Encrypt once. Split the key into T shards. Any D recover it. Fewer than D hold zero information about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Create 3-of-5. Recover with 3. Fail with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6766560" cy="438912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62179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python3 vault_create.py --input demo/sample-secret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--trustees 5 --threshold 3 --outdir ./v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Split DEK into 5 shards, threshold 3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Wrote vault container: pzzsrzg30y9z0pwv.krypt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python3 vault_recover.py v/*.krypt --outdir ./r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--word &lt;t1&gt; --word &lt;t3&gt; --word &lt;t5&gt;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(1/3).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(2/3).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(3/3).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Success.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diff -r demo/sample-secret r/sample-secret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645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855" y="17688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1618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One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8424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Show the .krypt — no trustee map inside.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31089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855" y="323185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30815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Any three, any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4728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Shuffle the codewords on purpose.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45720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7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855" y="469489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12480" y="45445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Wrong or too few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1032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Rejected by the auth tag; nothing written.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The obvious answer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Chunks or XOR shares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Hide the key from anyone short of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all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pieces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Reconstruction needs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every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piece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Lose one trustee → key gone forever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we want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1" i="0">
                <a:solidFill>
                  <a:srgbClr val="CADCFC"/>
                </a:solidFill>
                <a:latin typeface="Calibri"/>
              </a:rPr>
              <a:t>Any D of T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reconstruct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1" i="0">
                <a:solidFill>
                  <a:srgbClr val="CADCFC"/>
                </a:solidFill>
                <a:latin typeface="Calibri"/>
              </a:rPr>
              <a:t>Fewer than D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learn nothing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Lose up to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T − D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and still recover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That's a threshold scheme — and Adi Shamir solved it in 1979 with one fact from high-school algebra.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Two points fix a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6858000" cy="3221946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ss-geometric-intu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6583680" cy="29476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645920"/>
            <a:ext cx="38404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B6B8C"/>
                </a:solidFill>
                <a:latin typeface="Calibri"/>
              </a:rPr>
              <a:t>Secret = where the line </a:t>
            </a:r>
            <a:r>
              <a:rPr sz="1700" b="1" i="0">
                <a:solidFill>
                  <a:srgbClr val="5B6B8C"/>
                </a:solidFill>
                <a:latin typeface="Calibri"/>
              </a:rPr>
              <a:t>crosses the axis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.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B8C"/>
                </a:solidFill>
                <a:latin typeface="Calibri"/>
              </a:rPr>
              <a:t>One point: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 infinitely many lines. Every secret equally possible.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B8C"/>
                </a:solidFill>
                <a:latin typeface="Calibri"/>
              </a:rPr>
              <a:t>Two points: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 exactly one line, one crossing.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B8C"/>
                </a:solidFill>
                <a:latin typeface="Calibri"/>
              </a:rPr>
              <a:t>D points</a:t>
            </a:r>
            <a:r>
              <a:rPr sz="1700" b="0" i="0">
                <a:solidFill>
                  <a:srgbClr val="5B6B8C"/>
                </a:solidFill>
                <a:latin typeface="Calibri"/>
              </a:rPr>
              <a:t> fix a curve of degree D − 1.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Now make it precise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75120" cy="219456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6126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D6DEF5"/>
                </a:solidFill>
                <a:latin typeface="Consolas"/>
              </a:rPr>
              <a:t>f(x) = S + a₁x + … + a₍D−1₎x^(D−1)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700" b="0" i="0">
                <a:solidFill>
                  <a:srgbClr val="D6DEF5"/>
                </a:solidFill>
                <a:latin typeface="Consolas"/>
              </a:rPr>
              <a:t>f(0)    = S            # the secret</a:t>
            </a:r>
          </a:p>
          <a:p>
            <a:pPr algn="l">
              <a:spcBef>
                <a:spcPts val="100"/>
              </a:spcBef>
            </a:pPr>
            <a:r>
              <a:rPr sz="1700" b="0" i="0">
                <a:solidFill>
                  <a:srgbClr val="D6DEF5"/>
                </a:solidFill>
                <a:latin typeface="Consolas"/>
              </a:rPr>
              <a:t>shard_i = (i, f(i))    # one per trustee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6675120" cy="14630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Any D shards →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Lagrange interpolation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→ evaluate at x = 0 → S.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169164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73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Random coefficients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a₁ … a₍D−1₎ drawn uniformly at random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301752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01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99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T distinct x-values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4670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1 through T — never 0, that's the secret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0" y="434340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25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Per byte of the DEK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72583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32 independent polynomials over GF(256)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FIRST PRINCIPLES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7B93E"/>
                </a:solidFill>
                <a:latin typeface="Calibri"/>
              </a:rPr>
              <a:t>0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is what D − 1 shards reveal about the secret. Every possible value fits them equally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No partial credit. No "getting warmer." No computational assumption for a quantum computer to erode — the information simply isn't there.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FIRST PRINCIPLES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Why GF(256),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6217920" cy="3514708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gf256-byte-as-poly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5943600" cy="3240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002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1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7627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= one field element. Exact arithmetic, no rounding.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0x11B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9359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AES's own reduction polynomial, generator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4348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255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01091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shards max — 0 is reserved for the secret.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FROM MATH TO A WORKING 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Split the key, seal every shard, ship one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46304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075688" cy="17830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Archive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16352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Pack the input into one uncompressed tar.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146304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4630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2194560"/>
            <a:ext cx="2075688" cy="17830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08376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Encrypt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816352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AES-256-GCM under a random 256-bit DEK.</a:t>
            </a:r>
          </a:p>
        </p:txBody>
      </p:sp>
      <p:sp>
        <p:nvSpPr>
          <p:cNvPr id="16" name="Oval 15"/>
          <p:cNvSpPr/>
          <p:nvPr/>
        </p:nvSpPr>
        <p:spPr>
          <a:xfrm>
            <a:off x="5843016" y="146304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4630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194560"/>
            <a:ext cx="2075688" cy="17830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6944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Split the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816352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Shamir splits only the 32-byte DEK into T shards.</a:t>
            </a:r>
          </a:p>
        </p:txBody>
      </p:sp>
      <p:sp>
        <p:nvSpPr>
          <p:cNvPr id="21" name="Oval 20"/>
          <p:cNvSpPr/>
          <p:nvPr/>
        </p:nvSpPr>
        <p:spPr>
          <a:xfrm>
            <a:off x="8101583" y="146304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14630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2194560"/>
            <a:ext cx="2075688" cy="17830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25512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Seal each shard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816352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Under its own shardic encryption key, e.g. codeword → Argon2id.</a:t>
            </a:r>
          </a:p>
        </p:txBody>
      </p:sp>
      <p:sp>
        <p:nvSpPr>
          <p:cNvPr id="26" name="Oval 25"/>
          <p:cNvSpPr/>
          <p:nvPr/>
        </p:nvSpPr>
        <p:spPr>
          <a:xfrm>
            <a:off x="10360152" y="146304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0152" y="14630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2" y="2194560"/>
            <a:ext cx="2075688" cy="17830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408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One .krypt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816352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Header, metadata, ciphertext. Safe to share.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5196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6E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4251960"/>
            <a:ext cx="493776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3A2F14"/>
                </a:solidFill>
                <a:latin typeface="Calibri"/>
              </a:rPr>
              <a:t>A raw shard is just data.</a:t>
            </a:r>
          </a:p>
          <a:p>
            <a:pPr algn="l">
              <a:spcBef>
                <a:spcPts val="600"/>
              </a:spcBef>
            </a:pPr>
            <a:r>
              <a:rPr sz="1450" b="0" i="0">
                <a:solidFill>
                  <a:srgbClr val="3A2F14"/>
                </a:solidFill>
                <a:latin typeface="Calibri"/>
              </a:rPr>
              <a:t>D raw Shamir points stored in the clear would rebuild the key with nobody's cooperation — so every shard is sealed before it's stored.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25196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D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46520" y="4251960"/>
            <a:ext cx="493776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1D5B35"/>
                </a:solidFill>
                <a:latin typeface="Calibri"/>
              </a:rPr>
              <a:t>No map inside the file.</a:t>
            </a:r>
          </a:p>
          <a:p>
            <a:pPr algn="l">
              <a:spcBef>
                <a:spcPts val="600"/>
              </a:spcBef>
            </a:pPr>
            <a:r>
              <a:rPr sz="1450" b="0" i="0">
                <a:solidFill>
                  <a:srgbClr val="1D5B35"/>
                </a:solidFill>
                <a:latin typeface="Calibri"/>
              </a:rPr>
              <a:t>Records are opaque and shuffled. Recovery tries each codeword against every record; GCM's auth tag confirms the match.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EXTENDING THE TEXTBOOK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shardic-prime: one trustee the math can't do without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852160" cy="237744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3035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DEF5"/>
                </a:solidFill>
                <a:latin typeface="Consolas"/>
              </a:rPr>
              <a:t>mask          = random bytes, len(DEK)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masked_secret = DEK XOR mask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pool_shards   = split(masked_secret,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                      pool_threshold, pool_size)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DEK = reconstruct(pool_shards) XOR mask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852160" cy="1737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441655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Nothing new to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798568"/>
            <a:ext cx="5303520" cy="916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Each half keeps the information-theoretic guarantee. All pool shards without the mask rebuild only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554480"/>
            <a:ext cx="4846320" cy="3208187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4572000" cy="29338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766560" y="489204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489204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mask is just a value — so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hardware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can hold it. Remember that for Level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QUESTION YOU SHOULD BE 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So is the real security just the codewords?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21708" y="182880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1708" y="1828800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UNCONDITIONAL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length &amp; Shamir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256-bit DEK, no known AES-256 shortcut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Below D: zero information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Raising T or D changes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how many must collude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45267" y="182880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145267" y="1828800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COMPUTATIONAL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Each codeword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Only as strong as its guess space × KDF cost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Attacker cracks codewords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one at a time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More trustees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don't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fix a weak codeword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Yes — the codeword is the floor. Default: 8 EFF words ≈ 103 bits, Argon2id at 256 MiB per guess. For high-assurance ceremonies, replace it with a full-strength random key delivered by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shardic envelope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— parity with the 256-bit DEK.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IMPLEMENTED VS. 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Where the line is — stated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59" y="18105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RUNNING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Level 1 · Personal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CLI + GUI, no server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Codewords + one .krypt file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shardic-prime mandatory trustee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1999" y="18105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1999" y="181051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RUNNING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Level 2 · Shardic ceremony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97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Public-key-wrapped delivery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Keycloak-backed trustee selection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Automatic backfill on decline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21040" y="1810512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DESIGN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Level 3 · SPAC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97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Gate any consequential action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Bound to one Fielded Prime Element</a:t>
            </a:r>
          </a:p>
          <a:p>
            <a:pPr algn="l" marL="201168" indent="-201168">
              <a:spcBef>
                <a:spcPts val="6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Human-AI mutual oversight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Each level reuses the one below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unchanged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 Level 3 adds no new cryptography.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LEVEL 2  ·  RUNNING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The ceremony: identity, custody, and math kept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111495" cy="4480559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eremony-envelope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837175" cy="42062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35040" y="1572768"/>
            <a:ext cx="438912" cy="438912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57276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B4D"/>
                </a:solidFill>
                <a:latin typeface="Calibri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56231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B8C"/>
                </a:solidFill>
                <a:latin typeface="Calibri"/>
              </a:rPr>
              <a:t>Trustees generate keypairs on their own devices. Keycloak handles identity — never keys.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2505456"/>
            <a:ext cx="438912" cy="438912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5054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87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B4D"/>
                </a:solidFill>
                <a:latin typeface="Calibri"/>
              </a:rPr>
              <a:t>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8892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B8C"/>
                </a:solidFill>
                <a:latin typeface="Calibri"/>
              </a:rPr>
              <a:t>An operator picks T trustees plus ordered backups. Declines backfill automatically; the operator can't pick themselves.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3438144"/>
            <a:ext cx="438912" cy="438912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4381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419856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B4D"/>
                </a:solidFill>
                <a:latin typeface="Calibri"/>
              </a:rPr>
              <a:t>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21608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B8C"/>
                </a:solidFill>
                <a:latin typeface="Calibri"/>
              </a:rPr>
              <a:t>Each trustee fetches their own wrapped envelope, addressed by authenticated identity.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4370831"/>
            <a:ext cx="438912" cy="438912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370831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52544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B4D"/>
                </a:solidFill>
                <a:latin typeface="Calibri"/>
              </a:rPr>
              <a:t>Recover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54296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B8C"/>
                </a:solidFill>
                <a:latin typeface="Calibri"/>
              </a:rPr>
              <a:t>The combiner only ever sees unsealed shards — never a codeword.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534924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55079" y="5349240"/>
            <a:ext cx="493775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A compromised identity provider can stall provisioning — it can't weaken D-of-T.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WHERE IT GENERALIZES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From protected file to protected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PT SPAC → CT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2971800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Any enabling value — a signing credential, a release-enable code — encrypted and split exactly like a file's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200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Fielded Prime Element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69184"/>
            <a:ext cx="2971800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 hardware-sealed secret takes the prime trustee's slot. Copy the ciphertext elsewhere and a full quorum still fails.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Old idea, new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3017520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Permissive Action Links and Two-Person Integrity, enforced by the math instead of procedure.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" y="5212080"/>
            <a:ext cx="105156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DEF5"/>
                </a:solidFill>
                <a:latin typeface="Consolas"/>
              </a:rPr>
              <a:t>DEK     = reconstruct_secret_with_prime(mask, pool_shards)   # unmodified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CT_SPAC = AES-256-GCM(PT_SPAC, DEK)                          # unmodified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ONE VIGNETTE,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A high-value treasury wire, start to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Controller validates the signing key and signs a commitment.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08376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Emplace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Wrap as CT SPAC; split across 5 officers + the HSM appliance.</a:t>
            </a:r>
          </a:p>
        </p:txBody>
      </p:sp>
      <p:sp>
        <p:nvSpPr>
          <p:cNvPr id="16" name="Oval 15"/>
          <p:cNvSpPr/>
          <p:nvPr/>
        </p:nvSpPr>
        <p:spPr>
          <a:xfrm>
            <a:off x="5843016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6944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Appliance holds only ciphertext — indefinitely.</a:t>
            </a:r>
          </a:p>
        </p:txBody>
      </p:sp>
      <p:sp>
        <p:nvSpPr>
          <p:cNvPr id="21" name="Oval 20"/>
          <p:cNvSpPr/>
          <p:nvPr/>
        </p:nvSpPr>
        <p:spPr>
          <a:xfrm>
            <a:off x="8101583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25512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Convene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3 of 5 respond; compliance authorizes; custodian turns the key.</a:t>
            </a:r>
          </a:p>
        </p:txBody>
      </p:sp>
      <p:sp>
        <p:nvSpPr>
          <p:cNvPr id="26" name="Oval 25"/>
          <p:cNvSpPr/>
          <p:nvPr/>
        </p:nvSpPr>
        <p:spPr>
          <a:xfrm>
            <a:off x="10360152" y="1600200"/>
            <a:ext cx="566928" cy="566928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0152" y="1600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41B4D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2" y="2377440"/>
            <a:ext cx="2075688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4080" y="257860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0175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DEK rebuilds, integrity check passes, wire signs, secrets zeroized.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7200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6E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45720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3A2F14"/>
                </a:solidFill>
                <a:latin typeface="Calibri"/>
              </a:rPr>
              <a:t>As-is:</a:t>
            </a:r>
            <a:r>
              <a:rPr sz="1450" b="0" i="0">
                <a:solidFill>
                  <a:srgbClr val="3A2F14"/>
                </a:solidFill>
                <a:latin typeface="Calibri"/>
              </a:rPr>
              <a:t> two clicks in a web app. One hijacked admin can fake both.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7200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D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46520" y="457200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1D5B35"/>
                </a:solidFill>
                <a:latin typeface="Calibri"/>
              </a:rPr>
              <a:t>shardic-SPAC:</a:t>
            </a:r>
            <a:r>
              <a:rPr sz="1450" b="0" i="0">
                <a:solidFill>
                  <a:srgbClr val="1D5B35"/>
                </a:solidFill>
                <a:latin typeface="Calibri"/>
              </a:rPr>
              <a:t> three genuine shards, this appliance, this key-switch — or nothing.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Why an independent approver? AES-GCM proves the value decrypts to exactly what went in — not that what went in was right.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FLAGSHIP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Human-AI mutual oversight — one rule, both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Humans gate the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4892040" cy="161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An AI proposes a consequential action. It can't execute on its own confidence or speed: below the human threshold, the key </a:t>
            </a:r>
            <a:r>
              <a:rPr sz="1450" b="1" i="0">
                <a:solidFill>
                  <a:srgbClr val="CADCFC"/>
                </a:solidFill>
                <a:latin typeface="Calibri"/>
              </a:rPr>
              <a:t>doesn't exist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 — no prompt or internal state rebuilds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9-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checks the humans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69184"/>
            <a:ext cx="4892040" cy="161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ADCFC"/>
                </a:solidFill>
                <a:latin typeface="Calibri"/>
              </a:rPr>
              <a:t>A coerced or rogue human pushes an action. An independent AI evaluator attests only to allow-listed criteria on authenticated evidence — or </a:t>
            </a:r>
            <a:r>
              <a:rPr sz="1450" b="1" i="0">
                <a:solidFill>
                  <a:srgbClr val="CADCFC"/>
                </a:solidFill>
                <a:latin typeface="Calibri"/>
              </a:rPr>
              <a:t>fails closed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 model in the cryptographic path. Just trustee slots, assigned by class, composed with an explicit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AND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HOW IT COMPOSES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Separate gates, explicit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503186" cy="4800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ybrid-ai-human-policy-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522886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5544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B8C"/>
                </a:solidFill>
                <a:latin typeface="Calibri"/>
              </a:rPr>
              <a:t>One D-of-T split treats all shards as </a:t>
            </a:r>
            <a:r>
              <a:rPr sz="1450" b="1" i="0">
                <a:solidFill>
                  <a:srgbClr val="5B6B8C"/>
                </a:solidFill>
                <a:latin typeface="Calibri"/>
              </a:rPr>
              <a:t>equal peers</a:t>
            </a:r>
            <a:r>
              <a:rPr sz="1450" b="0" i="0">
                <a:solidFill>
                  <a:srgbClr val="5B6B8C"/>
                </a:solidFill>
                <a:latin typeface="Calibri"/>
              </a:rPr>
              <a:t> — it can't say "all AI checks </a:t>
            </a:r>
            <a:r>
              <a:rPr sz="1450" b="1" i="0">
                <a:solidFill>
                  <a:srgbClr val="5B6B8C"/>
                </a:solidFill>
                <a:latin typeface="Calibri"/>
              </a:rPr>
              <a:t>and</a:t>
            </a:r>
            <a:r>
              <a:rPr sz="1450" b="0" i="0">
                <a:solidFill>
                  <a:srgbClr val="5B6B8C"/>
                </a:solidFill>
                <a:latin typeface="Calibri"/>
              </a:rPr>
              <a:t> any two humans."</a:t>
            </a:r>
          </a:p>
          <a:p>
            <a:pPr algn="l">
              <a:spcBef>
                <a:spcPts val="1000"/>
              </a:spcBef>
            </a:pPr>
            <a:r>
              <a:rPr sz="1450" b="0" i="0">
                <a:solidFill>
                  <a:srgbClr val="5B6B8C"/>
                </a:solidFill>
                <a:latin typeface="Calibri"/>
              </a:rPr>
              <a:t>So: </a:t>
            </a:r>
            <a:r>
              <a:rPr sz="1450" b="1" i="0">
                <a:solidFill>
                  <a:srgbClr val="5B6B8C"/>
                </a:solidFill>
                <a:latin typeface="Calibri"/>
              </a:rPr>
              <a:t>separate gates</a:t>
            </a:r>
            <a:r>
              <a:rPr sz="1450" b="0" i="0">
                <a:solidFill>
                  <a:srgbClr val="5B6B8C"/>
                </a:solidFill>
                <a:latin typeface="Calibri"/>
              </a:rPr>
              <a:t>, combined with an explicit AND, verified server-side, deny by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4612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66559" y="3502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 AI trustee is a bounded evaluator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3884167"/>
            <a:ext cx="4572000" cy="2059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250" b="0" i="0">
                <a:solidFill>
                  <a:srgbClr val="CADCFC"/>
                </a:solidFill>
                <a:latin typeface="Calibri"/>
              </a:rPr>
              <a:t>Inputs, policy version, identity, attestation key: authenticated and audited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250" b="0" i="0">
                <a:solidFill>
                  <a:srgbClr val="CADCFC"/>
                </a:solidFill>
                <a:latin typeface="Calibri"/>
              </a:rPr>
              <a:t>Its attestation expires; ambiguous evidence </a:t>
            </a:r>
            <a:r>
              <a:rPr sz="1250" b="1" i="0">
                <a:solidFill>
                  <a:srgbClr val="CADCFC"/>
                </a:solidFill>
                <a:latin typeface="Calibri"/>
              </a:rPr>
              <a:t>fails closed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250" b="0" i="0">
                <a:solidFill>
                  <a:srgbClr val="CADCFC"/>
                </a:solidFill>
                <a:latin typeface="Calibri"/>
              </a:rPr>
              <a:t>Never waives the human quorum — and never the </a:t>
            </a:r>
            <a:r>
              <a:rPr sz="1250" b="1" i="0">
                <a:solidFill>
                  <a:srgbClr val="CADCFC"/>
                </a:solidFill>
                <a:latin typeface="Calibri"/>
              </a:rPr>
              <a:t>sole</a:t>
            </a:r>
            <a:r>
              <a:rPr sz="1250" b="0" i="0">
                <a:solidFill>
                  <a:srgbClr val="CADCFC"/>
                </a:solidFill>
                <a:latin typeface="Calibri"/>
              </a:rPr>
              <a:t> enabler of an irreversible 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CRYPTOGRAPHIC VS. TOPOLOGICAL BYPASS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Can the ceremony simply be skipped?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8C"/>
                </a:solidFill>
                <a:latin typeface="Calibri"/>
              </a:rPr>
              <a:t>The math guarantees fewer than D shards never rebuild the key. It can't guarantee the system ever calls the ceremony.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59" y="2862072"/>
            <a:ext cx="649224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862072"/>
            <a:ext cx="6492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64408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Capability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77639"/>
            <a:ext cx="210312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DCC0"/>
                </a:solidFill>
                <a:latin typeface="Calibri"/>
              </a:rPr>
              <a:t>The ceremony yields a value the end state needs as input — a key, not a yes/no.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33172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657600" y="2587752"/>
            <a:ext cx="649224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57600" y="2587752"/>
            <a:ext cx="6492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90088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Constrained state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03320"/>
            <a:ext cx="210312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DCC0"/>
                </a:solidFill>
                <a:latin typeface="Calibri"/>
              </a:rPr>
              <a:t>No edge in the operating sequence reaches the end state except through the ceremony.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5740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492240" y="2313432"/>
            <a:ext cx="493776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2313432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15768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Secure-element sequencing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210312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The hardware performs the end-state action itself; software only sees the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7830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326880" y="2039112"/>
            <a:ext cx="726948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0" y="2039112"/>
            <a:ext cx="7269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HIGHEST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41448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Physical interlock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154680"/>
            <a:ext cx="2103120" cy="173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The actuation circuit stays open until the ceremony closes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120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6E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3A2F14"/>
                </a:solidFill>
                <a:latin typeface="Calibri"/>
              </a:rPr>
              <a:t>Software-enforced:</a:t>
            </a:r>
            <a:r>
              <a:rPr sz="1350" b="0" i="0">
                <a:solidFill>
                  <a:srgbClr val="3A2F14"/>
                </a:solidFill>
                <a:latin typeface="Calibri"/>
              </a:rPr>
              <a:t> reduces risk — but whoever can edit that code can route around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2120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D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46520" y="52120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D5B35"/>
                </a:solidFill>
                <a:latin typeface="Calibri"/>
              </a:rPr>
              <a:t>Hardware-anchored:</a:t>
            </a:r>
            <a:r>
              <a:rPr sz="1350" b="0" i="0">
                <a:solidFill>
                  <a:srgbClr val="1D5B35"/>
                </a:solidFill>
                <a:latin typeface="Calibri"/>
              </a:rPr>
              <a:t> bypass means breaking the hardware boundary. Proof grade.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BEYOND THE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NEAT: what a critical deployment still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Non-bypassable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The ceremony is the only path to the end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57600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Evaluable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Small and standard enough to verify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92240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Always-invoked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No admin override, debug flag, or maintenance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0" y="1810512"/>
            <a:ext cx="685800" cy="6858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810512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Tamper-proof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546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Subverting it means breaking the hardware boundary.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deployment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bar, not a cryptographic one: it doesn't make the math stronger — it makes the system around the math trustworthy.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CREDIBILITY OVER HYPE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Where shardic doesn't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1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2" y="1964862"/>
            <a:ext cx="294802" cy="2948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87451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Frequent or live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5000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Built for rare break-glass events, not every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1964862"/>
            <a:ext cx="294802" cy="2948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87451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Revoking one trustee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5000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It's split-once: changing trustees means a full re-split.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7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68680" y="393192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" y="4067982"/>
            <a:ext cx="294802" cy="2948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397763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Online quorum &amp; key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5312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Use threshold signatures (FROST) or HSM-backed multisig.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1187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3931920"/>
            <a:ext cx="566928" cy="566928"/>
          </a:xfrm>
          <a:prstGeom prst="ellipse">
            <a:avLst/>
          </a:prstGeom>
          <a:solidFill>
            <a:srgbClr val="5A4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02" y="4067982"/>
            <a:ext cx="294802" cy="2948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3977639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Hundreds of trustees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45312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DCC0"/>
                </a:solidFill>
                <a:latin typeface="Calibri"/>
              </a:rPr>
              <a:t>GF(256) caps at 255 — real ceremonies run in the tens.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B6B8C"/>
                </a:solidFill>
                <a:latin typeface="Calibri"/>
              </a:rPr>
              <a:t>Rare, high-stakes, offline, small trustee set, shareable vault file — that's the sweet spot.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CREDIBILITY OVER HYPE  ·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What the math doesn't do on its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002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17230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1463040"/>
            <a:ext cx="9784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41B4D"/>
                </a:solidFill>
                <a:latin typeface="Calibri"/>
              </a:rPr>
              <a:t>Practical SPAC design parameters (hardware target, grant wire format) will be driven by target operational and security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8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532888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9-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395728"/>
            <a:ext cx="9784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41B4D"/>
                </a:solidFill>
                <a:latin typeface="Calibri"/>
              </a:rPr>
              <a:t>How AI trustees get trustworthy, authenticated input data is implementation specific.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28416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3465576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12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" y="3328416"/>
            <a:ext cx="9784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41B4D"/>
                </a:solidFill>
                <a:latin typeface="Calibri"/>
              </a:rPr>
              <a:t>The guarantee requires the creator deleted the plaintext and all copies.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61104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398264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-8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35" y="4521159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261104"/>
            <a:ext cx="9784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41B4D"/>
                </a:solidFill>
                <a:latin typeface="Calibri"/>
              </a:rPr>
              <a:t>Reconstruction is a functional protection. Identity or intent, or non-repudiation, if needed, need to integrate other mechanisms.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93792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7240" y="5330952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35" y="5453847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54480" y="5193792"/>
            <a:ext cx="9784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41B4D"/>
                </a:solidFill>
                <a:latin typeface="Calibri"/>
              </a:rPr>
              <a:t>The single .krypt file is a conscious availability risk tradeoff, though not an access risk.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TAKE THESE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B4D"/>
                </a:solidFill>
                <a:latin typeface="Calibri"/>
              </a:rPr>
              <a:t>Threshold, not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Shamir turns "split a secret" into a real D-of-T threshold — and below D, zero information.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358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B4D"/>
                </a:solidFill>
                <a:latin typeface="Calibri"/>
              </a:rPr>
              <a:t>It runs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66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A working reference implementation, down to a vault file that leaks no shard-to-trustee mapping.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98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1B4D"/>
                </a:solidFill>
                <a:latin typeface="Calibri"/>
              </a:rPr>
              <a:t>It generalizes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Gate any consequential action — and enforce human-AI oversight in both directions.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Math beats policies and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918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97280" y="35661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75" y="3689055"/>
            <a:ext cx="266273" cy="26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358444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Run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github.com/splashd1/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CADCFC"/>
                </a:solidFill>
                <a:latin typeface="Calibri"/>
              </a:rPr>
              <a:t>shardic-crypt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918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09160" y="35661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055" y="368905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0680" y="358444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40233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White paper v4.1 · public-education explainer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918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21040" y="356616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368905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60" y="358444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Build with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2336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Integration conversations welcome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AEB9DC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BACKUP  ·  IF ASKED ABOUT CODEWORD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Is ~2^100 enough when the DEK is 2^256?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~103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8 words from the EFF long wordlist, ~12.9 bits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256 MiB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9359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Argon2id memory per guess (time cost 4, parallelism 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~10^18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5663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to exhaust 2^100 at an impossible 10^12 guesses/s — tens of billions of years.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760720" cy="19202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480" y="181051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DEK / AES-256-GCM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2528"/>
            <a:ext cx="5212080" cy="1099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Attacker holds only ciphertext. Full, unstructured 256-bit keyspace, nothing else in the way — so it must be unconditionally strong.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657600"/>
            <a:ext cx="5760720" cy="19202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0" y="391363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Codeword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295648"/>
            <a:ext cx="5212080" cy="1099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Attacker holds one stolen shard record. Bounded, memory-hard search — and success buys one D-of-T point, worthless below 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7607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B6B8C"/>
                </a:solidFill>
                <a:latin typeface="Calibri"/>
              </a:rPr>
              <a:t>10^12 guesses/s × 256 MiB ≈ 250 EB/s of memory bandwidth — not a plausible attacker.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BACKUP  ·  IF ASKED WHETHER PEOPLE CAN REMEMBER EIGHT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Can a trustee really hold eight words?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4805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B8C"/>
                </a:solidFill>
                <a:latin typeface="Calibri"/>
              </a:rPr>
              <a:t>Rehearsed, not recited once.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Like a PIN or alarm code — not Miller's 7 ± 2, which is about working memory.</a:t>
            </a:r>
          </a:p>
          <a:p>
            <a:pPr algn="l">
              <a:spcBef>
                <a:spcPts val="1400"/>
              </a:spcBef>
            </a:pPr>
            <a:r>
              <a:rPr sz="1500" b="1" i="0">
                <a:solidFill>
                  <a:srgbClr val="5B6B8C"/>
                </a:solidFill>
                <a:latin typeface="Calibri"/>
              </a:rPr>
              <a:t>Inside Diceware's range.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Six words standard, ten for 10+ year use.</a:t>
            </a:r>
          </a:p>
          <a:p>
            <a:pPr algn="l">
              <a:spcBef>
                <a:spcPts val="1400"/>
              </a:spcBef>
            </a:pPr>
            <a:r>
              <a:rPr sz="1500" b="1" i="0">
                <a:solidFill>
                  <a:srgbClr val="5B6B8C"/>
                </a:solidFill>
                <a:latin typeface="Calibri"/>
              </a:rPr>
              <a:t>Real words carry meaning.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Eight become one short mental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554480"/>
            <a:ext cx="6217920" cy="50292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60920" y="1554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BIP39 seed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554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shardic codeword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148840"/>
            <a:ext cx="6217920" cy="77724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532120" y="2148840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B4D"/>
                </a:solidFill>
                <a:latin typeface="Calibri"/>
              </a:rPr>
              <a:t>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488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A2F14"/>
                </a:solidFill>
                <a:latin typeface="Calibri"/>
              </a:rPr>
              <a:t>12–24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1488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5B35"/>
                </a:solidFill>
                <a:latin typeface="Calibri"/>
              </a:rPr>
              <a:t>8 words (~103 bits)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017520"/>
            <a:ext cx="6217920" cy="77724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32120" y="3017520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B4D"/>
                </a:solidFill>
                <a:latin typeface="Calibri"/>
              </a:rPr>
              <a:t>Wrong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01752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A2F14"/>
                </a:solidFill>
                <a:latin typeface="Calibri"/>
              </a:rPr>
              <a:t>Silently derives a different 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01752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5B35"/>
                </a:solidFill>
                <a:latin typeface="Calibri"/>
              </a:rPr>
              <a:t>Auth tag rejects it; retry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886200"/>
            <a:ext cx="6217920" cy="77724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32120" y="3886200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B4D"/>
                </a:solidFill>
                <a:latin typeface="Calibri"/>
              </a:rPr>
              <a:t>Cost of a mistake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8862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A2F14"/>
                </a:solidFill>
                <a:latin typeface="Calibri"/>
              </a:rPr>
              <a:t>Total, often undetected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8862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5B35"/>
                </a:solidFill>
                <a:latin typeface="Calibri"/>
              </a:rPr>
              <a:t>A failed match, nothing lost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754879"/>
            <a:ext cx="6217920" cy="77724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32120" y="4754879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B4D"/>
                </a:solidFill>
                <a:latin typeface="Calibri"/>
              </a:rPr>
              <a:t>Who must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754879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3A2F14"/>
                </a:solidFill>
                <a:latin typeface="Calibri"/>
              </a:rPr>
              <a:t>One holder, alone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754879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5B35"/>
                </a:solidFill>
                <a:latin typeface="Calibri"/>
              </a:rPr>
              <a:t>Any D of T trustees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7150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BIP39's caution is right for its problem. It doesn't carry over to this 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BACKUP  ·  WHERE IT APPLIES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Rare, high-stakes, no lone 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1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0597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185623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Break-glass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Root CA key, database master key, SCADA override — T = 7, D = 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08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1999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0597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57799" y="185623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Estate &amp; succession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6888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 password manager's master vault split among family, lawyer, partner — T = 5, D = 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08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0597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06840" y="185623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Government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Generalized two-person rule, continuity-of-government credentials, election tabulation keys.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2959" y="402335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855" y="414625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8760" y="409651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Escrow &amp; disputes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709159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M&amp;A documents released only by a quorum of board, counsel, and escrow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749039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571999" y="402335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-2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895" y="4146255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57799" y="409651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Treasury cold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4709159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Root key material behind a multisig wallet — no single executive moves funds.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749039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321040" y="402335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-9-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3935" y="4146255"/>
            <a:ext cx="266273" cy="2662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06840" y="409651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Separation of duties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09159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SOX, HIPAA "minimum necessary" — enforced by the math, not just policy.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BACKUP  ·  IF ASKED HOW FAST A CEREMONY CAN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Latency is a CONOPS choice, not a fixed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Conference Talk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Pre-form the ceremony before it's needed: hours of select-invite-accept become seconds to minutes. The biggest lever.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199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199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Shard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Network: near-instant. Physical carriage: minutes to days. Air-gap independence and a tight recovery time rarely coexist.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13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operator, one custodian — fast. On-call backups protect availability without adding authorizers.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Speed comes from pre-positioning inputs you already need —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never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from needing fewer of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