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300" r:id="rId5"/>
    <p:sldId id="301" r:id="rId6"/>
    <p:sldId id="302" r:id="rId7"/>
    <p:sldId id="303" r:id="rId8"/>
    <p:sldId id="304" r:id="rId9"/>
    <p:sldId id="330" r:id="rId35"/>
    <p:sldId id="305" r:id="rId10"/>
    <p:sldId id="306" r:id="rId11"/>
    <p:sldId id="307" r:id="rId12"/>
    <p:sldId id="308" r:id="rId13"/>
    <p:sldId id="331" r:id="rId36"/>
    <p:sldId id="309" r:id="rId14"/>
    <p:sldId id="310" r:id="rId15"/>
    <p:sldId id="311" r:id="rId16"/>
    <p:sldId id="312" r:id="rId17"/>
    <p:sldId id="313" r:id="rId18"/>
    <p:sldId id="314" r:id="rId22"/>
    <p:sldId id="315" r:id="rId23"/>
    <p:sldId id="316" r:id="rId24"/>
    <p:sldId id="317" r:id="rId25"/>
    <p:sldId id="318" r:id="rId26"/>
    <p:sldId id="326" r:id="rId31"/>
    <p:sldId id="328" r:id="rId33"/>
    <p:sldId id="329" r:id="rId34"/>
    <p:sldId id="319" r:id="rId27"/>
    <p:sldId id="332" r:id="rId37"/>
    <p:sldId id="333" r:id="rId38"/>
    <p:sldId id="334" r:id="rId39"/>
    <p:sldId id="321" r:id="rId28"/>
    <p:sldId id="327" r:id="rId32"/>
    <p:sldId id="335" r:id="rId40"/>
    <p:sldId id="322" r:id="rId19"/>
    <p:sldId id="323" r:id="rId20"/>
    <p:sldId id="324" r:id="rId30"/>
    <p:sldId id="336" r:id="rId41"/>
    <p:sldId id="325" r:id="rId21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27.xml"/><Relationship Id="rId20" Type="http://schemas.openxmlformats.org/officeDocument/2006/relationships/slide" Target="slides/slide28.xml"/><Relationship Id="rId21" Type="http://schemas.openxmlformats.org/officeDocument/2006/relationships/slide" Target="slides/slide30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3.xml"/><Relationship Id="rId28" Type="http://schemas.openxmlformats.org/officeDocument/2006/relationships/slide" Target="slides/slide25.xml"/><Relationship Id="rId30" Type="http://schemas.openxmlformats.org/officeDocument/2006/relationships/slide" Target="slides/slide29.xml"/><Relationship Id="rId31" Type="http://schemas.openxmlformats.org/officeDocument/2006/relationships/slide" Target="slides/slide20.xml"/><Relationship Id="rId32" Type="http://schemas.openxmlformats.org/officeDocument/2006/relationships/slide" Target="slides/slide26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7" name="Google Shape;39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9" name="Google Shape;44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3" name="Google Shape;49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7" name="Google Shape;53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4.png"/><Relationship Id="rId6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5.png"/><Relationship Id="rId5" Type="http://schemas.openxmlformats.org/officeDocument/2006/relationships/image" Target="../media/image12.png"/><Relationship Id="rId6" Type="http://schemas.openxmlformats.org/officeDocument/2006/relationships/image" Target="../media/image1.png"/><Relationship Id="rId7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6.png"/><Relationship Id="rId6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2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28.png"/><Relationship Id="rId5" Type="http://schemas.openxmlformats.org/officeDocument/2006/relationships/image" Target="../media/image27.png"/><Relationship Id="rId6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27.png"/><Relationship Id="rId5" Type="http://schemas.openxmlformats.org/officeDocument/2006/relationships/image" Target="../media/image5.png"/><Relationship Id="rId6" Type="http://schemas.openxmlformats.org/officeDocument/2006/relationships/image" Target="../media/image31.png"/><Relationship Id="rId7" Type="http://schemas.openxmlformats.org/officeDocument/2006/relationships/image" Target="../media/image6.png"/><Relationship Id="rId8" Type="http://schemas.openxmlformats.org/officeDocument/2006/relationships/image" Target="../media/image3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7-2.png"/><Relationship Id="rId3" Type="http://schemas.openxmlformats.org/officeDocument/2006/relationships/image" Target="../media/image-2-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4-1.png"/><Relationship Id="rId3" Type="http://schemas.openxmlformats.org/officeDocument/2006/relationships/image" Target="../media/image-3-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png"/><Relationship Id="rId3" Type="http://schemas.openxmlformats.org/officeDocument/2006/relationships/image" Target="../media/image-4-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4-2.png"/><Relationship Id="rId3" Type="http://schemas.openxmlformats.org/officeDocument/2006/relationships/image" Target="../media/image-4-1.png"/><Relationship Id="rId4" Type="http://schemas.openxmlformats.org/officeDocument/2006/relationships/image" Target="../media/image-2-1.png"/><Relationship Id="rId5" Type="http://schemas.openxmlformats.org/officeDocument/2006/relationships/image" Target="../media/image-8-1.png"/><Relationship Id="rId6" Type="http://schemas.openxmlformats.org/officeDocument/2006/relationships/image" Target="../media/image-9-9.png"/><Relationship Id="rId7" Type="http://schemas.openxmlformats.org/officeDocument/2006/relationships/image" Target="../media/image-12-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3-3.png"/><Relationship Id="rId3" Type="http://schemas.openxmlformats.org/officeDocument/2006/relationships/image" Target="../media/image-2-1.png"/><Relationship Id="rId4" Type="http://schemas.openxmlformats.org/officeDocument/2006/relationships/image" Target="../media/image-13-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12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png"/><Relationship Id="rId3" Type="http://schemas.openxmlformats.org/officeDocument/2006/relationships/image" Target="../media/image-8-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8-1.png"/><Relationship Id="rId3" Type="http://schemas.openxmlformats.org/officeDocument/2006/relationships/image" Target="../media/image26.png"/><Relationship Id="rId4" Type="http://schemas.openxmlformats.org/officeDocument/2006/relationships/image" Target="../media/image31.png"/><Relationship Id="rId5" Type="http://schemas.openxmlformats.org/officeDocument/2006/relationships/image" Target="../media/image-2-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4-3.png"/><Relationship Id="rId3" Type="http://schemas.openxmlformats.org/officeDocument/2006/relationships/image" Target="../media/image-12-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4-1.png"/><Relationship Id="rId3" Type="http://schemas.openxmlformats.org/officeDocument/2006/relationships/image" Target="../media/image-3-7.png"/><Relationship Id="rId4" Type="http://schemas.openxmlformats.org/officeDocument/2006/relationships/image" Target="../media/image-8-1.png"/><Relationship Id="rId5" Type="http://schemas.openxmlformats.org/officeDocument/2006/relationships/image" Target="../media/image-13-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31.png"/><Relationship Id="rId4" Type="http://schemas.openxmlformats.org/officeDocument/2006/relationships/image" Target="../media/image5.png"/><Relationship Id="rId5" Type="http://schemas.openxmlformats.org/officeDocument/2006/relationships/image" Target="../media/image1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17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7.png"/><Relationship Id="rId4" Type="http://schemas.openxmlformats.org/officeDocument/2006/relationships/image" Target="../media/image34.png"/><Relationship Id="rId5" Type="http://schemas.openxmlformats.org/officeDocument/2006/relationships/image" Target="../media/image5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822960" y="13716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6F0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C6F0B"/>
                </a:solidFill>
                <a:latin typeface="Calibri"/>
                <a:ea typeface="Calibri"/>
                <a:cs typeface="Calibri"/>
                <a:sym typeface="Calibri"/>
              </a:rPr>
              <a:t>5 SHARDS  ·  THRESHOLD 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777240" y="1691640"/>
            <a:ext cx="8229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6000"/>
              <a:buFont typeface="Calibri"/>
              <a:buNone/>
            </a:pPr>
            <a:r>
              <a:rPr b="1" i="0" lang="en-US" sz="600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SHARDIC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822960" y="27889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Threshold-Recoverable Encrypted Vaults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822960" y="3291840"/>
            <a:ext cx="8778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Enforcing multi-person integrity for high-stakes data recovery and capability authorization — including human-AI mutual oversight for AI-era decisions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" name="Google Shape;20;p3"/>
          <p:cNvCxnSpPr/>
          <p:nvPr/>
        </p:nvCxnSpPr>
        <p:spPr>
          <a:xfrm>
            <a:off x="822960" y="5806440"/>
            <a:ext cx="3840480" cy="0"/>
          </a:xfrm>
          <a:prstGeom prst="straightConnector1">
            <a:avLst/>
          </a:prstGeom>
          <a:noFill/>
          <a:ln cap="flat" cmpd="sng" w="12700">
            <a:solidFill>
              <a:srgbClr val="8592B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" name="Google Shape;21;p3"/>
          <p:cNvSpPr/>
          <p:nvPr/>
        </p:nvSpPr>
        <p:spPr>
          <a:xfrm>
            <a:off x="822960" y="59436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White Paper Companion Deck  ·  September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822960" y="62179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github.com/splashd1/shardic-crypt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6F0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C6F0B"/>
                </a:solidFill>
                <a:latin typeface="Calibri"/>
                <a:ea typeface="Calibri"/>
                <a:cs typeface="Calibri"/>
                <a:sym typeface="Calibri"/>
              </a:rPr>
              <a:t>1.1 — THE STATUS QUO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One Key, One Point of Failure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548640" y="1417320"/>
            <a:ext cx="55778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Whoever holds the key — a person, a process, a single server — has complete and unilateral power over the data it protects. Access is a binary, anonymous fact: either you hold the key, or you don't.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548640" y="2834640"/>
            <a:ext cx="5577840" cy="3200400"/>
          </a:xfrm>
          <a:prstGeom prst="roundRect">
            <a:avLst>
              <a:gd fmla="val 2571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868680" y="3154680"/>
            <a:ext cx="640080" cy="640080"/>
          </a:xfrm>
          <a:prstGeom prst="ellipse">
            <a:avLst/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key.png" id="33" name="Google Shape;3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2299" y="3308299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4"/>
          <p:cNvSpPr/>
          <p:nvPr/>
        </p:nvSpPr>
        <p:spPr>
          <a:xfrm>
            <a:off x="1691640" y="320040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ONE KEY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1691640" y="3520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complete, unilateral access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868680" y="397764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E0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9FB2E0"/>
                </a:solidFill>
                <a:latin typeface="Calibri"/>
                <a:ea typeface="Calibri"/>
                <a:cs typeface="Calibri"/>
                <a:sym typeface="Calibri"/>
              </a:rPr>
              <a:t>Any ONE of these is sufficient to cause disclosure: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868680" y="4370832"/>
            <a:ext cx="82296" cy="82296"/>
          </a:xfrm>
          <a:prstGeom prst="ellipse">
            <a:avLst/>
          </a:prstGeom>
          <a:solidFill>
            <a:srgbClr val="E7B9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1097280" y="4279392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Rogue insider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868680" y="4828032"/>
            <a:ext cx="82296" cy="82296"/>
          </a:xfrm>
          <a:prstGeom prst="ellipse">
            <a:avLst/>
          </a:prstGeom>
          <a:solidFill>
            <a:srgbClr val="E7B9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1097280" y="4736592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Coerced operator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868680" y="5285232"/>
            <a:ext cx="82296" cy="82296"/>
          </a:xfrm>
          <a:prstGeom prst="ellipse">
            <a:avLst/>
          </a:prstGeom>
          <a:solidFill>
            <a:srgbClr val="E7B9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1097280" y="5193792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Compromised credential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6492240" y="1417320"/>
            <a:ext cx="5120640" cy="1097280"/>
          </a:xfrm>
          <a:prstGeom prst="roundRect">
            <a:avLst>
              <a:gd fmla="val 7500" name="adj"/>
            </a:avLst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6766560" y="1554480"/>
            <a:ext cx="4572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Wrapping a key with another key changes who the single point of control is — not that there is one.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6492240" y="2697480"/>
            <a:ext cx="5120640" cy="1097280"/>
          </a:xfrm>
          <a:prstGeom prst="roundRect">
            <a:avLst>
              <a:gd fmla="val 7500" name="adj"/>
            </a:avLst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6766560" y="2834640"/>
            <a:ext cx="4572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Locking a key in an HSM or safe changes where it lives — a single compromised operator still defeats it.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6492240" y="3977640"/>
            <a:ext cx="5120640" cy="1280160"/>
          </a:xfrm>
          <a:prstGeom prst="roundRect">
            <a:avLst>
              <a:gd fmla="val 6429" name="adj"/>
            </a:avLst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6766560" y="4160520"/>
            <a:ext cx="4572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None/>
            </a:pPr>
            <a:r>
              <a:rPr b="1" i="1" lang="en-US" sz="12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Neither changes the shape of the trust model — one secret, one holder, one point of failure.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SHARDIC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6F0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C6F0B"/>
                </a:solidFill>
                <a:latin typeface="Calibri"/>
                <a:ea typeface="Calibri"/>
                <a:cs typeface="Calibri"/>
                <a:sym typeface="Calibri"/>
              </a:rPr>
              <a:t>1.2 — THE ALTERNATIVE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No Single Party Can Unilaterally Decrypt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548640" y="1600200"/>
            <a:ext cx="91440" cy="91440"/>
          </a:xfrm>
          <a:prstGeom prst="ellipse">
            <a:avLst/>
          </a:prstGeom>
          <a:solidFill>
            <a:srgbClr val="9C6F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804672" y="1481328"/>
            <a:ext cx="5303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No single trustee — including the vault's creator — can ever recover the data alone.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548640" y="2167128"/>
            <a:ext cx="91440" cy="91440"/>
          </a:xfrm>
          <a:prstGeom prst="ellipse">
            <a:avLst/>
          </a:prstGeom>
          <a:solidFill>
            <a:srgbClr val="9C6F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804672" y="2048256"/>
            <a:ext cx="5303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A rogue insider or single compromised account is insufficient; collusion of D independents is required.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548640" y="2734056"/>
            <a:ext cx="91440" cy="91440"/>
          </a:xfrm>
          <a:prstGeom prst="ellipse">
            <a:avLst/>
          </a:prstGeom>
          <a:solidFill>
            <a:srgbClr val="9C6F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804672" y="2615184"/>
            <a:ext cx="5303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Tolerates loss of up to T − D trustees without losing recoverability.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548640" y="3300984"/>
            <a:ext cx="91440" cy="91440"/>
          </a:xfrm>
          <a:prstGeom prst="ellipse">
            <a:avLst/>
          </a:prstGeom>
          <a:solidFill>
            <a:srgbClr val="9C6F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804672" y="3182112"/>
            <a:ext cx="5303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Every recovery event has a natural audit trail of who participated.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6400800" y="125272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5 shards (T)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6400800" y="1600200"/>
            <a:ext cx="475488" cy="475488"/>
          </a:xfrm>
          <a:prstGeom prst="ellipse">
            <a:avLst/>
          </a:prstGeom>
          <a:solidFill>
            <a:srgbClr val="5B6E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cubes.png" id="68" name="Google Shape;6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14917" y="1714317"/>
            <a:ext cx="247254" cy="247254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5"/>
          <p:cNvSpPr/>
          <p:nvPr/>
        </p:nvSpPr>
        <p:spPr>
          <a:xfrm>
            <a:off x="7004304" y="1600200"/>
            <a:ext cx="475488" cy="475488"/>
          </a:xfrm>
          <a:prstGeom prst="ellipse">
            <a:avLst/>
          </a:prstGeom>
          <a:solidFill>
            <a:srgbClr val="5B6E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cubes.png" id="70" name="Google Shape;7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8421" y="1714317"/>
            <a:ext cx="247254" cy="247254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5"/>
          <p:cNvSpPr/>
          <p:nvPr/>
        </p:nvSpPr>
        <p:spPr>
          <a:xfrm>
            <a:off x="7607808" y="1600200"/>
            <a:ext cx="475488" cy="475488"/>
          </a:xfrm>
          <a:prstGeom prst="ellipse">
            <a:avLst/>
          </a:prstGeom>
          <a:solidFill>
            <a:srgbClr val="5B6E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cubes.png" id="72" name="Google Shape;7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21925" y="1714317"/>
            <a:ext cx="247254" cy="247254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5"/>
          <p:cNvSpPr/>
          <p:nvPr/>
        </p:nvSpPr>
        <p:spPr>
          <a:xfrm>
            <a:off x="8211312" y="1600200"/>
            <a:ext cx="475488" cy="475488"/>
          </a:xfrm>
          <a:prstGeom prst="ellipse">
            <a:avLst/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cubes.png" id="74" name="Google Shape;7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5429" y="1714317"/>
            <a:ext cx="247254" cy="247254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5"/>
          <p:cNvSpPr/>
          <p:nvPr/>
        </p:nvSpPr>
        <p:spPr>
          <a:xfrm>
            <a:off x="8814816" y="1600200"/>
            <a:ext cx="475488" cy="475488"/>
          </a:xfrm>
          <a:prstGeom prst="ellipse">
            <a:avLst/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cubes.png" id="76" name="Google Shape;7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28933" y="1714317"/>
            <a:ext cx="247254" cy="247254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5"/>
          <p:cNvSpPr/>
          <p:nvPr/>
        </p:nvSpPr>
        <p:spPr>
          <a:xfrm>
            <a:off x="6263640" y="1490472"/>
            <a:ext cx="1956816" cy="694944"/>
          </a:xfrm>
          <a:prstGeom prst="roundRect">
            <a:avLst>
              <a:gd fmla="val 13158" name="adj"/>
            </a:avLst>
          </a:prstGeom>
          <a:noFill/>
          <a:ln cap="flat" cmpd="sng" w="19050">
            <a:solidFill>
              <a:srgbClr val="9C6F0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6400800" y="224028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6F0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9C6F0B"/>
                </a:solidFill>
                <a:latin typeface="Calibri"/>
                <a:ea typeface="Calibri"/>
                <a:cs typeface="Calibri"/>
                <a:sym typeface="Calibri"/>
              </a:rPr>
              <a:t>3 of 5 required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6F0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9C6F0B"/>
                </a:solidFill>
                <a:latin typeface="Calibri"/>
                <a:ea typeface="Calibri"/>
                <a:cs typeface="Calibri"/>
                <a:sym typeface="Calibri"/>
              </a:rPr>
              <a:t>to reconstruct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9555480" y="1764792"/>
            <a:ext cx="292608" cy="21945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592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9921240" y="1545336"/>
            <a:ext cx="566928" cy="566928"/>
          </a:xfrm>
          <a:prstGeom prst="ellipse">
            <a:avLst/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key.png" id="81" name="Google Shape;8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57303" y="1681399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5"/>
          <p:cNvSpPr/>
          <p:nvPr/>
        </p:nvSpPr>
        <p:spPr>
          <a:xfrm>
            <a:off x="9784080" y="214884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DEK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recovered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10122408" y="2441448"/>
            <a:ext cx="219456" cy="292608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8592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9893808" y="2852928"/>
            <a:ext cx="566928" cy="566928"/>
          </a:xfrm>
          <a:prstGeom prst="ellipse">
            <a:avLst/>
          </a:prstGeom>
          <a:solidFill>
            <a:srgbClr val="163A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check.png" id="85" name="Google Shape;85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29871" y="2988991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5"/>
          <p:cNvSpPr/>
          <p:nvPr/>
        </p:nvSpPr>
        <p:spPr>
          <a:xfrm>
            <a:off x="9418320" y="3447288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Plaintext recovered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548640" y="3794760"/>
            <a:ext cx="11064240" cy="2148840"/>
          </a:xfrm>
          <a:prstGeom prst="roundRect">
            <a:avLst>
              <a:gd fmla="val 3830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914400" y="4114800"/>
            <a:ext cx="1033272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Threshold recovery reframes “access” from a binary fact about one secret into a quorum fact about independent people. That's not a policy statement enforced by a process — it's a mathematical property of the construction itself (see §3.1–§3.2).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SHARDIC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6F0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C6F0B"/>
                </a:solidFill>
                <a:latin typeface="Calibri"/>
                <a:ea typeface="Calibri"/>
                <a:cs typeface="Calibri"/>
                <a:sym typeface="Calibri"/>
              </a:rPr>
              <a:t>1.3 — REPRESENTATIVE USE CASES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Where Threshold Recovery Fits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548640" y="1508760"/>
            <a:ext cx="5394960" cy="1965960"/>
          </a:xfrm>
          <a:prstGeom prst="roundRect">
            <a:avLst>
              <a:gd fmla="val 4186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868680" y="1828800"/>
            <a:ext cx="594360" cy="594360"/>
          </a:xfrm>
          <a:prstGeom prst="ellipse">
            <a:avLst/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shield.png" id="100" name="Google Shape;10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326" y="1971446"/>
            <a:ext cx="309067" cy="309067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6"/>
          <p:cNvSpPr/>
          <p:nvPr/>
        </p:nvSpPr>
        <p:spPr>
          <a:xfrm>
            <a:off x="1645920" y="1801368"/>
            <a:ext cx="4023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Break-Glass Infrastructure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868680" y="2468880"/>
            <a:ext cx="4754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Root CA keys, production database master keys, SCADA overrides. T=7, D=4 — nobody has access day-to-day.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6217920" y="1508760"/>
            <a:ext cx="5394960" cy="1965960"/>
          </a:xfrm>
          <a:prstGeom prst="roundRect">
            <a:avLst>
              <a:gd fmla="val 4186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6537960" y="1828800"/>
            <a:ext cx="594360" cy="594360"/>
          </a:xfrm>
          <a:prstGeom prst="ellipse">
            <a:avLst/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users.png" id="105" name="Google Shape;10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80606" y="1971446"/>
            <a:ext cx="309067" cy="309067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6"/>
          <p:cNvSpPr/>
          <p:nvPr/>
        </p:nvSpPr>
        <p:spPr>
          <a:xfrm>
            <a:off x="7315200" y="1801368"/>
            <a:ext cx="4023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Estate &amp; Succession Planning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6537960" y="2468880"/>
            <a:ext cx="4754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Password-manager master vaults split among relatives, a lawyer, and a partner (T=5, D=3), with memorable codewords.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548640" y="3749040"/>
            <a:ext cx="5394960" cy="1965960"/>
          </a:xfrm>
          <a:prstGeom prst="roundRect">
            <a:avLst>
              <a:gd fmla="val 4186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868680" y="4069080"/>
            <a:ext cx="594360" cy="594360"/>
          </a:xfrm>
          <a:prstGeom prst="ellipse">
            <a:avLst/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landmark.png" id="110" name="Google Shape;110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1326" y="4211726"/>
            <a:ext cx="309067" cy="309067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6"/>
          <p:cNvSpPr/>
          <p:nvPr/>
        </p:nvSpPr>
        <p:spPr>
          <a:xfrm>
            <a:off x="1645920" y="4041648"/>
            <a:ext cx="4023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Government &amp; Public Sector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868680" y="4709160"/>
            <a:ext cx="4754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Generalized two-person rules, lawful-intercept escrow, continuity-of-government credentials, election tabulation keys.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6217920" y="3749040"/>
            <a:ext cx="5394960" cy="1965960"/>
          </a:xfrm>
          <a:prstGeom prst="roundRect">
            <a:avLst>
              <a:gd fmla="val 4186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6537960" y="4069080"/>
            <a:ext cx="594360" cy="594360"/>
          </a:xfrm>
          <a:prstGeom prst="ellipse">
            <a:avLst/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briefcase.png" id="115" name="Google Shape;115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80606" y="4211726"/>
            <a:ext cx="309067" cy="309067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6"/>
          <p:cNvSpPr/>
          <p:nvPr/>
        </p:nvSpPr>
        <p:spPr>
          <a:xfrm>
            <a:off x="7315200" y="4041648"/>
            <a:ext cx="4023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Business &amp; Regulated Industry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6537960" y="4709160"/>
            <a:ext cx="4754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M&amp;A escrow, treasury cold storage, whistleblower archives, SOX/HIPAA separation-of-duties enforcement.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SHARDIC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6F0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C6F0B"/>
                </a:solidFill>
                <a:latin typeface="Calibri"/>
                <a:ea typeface="Calibri"/>
                <a:cs typeface="Calibri"/>
                <a:sym typeface="Calibri"/>
              </a:rPr>
              <a:t>1.4 — THE INTUITION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A Secret Hidden as a Single Point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548640" y="1508760"/>
            <a:ext cx="6766560" cy="4206240"/>
          </a:xfrm>
          <a:prstGeom prst="roundRect">
            <a:avLst>
              <a:gd fmla="val 1957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8" name="Google Shape;128;p7"/>
          <p:cNvCxnSpPr/>
          <p:nvPr/>
        </p:nvCxnSpPr>
        <p:spPr>
          <a:xfrm flipH="1" rot="10800000">
            <a:off x="1280160" y="3378708"/>
            <a:ext cx="5394960" cy="1559052"/>
          </a:xfrm>
          <a:prstGeom prst="straightConnector1">
            <a:avLst/>
          </a:prstGeom>
          <a:noFill/>
          <a:ln cap="flat" cmpd="sng" w="25400">
            <a:solidFill>
              <a:srgbClr val="5B6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9" name="Google Shape;129;p7"/>
          <p:cNvSpPr/>
          <p:nvPr/>
        </p:nvSpPr>
        <p:spPr>
          <a:xfrm>
            <a:off x="2735885" y="4446361"/>
            <a:ext cx="109728" cy="109728"/>
          </a:xfrm>
          <a:prstGeom prst="ellipse">
            <a:avLst/>
          </a:prstGeom>
          <a:solidFill>
            <a:srgbClr val="E7B9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2424989" y="4117177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shard 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5109667" y="3760379"/>
            <a:ext cx="109728" cy="109728"/>
          </a:xfrm>
          <a:prstGeom prst="ellipse">
            <a:avLst/>
          </a:prstGeom>
          <a:solidFill>
            <a:srgbClr val="E7B9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4798771" y="3431195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shard 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3913632" y="4094226"/>
            <a:ext cx="128016" cy="128016"/>
          </a:xfrm>
          <a:prstGeom prst="ellipse">
            <a:avLst/>
          </a:prstGeom>
          <a:solidFill>
            <a:srgbClr val="3EBD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3474720" y="4295394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EBD6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EBD6E"/>
                </a:solidFill>
                <a:latin typeface="Calibri"/>
                <a:ea typeface="Calibri"/>
                <a:cs typeface="Calibri"/>
                <a:sym typeface="Calibri"/>
              </a:rPr>
              <a:t>the secret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1280160" y="525780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1 shard → every secret still possible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1280160" y="553212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2 points → exactly one answer fits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7543800" y="1508760"/>
            <a:ext cx="4069080" cy="4206240"/>
          </a:xfrm>
          <a:prstGeom prst="roundRect">
            <a:avLst>
              <a:gd fmla="val 2022" name="adj"/>
            </a:avLst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7863840" y="1920240"/>
            <a:ext cx="342900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Two points determine a line.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shardic's actual construction generalizes this to a degree-(D−1) polynomial over GF(2⁸) — see §3.2.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SHARDIC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6F0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C6F0B"/>
                </a:solidFill>
                <a:latin typeface="Calibri"/>
                <a:ea typeface="Calibri"/>
                <a:cs typeface="Calibri"/>
                <a:sym typeface="Calibri"/>
              </a:rPr>
              <a:t>2.1 — OPERATOR WALKTHROUGH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Creating a Vault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548640" y="10515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Choose T (trustees) and D (threshold) before doing anything else.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548640" y="1463040"/>
            <a:ext cx="6035040" cy="4114800"/>
          </a:xfrm>
          <a:prstGeom prst="roundRect">
            <a:avLst>
              <a:gd fmla="val 2000" name="adj"/>
            </a:avLst>
          </a:prstGeom>
          <a:solidFill>
            <a:srgbClr val="1016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"/>
          <p:cNvSpPr/>
          <p:nvPr/>
        </p:nvSpPr>
        <p:spPr>
          <a:xfrm>
            <a:off x="777240" y="1645920"/>
            <a:ext cx="5577840" cy="3749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F2F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EEF2FB"/>
                </a:solidFill>
                <a:latin typeface="Consolas"/>
                <a:ea typeface="Consolas"/>
                <a:cs typeface="Consolas"/>
                <a:sym typeface="Consolas"/>
              </a:rPr>
              <a:t>$ python3 vault_create.py \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F2F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EEF2FB"/>
                </a:solidFill>
                <a:latin typeface="Consolas"/>
                <a:ea typeface="Consolas"/>
                <a:cs typeface="Consolas"/>
                <a:sym typeface="Consolas"/>
              </a:rPr>
              <a:t>    --input ./secret_docs \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F2F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EEF2FB"/>
                </a:solidFill>
                <a:latin typeface="Consolas"/>
                <a:ea typeface="Consolas"/>
                <a:cs typeface="Consolas"/>
                <a:sym typeface="Consolas"/>
              </a:rPr>
              <a:t>    --trustees 5 --threshold 3 --word-count 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F2F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EEF2FB"/>
                </a:solidFill>
                <a:latin typeface="Consolas"/>
                <a:ea typeface="Consolas"/>
                <a:cs typeface="Consolas"/>
                <a:sym typeface="Consolas"/>
              </a:rPr>
              <a:t>[i] Shard protection KDF: pbkdf2 (400000 iters)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F2F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EEF2FB"/>
                </a:solidFill>
                <a:latin typeface="Consolas"/>
                <a:ea typeface="Consolas"/>
                <a:cs typeface="Consolas"/>
                <a:sym typeface="Consolas"/>
              </a:rPr>
              <a:t>[i] No --word-length: defaulting to --memorable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F2F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EEF2FB"/>
                </a:solidFill>
                <a:latin typeface="Consolas"/>
                <a:ea typeface="Consolas"/>
                <a:cs typeface="Consolas"/>
                <a:sym typeface="Consolas"/>
              </a:rPr>
              <a:t>[*] Loaded 7772 candidate words (EFF wordlist)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F2F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EEF2FB"/>
                </a:solidFill>
                <a:latin typeface="Consolas"/>
                <a:ea typeface="Consolas"/>
                <a:cs typeface="Consolas"/>
                <a:sym typeface="Consolas"/>
              </a:rPr>
              <a:t>[*] Estimated codeword strength: ~39 bits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F2F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EEF2FB"/>
                </a:solidFill>
                <a:latin typeface="Consolas"/>
                <a:ea typeface="Consolas"/>
                <a:cs typeface="Consolas"/>
                <a:sym typeface="Consolas"/>
              </a:rPr>
              <a:t>    combinatorial per trustee (before KDF)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F2F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EEF2FB"/>
                </a:solidFill>
                <a:latin typeface="Consolas"/>
                <a:ea typeface="Consolas"/>
                <a:cs typeface="Consolas"/>
                <a:sym typeface="Consolas"/>
              </a:rPr>
              <a:t>[*] Split DEK into 5 shards, threshold 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F2F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EEF2FB"/>
                </a:solidFill>
                <a:latin typeface="Consolas"/>
                <a:ea typeface="Consolas"/>
                <a:cs typeface="Consolas"/>
                <a:sym typeface="Consolas"/>
              </a:rPr>
              <a:t>[+] Wrote vault container: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F2F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EEF2FB"/>
                </a:solidFill>
                <a:latin typeface="Consolas"/>
                <a:ea typeface="Consolas"/>
                <a:cs typeface="Consolas"/>
                <a:sym typeface="Consolas"/>
              </a:rPr>
              <a:t>    vault_out/ce28by1pn9z8wib2.krypt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F2F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EEF2FB"/>
                </a:solidFill>
                <a:latin typeface="Consolas"/>
                <a:ea typeface="Consolas"/>
                <a:cs typeface="Consolas"/>
                <a:sym typeface="Consolas"/>
              </a:rPr>
              <a:t>[+] Wrote 5 trustee codeword files.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F2F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EEF2FB"/>
                </a:solidFill>
                <a:latin typeface="Consolas"/>
                <a:ea typeface="Consolas"/>
                <a:cs typeface="Consolas"/>
                <a:sym typeface="Consolas"/>
              </a:rPr>
              <a:t>    Distribute out of band, then delete.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6858000" y="1417320"/>
            <a:ext cx="329184" cy="329184"/>
          </a:xfrm>
          <a:prstGeom prst="ellipse">
            <a:avLst/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6858000" y="1417320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B93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7B93E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7315200" y="1389888"/>
            <a:ext cx="4343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130"/>
              <a:buFont typeface="Calibri"/>
              <a:buNone/>
            </a:pPr>
            <a:r>
              <a:rPr b="0" i="0" lang="en-US" sz="113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Tool selects the KDF — Argon2id if available, else PBKDF2.</a:t>
            </a:r>
            <a:endParaRPr b="0" i="0" sz="11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6858000" y="2075688"/>
            <a:ext cx="329184" cy="329184"/>
          </a:xfrm>
          <a:prstGeom prst="ellipse">
            <a:avLst/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"/>
          <p:cNvSpPr/>
          <p:nvPr/>
        </p:nvSpPr>
        <p:spPr>
          <a:xfrm>
            <a:off x="6858000" y="207568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B93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7B93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7315200" y="2048256"/>
            <a:ext cx="4343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130"/>
              <a:buFont typeface="Calibri"/>
              <a:buNone/>
            </a:pPr>
            <a:r>
              <a:rPr b="0" i="0" lang="en-US" sz="113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Defaults to --memorable codewords from the bundled EFF wordlist.</a:t>
            </a:r>
            <a:endParaRPr b="0" i="0" sz="11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6858000" y="2734056"/>
            <a:ext cx="329184" cy="329184"/>
          </a:xfrm>
          <a:prstGeom prst="ellipse">
            <a:avLst/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6858000" y="2734056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B93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7B93E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7315200" y="2706624"/>
            <a:ext cx="4343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130"/>
              <a:buFont typeface="Calibri"/>
              <a:buNone/>
            </a:pPr>
            <a:r>
              <a:rPr b="0" i="0" lang="en-US" sz="113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Reports a combinatorial strength estimate before anything is distributed.</a:t>
            </a:r>
            <a:endParaRPr b="0" i="0" sz="11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6858000" y="3392424"/>
            <a:ext cx="329184" cy="329184"/>
          </a:xfrm>
          <a:prstGeom prst="ellipse">
            <a:avLst/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"/>
          <p:cNvSpPr/>
          <p:nvPr/>
        </p:nvSpPr>
        <p:spPr>
          <a:xfrm>
            <a:off x="6858000" y="3392424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B93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7B93E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7315200" y="3364992"/>
            <a:ext cx="4343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130"/>
              <a:buFont typeface="Calibri"/>
              <a:buNone/>
            </a:pPr>
            <a:r>
              <a:rPr b="0" i="0" lang="en-US" sz="113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Encrypts the archive once (AES-256-GCM) under a random 256-bit DEK, splits the DEK into T Shamir shards.</a:t>
            </a:r>
            <a:endParaRPr b="0" i="0" sz="11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6858000" y="4050792"/>
            <a:ext cx="329184" cy="329184"/>
          </a:xfrm>
          <a:prstGeom prst="ellipse">
            <a:avLst/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6858000" y="405079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B93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7B93E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7315200" y="4023360"/>
            <a:ext cx="4343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130"/>
              <a:buFont typeface="Calibri"/>
              <a:buNone/>
            </a:pPr>
            <a:r>
              <a:rPr b="0" i="0" lang="en-US" sz="113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Writes one .krypt file, plus one codeword file per trustee.</a:t>
            </a:r>
            <a:endParaRPr b="0" i="0" sz="11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6858000" y="4709160"/>
            <a:ext cx="329184" cy="329184"/>
          </a:xfrm>
          <a:prstGeom prst="ellipse">
            <a:avLst/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"/>
          <p:cNvSpPr/>
          <p:nvPr/>
        </p:nvSpPr>
        <p:spPr>
          <a:xfrm>
            <a:off x="6858000" y="4709160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B93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7B93E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7315200" y="4681728"/>
            <a:ext cx="4343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130"/>
              <a:buFont typeface="Calibri"/>
              <a:buNone/>
            </a:pPr>
            <a:r>
              <a:rPr b="0" i="0" lang="en-US" sz="113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The operator's remaining job is procedural, not cryptographic — distribute out of band, then delete local copies.</a:t>
            </a:r>
            <a:endParaRPr b="0" i="0" sz="11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SHARDIC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6F0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C6F0B"/>
                </a:solidFill>
                <a:latin typeface="Calibri"/>
                <a:ea typeface="Calibri"/>
                <a:cs typeface="Calibri"/>
                <a:sym typeface="Calibri"/>
              </a:rPr>
              <a:t>2.2 — OPERATOR WALKTHROUGH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Recovering a Vault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548640" y="1417320"/>
            <a:ext cx="6309360" cy="3291840"/>
          </a:xfrm>
          <a:prstGeom prst="roundRect">
            <a:avLst>
              <a:gd fmla="val 2500" name="adj"/>
            </a:avLst>
          </a:prstGeom>
          <a:solidFill>
            <a:srgbClr val="1016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9"/>
          <p:cNvSpPr/>
          <p:nvPr/>
        </p:nvSpPr>
        <p:spPr>
          <a:xfrm>
            <a:off x="777240" y="1600200"/>
            <a:ext cx="585216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F2F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EEF2FB"/>
                </a:solidFill>
                <a:latin typeface="Consolas"/>
                <a:ea typeface="Consolas"/>
                <a:cs typeface="Consolas"/>
                <a:sym typeface="Consolas"/>
              </a:rPr>
              <a:t>$ python3 vault_recover.py \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F2F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EEF2FB"/>
                </a:solidFill>
                <a:latin typeface="Consolas"/>
                <a:ea typeface="Consolas"/>
                <a:cs typeface="Consolas"/>
                <a:sym typeface="Consolas"/>
              </a:rPr>
              <a:t>    vault_out/ce28by1pn9z8wib2.krypt \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F2F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EEF2FB"/>
                </a:solidFill>
                <a:latin typeface="Consolas"/>
                <a:ea typeface="Consolas"/>
                <a:cs typeface="Consolas"/>
                <a:sym typeface="Consolas"/>
              </a:rPr>
              <a:t>    --word "broadside-repulsion-subway" \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F2F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EEF2FB"/>
                </a:solidFill>
                <a:latin typeface="Consolas"/>
                <a:ea typeface="Consolas"/>
                <a:cs typeface="Consolas"/>
                <a:sym typeface="Consolas"/>
              </a:rPr>
              <a:t>    --word "valuables-repeater-oversleep" \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F2F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EEF2FB"/>
                </a:solidFill>
                <a:latin typeface="Consolas"/>
                <a:ea typeface="Consolas"/>
                <a:cs typeface="Consolas"/>
                <a:sym typeface="Consolas"/>
              </a:rPr>
              <a:t>    --word "winking-portly-diffusion"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F2F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EEF2FB"/>
                </a:solidFill>
                <a:latin typeface="Consolas"/>
                <a:ea typeface="Consolas"/>
                <a:cs typeface="Consolas"/>
                <a:sym typeface="Consolas"/>
              </a:rPr>
              <a:t>[i] This vault requires 3 of 5 codewords.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F2F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EEF2FB"/>
                </a:solidFill>
                <a:latin typeface="Consolas"/>
                <a:ea typeface="Consolas"/>
                <a:cs typeface="Consolas"/>
                <a:sym typeface="Consolas"/>
              </a:rPr>
              <a:t>[+] Codeword accepted (1/3).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F2F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EEF2FB"/>
                </a:solidFill>
                <a:latin typeface="Consolas"/>
                <a:ea typeface="Consolas"/>
                <a:cs typeface="Consolas"/>
                <a:sym typeface="Consolas"/>
              </a:rPr>
              <a:t>[+] Codeword accepted (2/3).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F2F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EEF2FB"/>
                </a:solidFill>
                <a:latin typeface="Consolas"/>
                <a:ea typeface="Consolas"/>
                <a:cs typeface="Consolas"/>
                <a:sym typeface="Consolas"/>
              </a:rPr>
              <a:t>[+] Codeword accepted (3/3).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F2F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EEF2FB"/>
                </a:solidFill>
                <a:latin typeface="Consolas"/>
                <a:ea typeface="Consolas"/>
                <a:cs typeface="Consolas"/>
                <a:sym typeface="Consolas"/>
              </a:rPr>
              <a:t>[*] Reconstructing DEK from recovered shards ...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F2F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EEF2FB"/>
                </a:solidFill>
                <a:latin typeface="Consolas"/>
                <a:ea typeface="Consolas"/>
                <a:cs typeface="Consolas"/>
                <a:sym typeface="Consolas"/>
              </a:rPr>
              <a:t>[*] Success. Recovered to /recovered_out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7086600" y="1417320"/>
            <a:ext cx="502920" cy="502920"/>
          </a:xfrm>
          <a:prstGeom prst="ellipse">
            <a:avLst/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check.png" id="181" name="Google Shape;18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07301" y="1538021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9"/>
          <p:cNvSpPr/>
          <p:nvPr/>
        </p:nvSpPr>
        <p:spPr>
          <a:xfrm>
            <a:off x="7744968" y="1399032"/>
            <a:ext cx="39136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Any order accepted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7744968" y="1728216"/>
            <a:ext cx="391363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Recovery doesn't ask “which trustee are you” — each codeword is tried against every not-yet-matched shard until one authenticates.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7086600" y="2514600"/>
            <a:ext cx="502920" cy="502920"/>
          </a:xfrm>
          <a:prstGeom prst="ellipse">
            <a:avLst/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lock.png" id="185" name="Google Shape;18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07301" y="2635301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9"/>
          <p:cNvSpPr/>
          <p:nvPr/>
        </p:nvSpPr>
        <p:spPr>
          <a:xfrm>
            <a:off x="7744968" y="2496312"/>
            <a:ext cx="39136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Fail-closed by design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7744968" y="2825496"/>
            <a:ext cx="391363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If fewer than D codewords match, or any are wrong, the tool reports how many were accepted and stops — never partial or best-guess output.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7086600" y="3611880"/>
            <a:ext cx="502920" cy="502920"/>
          </a:xfrm>
          <a:prstGeom prst="ellipse">
            <a:avLst/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puzzle.png" id="189" name="Google Shape;189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07301" y="3732581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9"/>
          <p:cNvSpPr/>
          <p:nvPr/>
        </p:nvSpPr>
        <p:spPr>
          <a:xfrm>
            <a:off x="7744968" y="3593592"/>
            <a:ext cx="39136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No mapping required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7744968" y="3922776"/>
            <a:ext cx="391363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The operator never specifies which codeword belongs to which trustee — the tool figures it out via trial matching (§3.4).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SHARDIC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6F0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C6F0B"/>
                </a:solidFill>
                <a:latin typeface="Calibri"/>
                <a:ea typeface="Calibri"/>
                <a:cs typeface="Calibri"/>
                <a:sym typeface="Calibri"/>
              </a:rPr>
              <a:t>2.3 — A MANDATORY-TRUSTEE VARIANT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shardic-prime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548640" y="105156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The base scheme treats every trustee identically. shardic-prime adds one essential trustee: their codeword must always be supplied, no matter how many others are gathered.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548640" y="1783080"/>
            <a:ext cx="5303520" cy="3794760"/>
          </a:xfrm>
          <a:prstGeom prst="roundRect">
            <a:avLst>
              <a:gd fmla="val 2169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0"/>
          <p:cNvSpPr/>
          <p:nvPr/>
        </p:nvSpPr>
        <p:spPr>
          <a:xfrm>
            <a:off x="868680" y="2057400"/>
            <a:ext cx="594360" cy="594360"/>
          </a:xfrm>
          <a:prstGeom prst="ellipse">
            <a:avLst/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usershield.png" id="204" name="Google Shape;20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326" y="2200046"/>
            <a:ext cx="309067" cy="309067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0"/>
          <p:cNvSpPr/>
          <p:nvPr/>
        </p:nvSpPr>
        <p:spPr>
          <a:xfrm>
            <a:off x="1691640" y="2057400"/>
            <a:ext cx="39776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Fits situations where one specific role — an estate's executor, a security lead — must always sign off, while backups can be any qualifying subset.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868680" y="3236976"/>
            <a:ext cx="73152" cy="73152"/>
          </a:xfrm>
          <a:prstGeom prst="ellipse">
            <a:avLst/>
          </a:prstGeom>
          <a:solidFill>
            <a:srgbClr val="E7B9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0"/>
          <p:cNvSpPr/>
          <p:nvPr/>
        </p:nvSpPr>
        <p:spPr>
          <a:xfrm>
            <a:off x="1097280" y="3200400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Separate CLI tools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868680" y="3694176"/>
            <a:ext cx="73152" cy="73152"/>
          </a:xfrm>
          <a:prstGeom prst="ellipse">
            <a:avLst/>
          </a:prstGeom>
          <a:solidFill>
            <a:srgbClr val="E7B9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0"/>
          <p:cNvSpPr/>
          <p:nvPr/>
        </p:nvSpPr>
        <p:spPr>
          <a:xfrm>
            <a:off x="1097280" y="3657600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Separate container format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868680" y="4151376"/>
            <a:ext cx="73152" cy="73152"/>
          </a:xfrm>
          <a:prstGeom prst="ellipse">
            <a:avLst/>
          </a:prstGeom>
          <a:solidFill>
            <a:srgbClr val="E7B9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0"/>
          <p:cNvSpPr/>
          <p:nvPr/>
        </p:nvSpPr>
        <p:spPr>
          <a:xfrm>
            <a:off x="1097280" y="4114800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Tagged metadata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868680" y="4709160"/>
            <a:ext cx="4480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All 3 pool codewords, gathered without the prime's, recover nothing — a property of the construction itself, not just the CLI.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6172200" y="1828800"/>
            <a:ext cx="5440680" cy="3749040"/>
          </a:xfrm>
          <a:prstGeom prst="roundRect">
            <a:avLst>
              <a:gd fmla="val 2195" name="adj"/>
            </a:avLst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0"/>
          <p:cNvSpPr/>
          <p:nvPr/>
        </p:nvSpPr>
        <p:spPr>
          <a:xfrm>
            <a:off x="6492240" y="20574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B93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7B93E"/>
                </a:solidFill>
                <a:latin typeface="Calibri"/>
                <a:ea typeface="Calibri"/>
                <a:cs typeface="Calibri"/>
                <a:sym typeface="Calibri"/>
              </a:rPr>
              <a:t>RECOVERY REQUIRES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6492240" y="23317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T = 4, D = 3  example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6537960" y="2788920"/>
            <a:ext cx="777240" cy="777240"/>
          </a:xfrm>
          <a:prstGeom prst="ellipse">
            <a:avLst/>
          </a:prstGeom>
          <a:solidFill>
            <a:srgbClr val="3A2F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usershield.png" id="217" name="Google Shape;21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24498" y="2975458"/>
            <a:ext cx="404165" cy="40416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0"/>
          <p:cNvSpPr/>
          <p:nvPr/>
        </p:nvSpPr>
        <p:spPr>
          <a:xfrm>
            <a:off x="6492240" y="3611880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B93E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E7B93E"/>
                </a:solidFill>
                <a:latin typeface="Calibri"/>
                <a:ea typeface="Calibri"/>
                <a:cs typeface="Calibri"/>
                <a:sym typeface="Calibri"/>
              </a:rPr>
              <a:t>PRIME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B93E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E7B93E"/>
                </a:solidFill>
                <a:latin typeface="Calibri"/>
                <a:ea typeface="Calibri"/>
                <a:cs typeface="Calibri"/>
                <a:sym typeface="Calibri"/>
              </a:rPr>
              <a:t>always required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7589520" y="301752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8366760" y="2880360"/>
            <a:ext cx="594360" cy="594360"/>
          </a:xfrm>
          <a:prstGeom prst="ellipse">
            <a:avLst/>
          </a:prstGeom>
          <a:solidFill>
            <a:srgbClr val="2431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users.png" id="221" name="Google Shape;221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09406" y="3023006"/>
            <a:ext cx="309067" cy="309067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0"/>
          <p:cNvSpPr/>
          <p:nvPr/>
        </p:nvSpPr>
        <p:spPr>
          <a:xfrm>
            <a:off x="9281160" y="2880360"/>
            <a:ext cx="594360" cy="594360"/>
          </a:xfrm>
          <a:prstGeom prst="ellipse">
            <a:avLst/>
          </a:prstGeom>
          <a:solidFill>
            <a:srgbClr val="2431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users.png" id="223" name="Google Shape;22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23806" y="3023006"/>
            <a:ext cx="309067" cy="309067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0"/>
          <p:cNvSpPr/>
          <p:nvPr/>
        </p:nvSpPr>
        <p:spPr>
          <a:xfrm>
            <a:off x="10195560" y="2880360"/>
            <a:ext cx="594360" cy="594360"/>
          </a:xfrm>
          <a:prstGeom prst="ellipse">
            <a:avLst/>
          </a:prstGeom>
          <a:solidFill>
            <a:srgbClr val="2431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users.png" id="225" name="Google Shape;22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38206" y="3023006"/>
            <a:ext cx="309067" cy="309067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0"/>
          <p:cNvSpPr/>
          <p:nvPr/>
        </p:nvSpPr>
        <p:spPr>
          <a:xfrm>
            <a:off x="8366760" y="356616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any 2 of 3 POOL trustees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6492240" y="416052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1 prime trustee  +  any 2 of 3 pool trustees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6492240" y="4572000"/>
            <a:ext cx="48463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E0"/>
              </a:buClr>
              <a:buSzPts val="1080"/>
              <a:buFont typeface="Calibri"/>
              <a:buNone/>
            </a:pPr>
            <a:r>
              <a:rPr b="0" i="1" lang="en-US" sz="1080" u="none" cap="none" strike="noStrike">
                <a:solidFill>
                  <a:srgbClr val="9FB2E0"/>
                </a:solidFill>
                <a:latin typeface="Calibri"/>
                <a:ea typeface="Calibri"/>
                <a:cs typeface="Calibri"/>
                <a:sym typeface="Calibri"/>
              </a:rPr>
              <a:t>Note: shardic-envelope (§3.5) builds directly on this construction — its live Keycloak demo uses a prime + pool ceremony under the hood.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SHARDIC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1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6F0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C6F0B"/>
                </a:solidFill>
                <a:latin typeface="Calibri"/>
                <a:ea typeface="Calibri"/>
                <a:cs typeface="Calibri"/>
                <a:sym typeface="Calibri"/>
              </a:rPr>
              <a:t>3.1 – 3.2 — TECHNICAL MECHANICS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Splitting the Key, Not Just Encrypting the Data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640080" y="1737360"/>
            <a:ext cx="685800" cy="685800"/>
          </a:xfrm>
          <a:prstGeom prst="ellipse">
            <a:avLst/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database.png" id="239" name="Google Shape;23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4672" y="1901952"/>
            <a:ext cx="35661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1"/>
          <p:cNvSpPr/>
          <p:nvPr/>
        </p:nvSpPr>
        <p:spPr>
          <a:xfrm>
            <a:off x="182880" y="2514600"/>
            <a:ext cx="1645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Input file /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directory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1645920" y="1938528"/>
            <a:ext cx="457200" cy="29260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592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1"/>
          <p:cNvSpPr/>
          <p:nvPr/>
        </p:nvSpPr>
        <p:spPr>
          <a:xfrm>
            <a:off x="2331720" y="1737360"/>
            <a:ext cx="685800" cy="685800"/>
          </a:xfrm>
          <a:prstGeom prst="ellipse">
            <a:avLst/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lock.png" id="243" name="Google Shape;24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96312" y="1901952"/>
            <a:ext cx="35661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1"/>
          <p:cNvSpPr/>
          <p:nvPr/>
        </p:nvSpPr>
        <p:spPr>
          <a:xfrm>
            <a:off x="1874520" y="2514600"/>
            <a:ext cx="1645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AES-256-GCM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Ciphertext archive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under a random 256-bit DEK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1"/>
          <p:cNvSpPr/>
          <p:nvPr/>
        </p:nvSpPr>
        <p:spPr>
          <a:xfrm>
            <a:off x="3337560" y="1938528"/>
            <a:ext cx="457200" cy="29260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592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1"/>
          <p:cNvSpPr/>
          <p:nvPr/>
        </p:nvSpPr>
        <p:spPr>
          <a:xfrm>
            <a:off x="4023360" y="1737360"/>
            <a:ext cx="685800" cy="685800"/>
          </a:xfrm>
          <a:prstGeom prst="ellipse">
            <a:avLst/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puzzle.png" id="247" name="Google Shape;247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87952" y="1901952"/>
            <a:ext cx="35661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11"/>
          <p:cNvSpPr/>
          <p:nvPr/>
        </p:nvSpPr>
        <p:spPr>
          <a:xfrm>
            <a:off x="3566160" y="2514600"/>
            <a:ext cx="1645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Shamir Split — GF(2⁸)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DEK's 32 bytes each become the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constant term of a degree D−1 polynomial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5120640" y="175564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T shards, each at a distinct x-coordinate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1"/>
          <p:cNvSpPr/>
          <p:nvPr/>
        </p:nvSpPr>
        <p:spPr>
          <a:xfrm>
            <a:off x="5120640" y="2148840"/>
            <a:ext cx="566928" cy="566928"/>
          </a:xfrm>
          <a:prstGeom prst="ellipse">
            <a:avLst/>
          </a:prstGeom>
          <a:solidFill>
            <a:srgbClr val="5B6E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cubes.png" id="251" name="Google Shape;251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56703" y="2284903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1"/>
          <p:cNvSpPr/>
          <p:nvPr/>
        </p:nvSpPr>
        <p:spPr>
          <a:xfrm>
            <a:off x="5897880" y="2148840"/>
            <a:ext cx="566928" cy="566928"/>
          </a:xfrm>
          <a:prstGeom prst="ellipse">
            <a:avLst/>
          </a:prstGeom>
          <a:solidFill>
            <a:srgbClr val="5B6E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cubes.png" id="253" name="Google Shape;253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33943" y="2284903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1"/>
          <p:cNvSpPr/>
          <p:nvPr/>
        </p:nvSpPr>
        <p:spPr>
          <a:xfrm>
            <a:off x="6675120" y="2148840"/>
            <a:ext cx="566928" cy="566928"/>
          </a:xfrm>
          <a:prstGeom prst="ellipse">
            <a:avLst/>
          </a:prstGeom>
          <a:solidFill>
            <a:srgbClr val="5B6E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cubes.png" id="255" name="Google Shape;255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11183" y="2284903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1"/>
          <p:cNvSpPr/>
          <p:nvPr/>
        </p:nvSpPr>
        <p:spPr>
          <a:xfrm>
            <a:off x="7452360" y="2148840"/>
            <a:ext cx="566928" cy="566928"/>
          </a:xfrm>
          <a:prstGeom prst="ellipse">
            <a:avLst/>
          </a:prstGeom>
          <a:solidFill>
            <a:srgbClr val="5B6E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cubes.png" id="257" name="Google Shape;257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88423" y="2284903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1"/>
          <p:cNvSpPr/>
          <p:nvPr/>
        </p:nvSpPr>
        <p:spPr>
          <a:xfrm>
            <a:off x="8229600" y="2148840"/>
            <a:ext cx="566928" cy="566928"/>
          </a:xfrm>
          <a:prstGeom prst="ellipse">
            <a:avLst/>
          </a:prstGeom>
          <a:solidFill>
            <a:srgbClr val="5B6E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cubes.png" id="259" name="Google Shape;259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65663" y="2284903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1"/>
          <p:cNvSpPr/>
          <p:nvPr/>
        </p:nvSpPr>
        <p:spPr>
          <a:xfrm>
            <a:off x="548640" y="3977640"/>
            <a:ext cx="11064240" cy="2011680"/>
          </a:xfrm>
          <a:prstGeom prst="roundRect">
            <a:avLst>
              <a:gd fmla="val 4091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1"/>
          <p:cNvSpPr/>
          <p:nvPr/>
        </p:nvSpPr>
        <p:spPr>
          <a:xfrm>
            <a:off x="914400" y="4279392"/>
            <a:ext cx="594360" cy="594360"/>
          </a:xfrm>
          <a:prstGeom prst="ellipse">
            <a:avLst/>
          </a:prstGeom>
          <a:solidFill>
            <a:srgbClr val="163A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balance.png" id="262" name="Google Shape;262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57046" y="4422038"/>
            <a:ext cx="309067" cy="309067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11"/>
          <p:cNvSpPr/>
          <p:nvPr/>
        </p:nvSpPr>
        <p:spPr>
          <a:xfrm>
            <a:off x="1691640" y="4160520"/>
            <a:ext cx="96012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Information-theoretic, not merely computational. A degree D−1 polynomial is uniquely determined by any D points — but with only D−1 points, every possible value of the secret byte remains equally consistent. An attacker holding fewer than D shards learns exactly zero bits, regardless of computing power.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1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SHARDIC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1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2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6F0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C6F0B"/>
                </a:solidFill>
                <a:latin typeface="Calibri"/>
                <a:ea typeface="Calibri"/>
                <a:cs typeface="Calibri"/>
                <a:sym typeface="Calibri"/>
              </a:rPr>
              <a:t>3.4 — FILE FORMAT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2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One File, Zero Metadata Leakage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2"/>
          <p:cNvSpPr/>
          <p:nvPr/>
        </p:nvSpPr>
        <p:spPr>
          <a:xfrm>
            <a:off x="548640" y="1417320"/>
            <a:ext cx="5394960" cy="1828800"/>
          </a:xfrm>
          <a:prstGeom prst="roundRect">
            <a:avLst>
              <a:gd fmla="val 4500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2"/>
          <p:cNvSpPr/>
          <p:nvPr/>
        </p:nvSpPr>
        <p:spPr>
          <a:xfrm>
            <a:off x="822960" y="1691640"/>
            <a:ext cx="548640" cy="548640"/>
          </a:xfrm>
          <a:prstGeom prst="ellipse">
            <a:avLst/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lock.png" id="275" name="Google Shape;27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4634" y="182331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2"/>
          <p:cNvSpPr/>
          <p:nvPr/>
        </p:nvSpPr>
        <p:spPr>
          <a:xfrm>
            <a:off x="1554480" y="1664208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Exactly one file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2"/>
          <p:cNvSpPr/>
          <p:nvPr/>
        </p:nvSpPr>
        <p:spPr>
          <a:xfrm>
            <a:off x="822960" y="2286000"/>
            <a:ext cx="48463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.krypt — nothing to accidentally separate from a companion metadata file; copy, email, or upload a single .krypt.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2"/>
          <p:cNvSpPr/>
          <p:nvPr/>
        </p:nvSpPr>
        <p:spPr>
          <a:xfrm>
            <a:off x="6217920" y="1417320"/>
            <a:ext cx="5394960" cy="1828800"/>
          </a:xfrm>
          <a:prstGeom prst="roundRect">
            <a:avLst>
              <a:gd fmla="val 4500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2"/>
          <p:cNvSpPr/>
          <p:nvPr/>
        </p:nvSpPr>
        <p:spPr>
          <a:xfrm>
            <a:off x="6492240" y="1691640"/>
            <a:ext cx="548640" cy="548640"/>
          </a:xfrm>
          <a:prstGeom prst="ellipse">
            <a:avLst/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puzzle.png" id="280" name="Google Shape;280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23914" y="182331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12"/>
          <p:cNvSpPr/>
          <p:nvPr/>
        </p:nvSpPr>
        <p:spPr>
          <a:xfrm>
            <a:off x="7223760" y="1664208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assignment mapping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2"/>
          <p:cNvSpPr/>
          <p:nvPr/>
        </p:nvSpPr>
        <p:spPr>
          <a:xfrm>
            <a:off x="6492240" y="2286000"/>
            <a:ext cx="48463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Shard order is randomly shuffled at creation; no record ties a shard to a trustee or a codeword.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2"/>
          <p:cNvSpPr/>
          <p:nvPr/>
        </p:nvSpPr>
        <p:spPr>
          <a:xfrm>
            <a:off x="548640" y="3474720"/>
            <a:ext cx="5394960" cy="1828800"/>
          </a:xfrm>
          <a:prstGeom prst="roundRect">
            <a:avLst>
              <a:gd fmla="val 4500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2"/>
          <p:cNvSpPr/>
          <p:nvPr/>
        </p:nvSpPr>
        <p:spPr>
          <a:xfrm>
            <a:off x="822960" y="3749040"/>
            <a:ext cx="548640" cy="548640"/>
          </a:xfrm>
          <a:prstGeom prst="ellipse">
            <a:avLst/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check.png" id="285" name="Google Shape;285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4634" y="388071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12"/>
          <p:cNvSpPr/>
          <p:nvPr/>
        </p:nvSpPr>
        <p:spPr>
          <a:xfrm>
            <a:off x="1554480" y="3721608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Trial matching, not lookup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2"/>
          <p:cNvSpPr/>
          <p:nvPr/>
        </p:nvSpPr>
        <p:spPr>
          <a:xfrm>
            <a:off x="822960" y="4343400"/>
            <a:ext cx="48463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Recovery tries each codeword against every unmatched shard; AES-GCM's auth tag is the correctness oracle — fails fast, never garbage output.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2"/>
          <p:cNvSpPr/>
          <p:nvPr/>
        </p:nvSpPr>
        <p:spPr>
          <a:xfrm>
            <a:off x="6217920" y="3474720"/>
            <a:ext cx="5394960" cy="1828800"/>
          </a:xfrm>
          <a:prstGeom prst="roundRect">
            <a:avLst>
              <a:gd fmla="val 4500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2"/>
          <p:cNvSpPr/>
          <p:nvPr/>
        </p:nvSpPr>
        <p:spPr>
          <a:xfrm>
            <a:off x="6492240" y="3749040"/>
            <a:ext cx="548640" cy="548640"/>
          </a:xfrm>
          <a:prstGeom prst="ellipse">
            <a:avLst/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shield.png" id="290" name="Google Shape;290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23914" y="388071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12"/>
          <p:cNvSpPr/>
          <p:nvPr/>
        </p:nvSpPr>
        <p:spPr>
          <a:xfrm>
            <a:off x="7223760" y="3721608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Nothing leaks at rest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2"/>
          <p:cNvSpPr/>
          <p:nvPr/>
        </p:nvSpPr>
        <p:spPr>
          <a:xfrm>
            <a:off x="6492240" y="4343400"/>
            <a:ext cx="48463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Raw AES-GCM bytes, no base64 (avoids ~33% size penalty). Seizing the file, or several codewords, in isolation reveals no assignment information.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2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SHARDIC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2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3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6F0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C6F0B"/>
                </a:solidFill>
                <a:latin typeface="Calibri"/>
                <a:ea typeface="Calibri"/>
                <a:cs typeface="Calibri"/>
                <a:sym typeface="Calibri"/>
              </a:rPr>
              <a:t>5.1 — SECURITY DISCUSSION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3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Two Different Guarantees, Two Different Levers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3"/>
          <p:cNvSpPr/>
          <p:nvPr/>
        </p:nvSpPr>
        <p:spPr>
          <a:xfrm>
            <a:off x="548640" y="1417320"/>
            <a:ext cx="5394960" cy="2103120"/>
          </a:xfrm>
          <a:prstGeom prst="roundRect">
            <a:avLst>
              <a:gd fmla="val 3913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3"/>
          <p:cNvSpPr/>
          <p:nvPr/>
        </p:nvSpPr>
        <p:spPr>
          <a:xfrm>
            <a:off x="868680" y="1645920"/>
            <a:ext cx="1920240" cy="347472"/>
          </a:xfrm>
          <a:prstGeom prst="roundRect">
            <a:avLst>
              <a:gd fmla="val 21053" name="adj"/>
            </a:avLst>
          </a:prstGeom>
          <a:solidFill>
            <a:srgbClr val="163A28"/>
          </a:solidFill>
          <a:ln cap="flat" cmpd="sng" w="12700">
            <a:solidFill>
              <a:srgbClr val="3EB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3"/>
          <p:cNvSpPr/>
          <p:nvPr/>
        </p:nvSpPr>
        <p:spPr>
          <a:xfrm>
            <a:off x="868680" y="1645920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EBD6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EBD6E"/>
                </a:solidFill>
                <a:latin typeface="Calibri"/>
                <a:ea typeface="Calibri"/>
                <a:cs typeface="Calibri"/>
                <a:sym typeface="Calibri"/>
              </a:rPr>
              <a:t>UNCONDITIONAL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3"/>
          <p:cNvSpPr/>
          <p:nvPr/>
        </p:nvSpPr>
        <p:spPr>
          <a:xfrm>
            <a:off x="868680" y="2084832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DEK &amp; Shamir Split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3"/>
          <p:cNvSpPr/>
          <p:nvPr/>
        </p:nvSpPr>
        <p:spPr>
          <a:xfrm>
            <a:off x="868680" y="2423160"/>
            <a:ext cx="48463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Below threshold D, shards carry zero information about the key — regardless of computing power. Raising T or D changes how many parties must collude, not how hard one shard is to attack.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3"/>
          <p:cNvSpPr/>
          <p:nvPr/>
        </p:nvSpPr>
        <p:spPr>
          <a:xfrm>
            <a:off x="6217920" y="1417320"/>
            <a:ext cx="5394960" cy="2103120"/>
          </a:xfrm>
          <a:prstGeom prst="roundRect">
            <a:avLst>
              <a:gd fmla="val 3913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3"/>
          <p:cNvSpPr/>
          <p:nvPr/>
        </p:nvSpPr>
        <p:spPr>
          <a:xfrm>
            <a:off x="6537960" y="1645920"/>
            <a:ext cx="2103120" cy="347472"/>
          </a:xfrm>
          <a:prstGeom prst="roundRect">
            <a:avLst>
              <a:gd fmla="val 21053" name="adj"/>
            </a:avLst>
          </a:prstGeom>
          <a:solidFill>
            <a:srgbClr val="3A2F14"/>
          </a:solidFill>
          <a:ln cap="flat" cmpd="sng" w="12700">
            <a:solidFill>
              <a:srgbClr val="E7B9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3"/>
          <p:cNvSpPr/>
          <p:nvPr/>
        </p:nvSpPr>
        <p:spPr>
          <a:xfrm>
            <a:off x="6537960" y="1645920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B93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7B93E"/>
                </a:solidFill>
                <a:latin typeface="Calibri"/>
                <a:ea typeface="Calibri"/>
                <a:cs typeface="Calibri"/>
                <a:sym typeface="Calibri"/>
              </a:rPr>
              <a:t>COMPUTATIONAL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3"/>
          <p:cNvSpPr/>
          <p:nvPr/>
        </p:nvSpPr>
        <p:spPr>
          <a:xfrm>
            <a:off x="6537960" y="2084832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Individual Codeword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3"/>
          <p:cNvSpPr/>
          <p:nvPr/>
        </p:nvSpPr>
        <p:spPr>
          <a:xfrm>
            <a:off x="6537960" y="2423160"/>
            <a:ext cx="48463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Only as strong as its own guessing space and KDF cost — the operator's responsibility. A higher D does not compensate: an attacker only ever needs D individually weak codewords.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3"/>
          <p:cNvSpPr/>
          <p:nvPr/>
        </p:nvSpPr>
        <p:spPr>
          <a:xfrm>
            <a:off x="548640" y="370332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Codeword generation modes — word count is what sets the real security margin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3"/>
          <p:cNvSpPr/>
          <p:nvPr/>
        </p:nvSpPr>
        <p:spPr>
          <a:xfrm>
            <a:off x="548640" y="4114800"/>
            <a:ext cx="3593592" cy="1828800"/>
          </a:xfrm>
          <a:prstGeom prst="roundRect">
            <a:avLst>
              <a:gd fmla="val 4500" name="adj"/>
            </a:avLst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3"/>
          <p:cNvSpPr/>
          <p:nvPr/>
        </p:nvSpPr>
        <p:spPr>
          <a:xfrm>
            <a:off x="777240" y="4297680"/>
            <a:ext cx="31363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Memorable (default)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3"/>
          <p:cNvSpPr/>
          <p:nvPr/>
        </p:nvSpPr>
        <p:spPr>
          <a:xfrm>
            <a:off x="777240" y="4617720"/>
            <a:ext cx="31363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B93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7B93E"/>
                </a:solidFill>
                <a:latin typeface="Calibri"/>
                <a:ea typeface="Calibri"/>
                <a:cs typeface="Calibri"/>
                <a:sym typeface="Calibri"/>
              </a:rPr>
              <a:t>~12.9 bits/word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3"/>
          <p:cNvSpPr/>
          <p:nvPr/>
        </p:nvSpPr>
        <p:spPr>
          <a:xfrm>
            <a:off x="777240" y="4983480"/>
            <a:ext cx="313639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Whole real words, EFF long list. 8 words ≈ 103 bits by default.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3"/>
          <p:cNvSpPr/>
          <p:nvPr/>
        </p:nvSpPr>
        <p:spPr>
          <a:xfrm>
            <a:off x="4325112" y="4114800"/>
            <a:ext cx="3593592" cy="1828800"/>
          </a:xfrm>
          <a:prstGeom prst="roundRect">
            <a:avLst>
              <a:gd fmla="val 4500" name="adj"/>
            </a:avLst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3"/>
          <p:cNvSpPr/>
          <p:nvPr/>
        </p:nvSpPr>
        <p:spPr>
          <a:xfrm>
            <a:off x="4553712" y="4297680"/>
            <a:ext cx="31363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Dictionary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3"/>
          <p:cNvSpPr/>
          <p:nvPr/>
        </p:nvSpPr>
        <p:spPr>
          <a:xfrm>
            <a:off x="4553712" y="4617720"/>
            <a:ext cx="31363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B93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7B93E"/>
                </a:solidFill>
                <a:latin typeface="Calibri"/>
                <a:ea typeface="Calibri"/>
                <a:cs typeface="Calibri"/>
                <a:sym typeface="Calibri"/>
              </a:rPr>
              <a:t>~8–11 bits/word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3"/>
          <p:cNvSpPr/>
          <p:nvPr/>
        </p:nvSpPr>
        <p:spPr>
          <a:xfrm>
            <a:off x="4553712" y="4983480"/>
            <a:ext cx="313639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Fixed length from a supplied wordlist — uniform shape, smaller pool.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3"/>
          <p:cNvSpPr/>
          <p:nvPr/>
        </p:nvSpPr>
        <p:spPr>
          <a:xfrm>
            <a:off x="8101584" y="4114800"/>
            <a:ext cx="3593592" cy="1828800"/>
          </a:xfrm>
          <a:prstGeom prst="roundRect">
            <a:avLst>
              <a:gd fmla="val 4500" name="adj"/>
            </a:avLst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3"/>
          <p:cNvSpPr/>
          <p:nvPr/>
        </p:nvSpPr>
        <p:spPr>
          <a:xfrm>
            <a:off x="8330184" y="4297680"/>
            <a:ext cx="31363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Synthetic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3"/>
          <p:cNvSpPr/>
          <p:nvPr/>
        </p:nvSpPr>
        <p:spPr>
          <a:xfrm>
            <a:off x="8330184" y="4617720"/>
            <a:ext cx="31363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B93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7B93E"/>
                </a:solidFill>
                <a:latin typeface="Calibri"/>
                <a:ea typeface="Calibri"/>
                <a:cs typeface="Calibri"/>
                <a:sym typeface="Calibri"/>
              </a:rPr>
              <a:t>~3.36 bits/char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3"/>
          <p:cNvSpPr/>
          <p:nvPr/>
        </p:nvSpPr>
        <p:spPr>
          <a:xfrm>
            <a:off x="8330184" y="4983480"/>
            <a:ext cx="313639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Pronounceable syllables; --strong-words adds case + digits for density.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3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SHARDIC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3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Rounded Rectangle 326"/>
          <p:cNvSpPr/>
          <p:nvPr/>
        </p:nvSpPr>
        <p:spPr>
          <a:xfrm>
            <a:off x="9335020" y="438912"/>
            <a:ext cx="2277860" cy="347472"/>
          </a:xfrm>
          <a:prstGeom prst="roundRect">
            <a:avLst>
              <a:gd name="adj" fmla="val 50000"/>
            </a:avLst>
          </a:prstGeom>
          <a:solidFill>
            <a:srgbClr val="3A2F14"/>
          </a:solidFill>
          <a:ln w="12700">
            <a:solidFill>
              <a:srgbClr val="E7B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100" b="1">
                <a:solidFill>
                  <a:srgbClr val="E7B93E"/>
                </a:solidFill>
                <a:latin typeface="Calibri"/>
              </a:rPr>
              <a:t>LARGELY MOOT — SEE §5.2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4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6F0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C6F0B"/>
                </a:solidFill>
                <a:latin typeface="Calibri"/>
                <a:ea typeface="Calibri"/>
                <a:cs typeface="Calibri"/>
                <a:sym typeface="Calibri"/>
              </a:rPr>
              <a:t>3.6 — AN IMPLEMENTED EXTENSION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4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shardic-envelope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4"/>
          <p:cNvSpPr/>
          <p:nvPr/>
        </p:nvSpPr>
        <p:spPr>
          <a:xfrm>
            <a:off x="8869680" y="438912"/>
            <a:ext cx="2743200" cy="347472"/>
          </a:xfrm>
          <a:prstGeom prst="roundRect">
            <a:avLst>
              <a:gd fmla="val 21053" name="adj"/>
            </a:avLst>
          </a:prstGeom>
          <a:solidFill>
            <a:srgbClr val="163A28"/>
          </a:solidFill>
          <a:ln cap="flat" cmpd="sng" w="12700">
            <a:solidFill>
              <a:srgbClr val="3EB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4"/>
          <p:cNvSpPr/>
          <p:nvPr/>
        </p:nvSpPr>
        <p:spPr>
          <a:xfrm>
            <a:off x="8869680" y="438912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EBD6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EBD6E"/>
                </a:solidFill>
                <a:latin typeface="Calibri"/>
                <a:ea typeface="Calibri"/>
                <a:cs typeface="Calibri"/>
                <a:sym typeface="Calibri"/>
              </a:rPr>
              <a:t>IMPLEMENTED — LIVE DEMO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4"/>
          <p:cNvSpPr/>
          <p:nvPr/>
        </p:nvSpPr>
        <p:spPr>
          <a:xfrm>
            <a:off x="548640" y="1097280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Every codeword mode ultimately protects a shard with something a human can recall — the design's real computational bottleneck. shardic-envelope removes that ceiling for trustees willing to hold a keypair, wrapping each codeword under a key they already control rather than under a memory limit. Built on shardic-prime; demoed end-to-end against real Keycloak infrastructure with a live SSE dashboard.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4"/>
          <p:cNvSpPr/>
          <p:nvPr/>
        </p:nvSpPr>
        <p:spPr>
          <a:xfrm>
            <a:off x="548640" y="2148840"/>
            <a:ext cx="5394960" cy="3429000"/>
          </a:xfrm>
          <a:prstGeom prst="roundRect">
            <a:avLst>
              <a:gd fmla="val 2400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4"/>
          <p:cNvSpPr/>
          <p:nvPr/>
        </p:nvSpPr>
        <p:spPr>
          <a:xfrm>
            <a:off x="868680" y="2423160"/>
            <a:ext cx="502920" cy="502920"/>
          </a:xfrm>
          <a:prstGeom prst="ellipse">
            <a:avLst/>
          </a:prstGeom>
          <a:solidFill>
            <a:srgbClr val="163A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check.png" id="339" name="Google Shape;33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9381" y="2543861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14"/>
          <p:cNvSpPr/>
          <p:nvPr/>
        </p:nvSpPr>
        <p:spPr>
          <a:xfrm>
            <a:off x="1508760" y="2450592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Good fit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4"/>
          <p:cNvSpPr/>
          <p:nvPr/>
        </p:nvSpPr>
        <p:spPr>
          <a:xfrm>
            <a:off x="868680" y="2971800"/>
            <a:ext cx="47548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Trustee pools who already function as cryptographic identities in their day job — infra engineers, security officers, multisig cold-storage signers, PKI-backed roles. Near-arbitrary codeword strength, zero memorization burden.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4"/>
          <p:cNvSpPr/>
          <p:nvPr/>
        </p:nvSpPr>
        <p:spPr>
          <a:xfrm>
            <a:off x="868680" y="4434840"/>
            <a:ext cx="47548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1130"/>
              <a:buFont typeface="Calibri"/>
              <a:buNone/>
            </a:pPr>
            <a:r>
              <a:rPr b="0" i="1" lang="en-US" sz="113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The two mechanisms are complementary — which trustees use envelope wrapping vs. a memorable phrase is a per-trustee decision, not vault-wide.</a:t>
            </a:r>
            <a:endParaRPr b="0" i="0" sz="11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4"/>
          <p:cNvSpPr/>
          <p:nvPr/>
        </p:nvSpPr>
        <p:spPr>
          <a:xfrm>
            <a:off x="6217920" y="2148840"/>
            <a:ext cx="5394960" cy="3429000"/>
          </a:xfrm>
          <a:prstGeom prst="roundRect">
            <a:avLst>
              <a:gd fmla="val 2400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4"/>
          <p:cNvSpPr/>
          <p:nvPr/>
        </p:nvSpPr>
        <p:spPr>
          <a:xfrm>
            <a:off x="6537960" y="2423160"/>
            <a:ext cx="502920" cy="502920"/>
          </a:xfrm>
          <a:prstGeom prst="ellipse">
            <a:avLst/>
          </a:prstGeom>
          <a:solidFill>
            <a:srgbClr val="3A2F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alert.png" id="345" name="Google Shape;34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58661" y="2543861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14"/>
          <p:cNvSpPr/>
          <p:nvPr/>
        </p:nvSpPr>
        <p:spPr>
          <a:xfrm>
            <a:off x="7178040" y="2450592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Poor fit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4"/>
          <p:cNvSpPr/>
          <p:nvPr/>
        </p:nvSpPr>
        <p:spPr>
          <a:xfrm>
            <a:off x="6537960" y="2971800"/>
            <a:ext cx="47548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The diceware-style family-estate case (§1.3): the whole premise is a relative who can recall a phrase without managing cryptographic material. Trading “remember five words” for “protect a key file forever” is plausibly a net loss for a non-technical trustee.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4"/>
          <p:cNvSpPr/>
          <p:nvPr/>
        </p:nvSpPr>
        <p:spPr>
          <a:xfrm>
            <a:off x="6537960" y="4434840"/>
            <a:ext cx="47548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1130"/>
              <a:buFont typeface="Calibri"/>
              <a:buNone/>
            </a:pPr>
            <a:r>
              <a:rPr b="0" i="1" lang="en-US" sz="113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Trade-off: a private key becomes a new single point of failure per shard, and credential lookup introduces a new trust boundary.</a:t>
            </a:r>
            <a:endParaRPr b="0" i="0" sz="11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4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SHARDIC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4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5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6F0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C6F0B"/>
                </a:solidFill>
                <a:latin typeface="Calibri"/>
                <a:ea typeface="Calibri"/>
                <a:cs typeface="Calibri"/>
                <a:sym typeface="Calibri"/>
              </a:rPr>
              <a:t>3.7 — OPERATOR-RUN TRUSTEE SELECTION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5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Ceremony Formation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5"/>
          <p:cNvSpPr/>
          <p:nvPr/>
        </p:nvSpPr>
        <p:spPr>
          <a:xfrm>
            <a:off x="8869680" y="438912"/>
            <a:ext cx="2743200" cy="347472"/>
          </a:xfrm>
          <a:prstGeom prst="roundRect">
            <a:avLst>
              <a:gd fmla="val 21053" name="adj"/>
            </a:avLst>
          </a:prstGeom>
          <a:solidFill>
            <a:srgbClr val="163A28"/>
          </a:solidFill>
          <a:ln cap="flat" cmpd="sng" w="12700">
            <a:solidFill>
              <a:srgbClr val="3EB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5"/>
          <p:cNvSpPr/>
          <p:nvPr/>
        </p:nvSpPr>
        <p:spPr>
          <a:xfrm>
            <a:off x="8869680" y="438912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EBD6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EBD6E"/>
                </a:solidFill>
                <a:latin typeface="Calibri"/>
                <a:ea typeface="Calibri"/>
                <a:cs typeface="Calibri"/>
                <a:sym typeface="Calibri"/>
              </a:rPr>
              <a:t>IMPLEMENTED — V1.0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5"/>
          <p:cNvSpPr/>
          <p:nvPr/>
        </p:nvSpPr>
        <p:spPr>
          <a:xfrm>
            <a:off x="548640" y="1097280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shardic-envelope's operator selects T primaries plus an ordered backup list from a registered candidate directory, issues per-trustee invitations, and the ceremony self-heals around declines or timeouts — without the operator ever being eligible to select themselves as a trustee.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5"/>
          <p:cNvSpPr/>
          <p:nvPr/>
        </p:nvSpPr>
        <p:spPr>
          <a:xfrm>
            <a:off x="548640" y="1965960"/>
            <a:ext cx="11064240" cy="1051560"/>
          </a:xfrm>
          <a:prstGeom prst="roundRect">
            <a:avLst>
              <a:gd fmla="val 7826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5"/>
          <p:cNvSpPr/>
          <p:nvPr/>
        </p:nvSpPr>
        <p:spPr>
          <a:xfrm>
            <a:off x="868680" y="21031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CEREMONY STATE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5"/>
          <p:cNvSpPr/>
          <p:nvPr/>
        </p:nvSpPr>
        <p:spPr>
          <a:xfrm>
            <a:off x="868680" y="2423160"/>
            <a:ext cx="1508760" cy="347472"/>
          </a:xfrm>
          <a:prstGeom prst="roundRect">
            <a:avLst>
              <a:gd fmla="val 21053" name="adj"/>
            </a:avLst>
          </a:prstGeom>
          <a:solidFill>
            <a:srgbClr val="3A2F14"/>
          </a:solidFill>
          <a:ln cap="flat" cmpd="sng" w="12700">
            <a:solidFill>
              <a:srgbClr val="E7B9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5"/>
          <p:cNvSpPr/>
          <p:nvPr/>
        </p:nvSpPr>
        <p:spPr>
          <a:xfrm>
            <a:off x="868680" y="2423160"/>
            <a:ext cx="1508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B93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7B93E"/>
                </a:solidFill>
                <a:latin typeface="Calibri"/>
                <a:ea typeface="Calibri"/>
                <a:cs typeface="Calibri"/>
                <a:sym typeface="Calibri"/>
              </a:rPr>
              <a:t>FORMING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5"/>
          <p:cNvSpPr/>
          <p:nvPr/>
        </p:nvSpPr>
        <p:spPr>
          <a:xfrm>
            <a:off x="2487168" y="2487168"/>
            <a:ext cx="320040" cy="21945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FB2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5"/>
          <p:cNvSpPr/>
          <p:nvPr/>
        </p:nvSpPr>
        <p:spPr>
          <a:xfrm>
            <a:off x="2926080" y="2423160"/>
            <a:ext cx="1508760" cy="347472"/>
          </a:xfrm>
          <a:prstGeom prst="roundRect">
            <a:avLst>
              <a:gd fmla="val 21053" name="adj"/>
            </a:avLst>
          </a:prstGeom>
          <a:solidFill>
            <a:srgbClr val="163A28"/>
          </a:solidFill>
          <a:ln cap="flat" cmpd="sng" w="12700">
            <a:solidFill>
              <a:srgbClr val="3EB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5"/>
          <p:cNvSpPr/>
          <p:nvPr/>
        </p:nvSpPr>
        <p:spPr>
          <a:xfrm>
            <a:off x="2926080" y="2423160"/>
            <a:ext cx="1508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EBD6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EBD6E"/>
                </a:solidFill>
                <a:latin typeface="Calibri"/>
                <a:ea typeface="Calibri"/>
                <a:cs typeface="Calibri"/>
                <a:sym typeface="Calibri"/>
              </a:rPr>
              <a:t>FORMED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5"/>
          <p:cNvSpPr/>
          <p:nvPr/>
        </p:nvSpPr>
        <p:spPr>
          <a:xfrm>
            <a:off x="4617720" y="246888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every slot accepted → vault creation unlocked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5"/>
          <p:cNvSpPr/>
          <p:nvPr/>
        </p:nvSpPr>
        <p:spPr>
          <a:xfrm>
            <a:off x="7726680" y="2487168"/>
            <a:ext cx="320040" cy="21945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560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5"/>
          <p:cNvSpPr/>
          <p:nvPr/>
        </p:nvSpPr>
        <p:spPr>
          <a:xfrm>
            <a:off x="8183880" y="2423160"/>
            <a:ext cx="1371600" cy="347472"/>
          </a:xfrm>
          <a:prstGeom prst="roundRect">
            <a:avLst>
              <a:gd fmla="val 21053" name="adj"/>
            </a:avLst>
          </a:prstGeom>
          <a:solidFill>
            <a:srgbClr val="3A1E1C"/>
          </a:solidFill>
          <a:ln cap="flat" cmpd="sng" w="12700">
            <a:solidFill>
              <a:srgbClr val="E560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5"/>
          <p:cNvSpPr/>
          <p:nvPr/>
        </p:nvSpPr>
        <p:spPr>
          <a:xfrm>
            <a:off x="8183880" y="2423160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605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5605A"/>
                </a:solidFill>
                <a:latin typeface="Calibri"/>
                <a:ea typeface="Calibri"/>
                <a:cs typeface="Calibri"/>
                <a:sym typeface="Calibri"/>
              </a:rPr>
              <a:t>FAILED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5"/>
          <p:cNvSpPr/>
          <p:nvPr/>
        </p:nvSpPr>
        <p:spPr>
          <a:xfrm>
            <a:off x="9692640" y="246888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if backup list exhausted first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5"/>
          <p:cNvSpPr/>
          <p:nvPr/>
        </p:nvSpPr>
        <p:spPr>
          <a:xfrm>
            <a:off x="548640" y="3200400"/>
            <a:ext cx="5394960" cy="1600200"/>
          </a:xfrm>
          <a:prstGeom prst="roundRect">
            <a:avLst>
              <a:gd fmla="val 5143" name="adj"/>
            </a:avLst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5"/>
          <p:cNvSpPr/>
          <p:nvPr/>
        </p:nvSpPr>
        <p:spPr>
          <a:xfrm>
            <a:off x="804672" y="3429000"/>
            <a:ext cx="475488" cy="475488"/>
          </a:xfrm>
          <a:prstGeom prst="ellipse">
            <a:avLst/>
          </a:prstGeom>
          <a:solidFill>
            <a:srgbClr val="2431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usershield.png" id="375" name="Google Shape;37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8789" y="3543117"/>
            <a:ext cx="247254" cy="247254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15"/>
          <p:cNvSpPr/>
          <p:nvPr/>
        </p:nvSpPr>
        <p:spPr>
          <a:xfrm>
            <a:off x="1417320" y="3401568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Separation of duties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5"/>
          <p:cNvSpPr/>
          <p:nvPr/>
        </p:nvSpPr>
        <p:spPr>
          <a:xfrm>
            <a:off x="804672" y="3950208"/>
            <a:ext cx="4892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1030"/>
              <a:buFont typeface="Calibri"/>
              <a:buNone/>
            </a:pPr>
            <a:r>
              <a:rPr b="0" i="0" lang="en-US" sz="103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The operator role (a dedicated Keycloak realm role) is checked against ceremony trustee selections — an operator can't invite themselves.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5"/>
          <p:cNvSpPr/>
          <p:nvPr/>
        </p:nvSpPr>
        <p:spPr>
          <a:xfrm>
            <a:off x="6217920" y="3200400"/>
            <a:ext cx="5394960" cy="1600200"/>
          </a:xfrm>
          <a:prstGeom prst="roundRect">
            <a:avLst>
              <a:gd fmla="val 5143" name="adj"/>
            </a:avLst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5"/>
          <p:cNvSpPr/>
          <p:nvPr/>
        </p:nvSpPr>
        <p:spPr>
          <a:xfrm>
            <a:off x="6473952" y="3429000"/>
            <a:ext cx="475488" cy="475488"/>
          </a:xfrm>
          <a:prstGeom prst="ellipse">
            <a:avLst/>
          </a:prstGeom>
          <a:solidFill>
            <a:srgbClr val="2431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userclock.png" id="380" name="Google Shape;38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8069" y="3543117"/>
            <a:ext cx="247254" cy="247254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15"/>
          <p:cNvSpPr/>
          <p:nvPr/>
        </p:nvSpPr>
        <p:spPr>
          <a:xfrm>
            <a:off x="7086600" y="3401568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Decline / TTL handling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5"/>
          <p:cNvSpPr/>
          <p:nvPr/>
        </p:nvSpPr>
        <p:spPr>
          <a:xfrm>
            <a:off x="6473952" y="3950208"/>
            <a:ext cx="4892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1030"/>
              <a:buFont typeface="Calibri"/>
              <a:buNone/>
            </a:pPr>
            <a:r>
              <a:rPr b="0" i="0" lang="en-US" sz="103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Each invitation is ephemeral and polled (GET /trustees/pending-invitation). A decline or timeout lapses the slot immediately.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5"/>
          <p:cNvSpPr/>
          <p:nvPr/>
        </p:nvSpPr>
        <p:spPr>
          <a:xfrm>
            <a:off x="548640" y="4983480"/>
            <a:ext cx="5394960" cy="1600200"/>
          </a:xfrm>
          <a:prstGeom prst="roundRect">
            <a:avLst>
              <a:gd fmla="val 5143" name="adj"/>
            </a:avLst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5"/>
          <p:cNvSpPr/>
          <p:nvPr/>
        </p:nvSpPr>
        <p:spPr>
          <a:xfrm>
            <a:off x="804672" y="5212080"/>
            <a:ext cx="475488" cy="475488"/>
          </a:xfrm>
          <a:prstGeom prst="ellipse">
            <a:avLst/>
          </a:prstGeom>
          <a:solidFill>
            <a:srgbClr val="2431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sitemap.png" id="385" name="Google Shape;38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8789" y="5326197"/>
            <a:ext cx="247254" cy="247254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15"/>
          <p:cNvSpPr/>
          <p:nvPr/>
        </p:nvSpPr>
        <p:spPr>
          <a:xfrm>
            <a:off x="1417320" y="5184648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Automatic backfill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5"/>
          <p:cNvSpPr/>
          <p:nvPr/>
        </p:nvSpPr>
        <p:spPr>
          <a:xfrm>
            <a:off x="804672" y="5733288"/>
            <a:ext cx="4892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1030"/>
              <a:buFont typeface="Calibri"/>
              <a:buNone/>
            </a:pPr>
            <a:r>
              <a:rPr b="0" i="0" lang="en-US" sz="103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The next-ranked candidate on the ordered backup list is promoted into a lapsed slot, inheriting its role (prime or pool) — race-safe against duplicate responses.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5"/>
          <p:cNvSpPr/>
          <p:nvPr/>
        </p:nvSpPr>
        <p:spPr>
          <a:xfrm>
            <a:off x="6217920" y="4983480"/>
            <a:ext cx="5394960" cy="1600200"/>
          </a:xfrm>
          <a:prstGeom prst="roundRect">
            <a:avLst>
              <a:gd fmla="val 5143" name="adj"/>
            </a:avLst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5"/>
          <p:cNvSpPr/>
          <p:nvPr/>
        </p:nvSpPr>
        <p:spPr>
          <a:xfrm>
            <a:off x="6473952" y="5212080"/>
            <a:ext cx="475488" cy="475488"/>
          </a:xfrm>
          <a:prstGeom prst="ellipse">
            <a:avLst/>
          </a:prstGeom>
          <a:solidFill>
            <a:srgbClr val="2431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check.png" id="390" name="Google Shape;39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88069" y="5326197"/>
            <a:ext cx="247254" cy="247254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15"/>
          <p:cNvSpPr/>
          <p:nvPr/>
        </p:nvSpPr>
        <p:spPr>
          <a:xfrm>
            <a:off x="7086600" y="5184648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Real routes, real state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5"/>
          <p:cNvSpPr/>
          <p:nvPr/>
        </p:nvSpPr>
        <p:spPr>
          <a:xfrm>
            <a:off x="6473952" y="5733288"/>
            <a:ext cx="4892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1030"/>
              <a:buFont typeface="Calibri"/>
              <a:buNone/>
            </a:pPr>
            <a:r>
              <a:rPr b="0" i="0" lang="en-US" sz="103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POST /admin/ceremony/initiate, STATE["ceremony"], and SSE events (ceremony_initiated / ceremony_formed / ceremony_failed) — not a design sketch.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5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SHARDIC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5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6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6F0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C6F0B"/>
                </a:solidFill>
                <a:latin typeface="Calibri"/>
                <a:ea typeface="Calibri"/>
                <a:cs typeface="Calibri"/>
                <a:sym typeface="Calibri"/>
              </a:rPr>
              <a:t>3.7 — THE OPERATIONAL LIFECYCLE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6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Register → Form → Wrap → Deliver → Recover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6"/>
          <p:cNvSpPr/>
          <p:nvPr/>
        </p:nvSpPr>
        <p:spPr>
          <a:xfrm>
            <a:off x="548640" y="1234440"/>
            <a:ext cx="2139696" cy="4114800"/>
          </a:xfrm>
          <a:prstGeom prst="roundRect">
            <a:avLst>
              <a:gd fmla="val 3846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6"/>
          <p:cNvSpPr/>
          <p:nvPr/>
        </p:nvSpPr>
        <p:spPr>
          <a:xfrm>
            <a:off x="1298448" y="1463040"/>
            <a:ext cx="640080" cy="640080"/>
          </a:xfrm>
          <a:prstGeom prst="ellipse">
            <a:avLst/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usershield.png" id="404" name="Google Shape;40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52067" y="1616659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16"/>
          <p:cNvSpPr/>
          <p:nvPr/>
        </p:nvSpPr>
        <p:spPr>
          <a:xfrm>
            <a:off x="658368" y="224028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Register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6"/>
          <p:cNvSpPr/>
          <p:nvPr/>
        </p:nvSpPr>
        <p:spPr>
          <a:xfrm>
            <a:off x="685800" y="2606040"/>
            <a:ext cx="1865376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960"/>
              <a:buFont typeface="Calibri"/>
              <a:buNone/>
            </a:pPr>
            <a:r>
              <a:rPr b="0" i="0" lang="en-US" sz="96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Trustees join a Keycloak candidate directory. Keypair is generated client-side only (WebCrypto / hardware token) — the private key never leaves the device.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6"/>
          <p:cNvSpPr/>
          <p:nvPr/>
        </p:nvSpPr>
        <p:spPr>
          <a:xfrm>
            <a:off x="685800" y="4846320"/>
            <a:ext cx="1865376" cy="347472"/>
          </a:xfrm>
          <a:prstGeom prst="roundRect">
            <a:avLst>
              <a:gd fmla="val 21053" name="adj"/>
            </a:avLst>
          </a:prstGeom>
          <a:solidFill>
            <a:srgbClr val="163A28"/>
          </a:solidFill>
          <a:ln cap="flat" cmpd="sng" w="12700">
            <a:solidFill>
              <a:srgbClr val="3EB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6"/>
          <p:cNvSpPr/>
          <p:nvPr/>
        </p:nvSpPr>
        <p:spPr>
          <a:xfrm>
            <a:off x="685800" y="4846320"/>
            <a:ext cx="18653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EBD6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EBD6E"/>
                </a:solidFill>
                <a:latin typeface="Calibri"/>
                <a:ea typeface="Calibri"/>
                <a:cs typeface="Calibri"/>
                <a:sym typeface="Calibri"/>
              </a:rPr>
              <a:t>IMPLEMENTED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6"/>
          <p:cNvSpPr/>
          <p:nvPr/>
        </p:nvSpPr>
        <p:spPr>
          <a:xfrm>
            <a:off x="2692908" y="3182112"/>
            <a:ext cx="109728" cy="21945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592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6"/>
          <p:cNvSpPr/>
          <p:nvPr/>
        </p:nvSpPr>
        <p:spPr>
          <a:xfrm>
            <a:off x="2807208" y="1234440"/>
            <a:ext cx="2139696" cy="4114800"/>
          </a:xfrm>
          <a:prstGeom prst="roundRect">
            <a:avLst>
              <a:gd fmla="val 3846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6"/>
          <p:cNvSpPr/>
          <p:nvPr/>
        </p:nvSpPr>
        <p:spPr>
          <a:xfrm>
            <a:off x="3557016" y="1463040"/>
            <a:ext cx="640080" cy="640080"/>
          </a:xfrm>
          <a:prstGeom prst="ellipse">
            <a:avLst/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sitemap.png" id="412" name="Google Shape;41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10635" y="1616659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16"/>
          <p:cNvSpPr/>
          <p:nvPr/>
        </p:nvSpPr>
        <p:spPr>
          <a:xfrm>
            <a:off x="2916936" y="224028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Form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6"/>
          <p:cNvSpPr/>
          <p:nvPr/>
        </p:nvSpPr>
        <p:spPr>
          <a:xfrm>
            <a:off x="2944368" y="2606040"/>
            <a:ext cx="1865376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960"/>
              <a:buFont typeface="Calibri"/>
              <a:buNone/>
            </a:pPr>
            <a:r>
              <a:rPr b="0" i="0" lang="en-US" sz="96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Operator initiates a ceremony (§3.6); invitations, decline/TTL, and backfill run until every slot is accepted or the backup list is exhausted.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6"/>
          <p:cNvSpPr/>
          <p:nvPr/>
        </p:nvSpPr>
        <p:spPr>
          <a:xfrm>
            <a:off x="2944368" y="4846320"/>
            <a:ext cx="1865376" cy="347472"/>
          </a:xfrm>
          <a:prstGeom prst="roundRect">
            <a:avLst>
              <a:gd fmla="val 21053" name="adj"/>
            </a:avLst>
          </a:prstGeom>
          <a:solidFill>
            <a:srgbClr val="163A28"/>
          </a:solidFill>
          <a:ln cap="flat" cmpd="sng" w="12700">
            <a:solidFill>
              <a:srgbClr val="3EB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6"/>
          <p:cNvSpPr/>
          <p:nvPr/>
        </p:nvSpPr>
        <p:spPr>
          <a:xfrm>
            <a:off x="2944368" y="4846320"/>
            <a:ext cx="18653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EBD6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EBD6E"/>
                </a:solidFill>
                <a:latin typeface="Calibri"/>
                <a:ea typeface="Calibri"/>
                <a:cs typeface="Calibri"/>
                <a:sym typeface="Calibri"/>
              </a:rPr>
              <a:t>IMPLEMENTED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6"/>
          <p:cNvSpPr/>
          <p:nvPr/>
        </p:nvSpPr>
        <p:spPr>
          <a:xfrm>
            <a:off x="4951476" y="3182112"/>
            <a:ext cx="109728" cy="21945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592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6"/>
          <p:cNvSpPr/>
          <p:nvPr/>
        </p:nvSpPr>
        <p:spPr>
          <a:xfrm>
            <a:off x="5065776" y="1234440"/>
            <a:ext cx="2139696" cy="4114800"/>
          </a:xfrm>
          <a:prstGeom prst="roundRect">
            <a:avLst>
              <a:gd fmla="val 3846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6"/>
          <p:cNvSpPr/>
          <p:nvPr/>
        </p:nvSpPr>
        <p:spPr>
          <a:xfrm>
            <a:off x="5815584" y="1463040"/>
            <a:ext cx="640080" cy="640080"/>
          </a:xfrm>
          <a:prstGeom prst="ellipse">
            <a:avLst/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lock.png" id="420" name="Google Shape;42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69203" y="1616659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16"/>
          <p:cNvSpPr/>
          <p:nvPr/>
        </p:nvSpPr>
        <p:spPr>
          <a:xfrm>
            <a:off x="5175504" y="224028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Wrap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6"/>
          <p:cNvSpPr/>
          <p:nvPr/>
        </p:nvSpPr>
        <p:spPr>
          <a:xfrm>
            <a:off x="5202936" y="2606040"/>
            <a:ext cx="1865376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960"/>
              <a:buFont typeface="Calibri"/>
              <a:buNone/>
            </a:pPr>
            <a:r>
              <a:rPr b="0" i="0" lang="en-US" sz="96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On vault creation, each codeword is wrapped under its trustee's ceremony-confirmed public key via shardic_envelope_crypto.wrap() — the combiner never sees a plaintext codeword.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6"/>
          <p:cNvSpPr/>
          <p:nvPr/>
        </p:nvSpPr>
        <p:spPr>
          <a:xfrm>
            <a:off x="5202936" y="4846320"/>
            <a:ext cx="1865376" cy="347472"/>
          </a:xfrm>
          <a:prstGeom prst="roundRect">
            <a:avLst>
              <a:gd fmla="val 21053" name="adj"/>
            </a:avLst>
          </a:prstGeom>
          <a:solidFill>
            <a:srgbClr val="163A28"/>
          </a:solidFill>
          <a:ln cap="flat" cmpd="sng" w="12700">
            <a:solidFill>
              <a:srgbClr val="3EB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6"/>
          <p:cNvSpPr/>
          <p:nvPr/>
        </p:nvSpPr>
        <p:spPr>
          <a:xfrm>
            <a:off x="5202936" y="4846320"/>
            <a:ext cx="18653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EBD6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EBD6E"/>
                </a:solidFill>
                <a:latin typeface="Calibri"/>
                <a:ea typeface="Calibri"/>
                <a:cs typeface="Calibri"/>
                <a:sym typeface="Calibri"/>
              </a:rPr>
              <a:t>IMPLEMENTED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6"/>
          <p:cNvSpPr/>
          <p:nvPr/>
        </p:nvSpPr>
        <p:spPr>
          <a:xfrm>
            <a:off x="7210044" y="3182112"/>
            <a:ext cx="109728" cy="21945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592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6"/>
          <p:cNvSpPr/>
          <p:nvPr/>
        </p:nvSpPr>
        <p:spPr>
          <a:xfrm>
            <a:off x="7324344" y="1234440"/>
            <a:ext cx="2139696" cy="4114800"/>
          </a:xfrm>
          <a:prstGeom prst="roundRect">
            <a:avLst>
              <a:gd fmla="val 3846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6"/>
          <p:cNvSpPr/>
          <p:nvPr/>
        </p:nvSpPr>
        <p:spPr>
          <a:xfrm>
            <a:off x="8074152" y="1463040"/>
            <a:ext cx="640080" cy="640080"/>
          </a:xfrm>
          <a:prstGeom prst="ellipse">
            <a:avLst/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mailenvelope.png" id="428" name="Google Shape;42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7771" y="1616659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16"/>
          <p:cNvSpPr/>
          <p:nvPr/>
        </p:nvSpPr>
        <p:spPr>
          <a:xfrm>
            <a:off x="7434072" y="224028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 Deliver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6"/>
          <p:cNvSpPr/>
          <p:nvPr/>
        </p:nvSpPr>
        <p:spPr>
          <a:xfrm>
            <a:off x="7461504" y="2606040"/>
            <a:ext cx="1865376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960"/>
              <a:buFont typeface="Calibri"/>
              <a:buNone/>
            </a:pPr>
            <a:r>
              <a:rPr b="0" i="0" lang="en-US" sz="96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Trustee polls GET /trustees/pending-envelope, a pull-based, single-read drop point. Working end-to-end today as an in-process store — a pluggable EnvelopeDropPoint backend is the tracked follow-on.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6"/>
          <p:cNvSpPr/>
          <p:nvPr/>
        </p:nvSpPr>
        <p:spPr>
          <a:xfrm>
            <a:off x="7461504" y="4846320"/>
            <a:ext cx="1865376" cy="347472"/>
          </a:xfrm>
          <a:prstGeom prst="roundRect">
            <a:avLst>
              <a:gd fmla="val 21053" name="adj"/>
            </a:avLst>
          </a:prstGeom>
          <a:solidFill>
            <a:srgbClr val="163A28"/>
          </a:solidFill>
          <a:ln cap="flat" cmpd="sng" w="12700">
            <a:solidFill>
              <a:srgbClr val="3EB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6"/>
          <p:cNvSpPr/>
          <p:nvPr/>
        </p:nvSpPr>
        <p:spPr>
          <a:xfrm>
            <a:off x="7461504" y="4846320"/>
            <a:ext cx="18653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EBD6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EBD6E"/>
                </a:solidFill>
                <a:latin typeface="Calibri"/>
                <a:ea typeface="Calibri"/>
                <a:cs typeface="Calibri"/>
                <a:sym typeface="Calibri"/>
              </a:rPr>
              <a:t>IMPLEMENTED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6"/>
          <p:cNvSpPr/>
          <p:nvPr/>
        </p:nvSpPr>
        <p:spPr>
          <a:xfrm>
            <a:off x="9468612" y="3182112"/>
            <a:ext cx="109728" cy="21945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592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6"/>
          <p:cNvSpPr/>
          <p:nvPr/>
        </p:nvSpPr>
        <p:spPr>
          <a:xfrm>
            <a:off x="9582912" y="1234440"/>
            <a:ext cx="2139696" cy="4114800"/>
          </a:xfrm>
          <a:prstGeom prst="roundRect">
            <a:avLst>
              <a:gd fmla="val 3846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6"/>
          <p:cNvSpPr/>
          <p:nvPr/>
        </p:nvSpPr>
        <p:spPr>
          <a:xfrm>
            <a:off x="10332720" y="1463040"/>
            <a:ext cx="640080" cy="640080"/>
          </a:xfrm>
          <a:prstGeom prst="ellipse">
            <a:avLst/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check.png" id="436" name="Google Shape;436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86339" y="1616659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16"/>
          <p:cNvSpPr/>
          <p:nvPr/>
        </p:nvSpPr>
        <p:spPr>
          <a:xfrm>
            <a:off x="9692640" y="224028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5. Recover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6"/>
          <p:cNvSpPr/>
          <p:nvPr/>
        </p:nvSpPr>
        <p:spPr>
          <a:xfrm>
            <a:off x="9720072" y="2606040"/>
            <a:ext cx="1865376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960"/>
              <a:buFont typeface="Calibri"/>
              <a:buNone/>
            </a:pPr>
            <a:r>
              <a:rPr b="0" i="0" lang="en-US" sz="96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Trustee decrypts their own envelope locally, then supplies the shard — the base recovery flow (§2.2) is otherwise unchanged.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6"/>
          <p:cNvSpPr/>
          <p:nvPr/>
        </p:nvSpPr>
        <p:spPr>
          <a:xfrm>
            <a:off x="9720072" y="4846320"/>
            <a:ext cx="1865376" cy="347472"/>
          </a:xfrm>
          <a:prstGeom prst="roundRect">
            <a:avLst>
              <a:gd fmla="val 21053" name="adj"/>
            </a:avLst>
          </a:prstGeom>
          <a:solidFill>
            <a:srgbClr val="163A28"/>
          </a:solidFill>
          <a:ln cap="flat" cmpd="sng" w="12700">
            <a:solidFill>
              <a:srgbClr val="3EB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6"/>
          <p:cNvSpPr/>
          <p:nvPr/>
        </p:nvSpPr>
        <p:spPr>
          <a:xfrm>
            <a:off x="9720072" y="4846320"/>
            <a:ext cx="18653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EBD6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EBD6E"/>
                </a:solidFill>
                <a:latin typeface="Calibri"/>
                <a:ea typeface="Calibri"/>
                <a:cs typeface="Calibri"/>
                <a:sym typeface="Calibri"/>
              </a:rPr>
              <a:t>IMPLEMENTED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6"/>
          <p:cNvSpPr/>
          <p:nvPr/>
        </p:nvSpPr>
        <p:spPr>
          <a:xfrm>
            <a:off x="548640" y="5532120"/>
            <a:ext cx="11064240" cy="914400"/>
          </a:xfrm>
          <a:prstGeom prst="roundRect">
            <a:avLst>
              <a:gd fmla="val 9000" name="adj"/>
            </a:avLst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6"/>
          <p:cNvSpPr/>
          <p:nvPr/>
        </p:nvSpPr>
        <p:spPr>
          <a:xfrm>
            <a:off x="822960" y="5687568"/>
            <a:ext cx="548640" cy="548640"/>
          </a:xfrm>
          <a:prstGeom prst="ellipse">
            <a:avLst/>
          </a:prstGeom>
          <a:solidFill>
            <a:srgbClr val="2431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bell.png" id="443" name="Google Shape;443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54634" y="5819242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16"/>
          <p:cNvSpPr/>
          <p:nvPr/>
        </p:nvSpPr>
        <p:spPr>
          <a:xfrm>
            <a:off x="1508760" y="5623560"/>
            <a:ext cx="9966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Plumbing around this flow is pluggable by design: NotificationChannel (Log/Webhook/Email, implemented v1.0, wired to ceremony invitations — envelope_ready/drop_expired await the EnvelopeDropPoint above) and VaultStore (implemented v1.0, filesystem backend) both sit behind clean protocols the core crypto path never depends on.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6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SHARDIC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6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300" b="1" i="0">
                <a:solidFill>
                  <a:srgbClr val="A3790A"/>
                </a:solidFill>
                <a:latin typeface="Calibri"/>
              </a:rPr>
              <a:t>4.1 — FROM DATA TO CAPABILITY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800" b="1" i="0">
                <a:solidFill>
                  <a:srgbClr val="141B4D"/>
                </a:solidFill>
                <a:latin typeface="Calibri"/>
              </a:rPr>
              <a:t>Shardic Protected Action Code (SPAC)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0576" y="438912"/>
            <a:ext cx="2066544" cy="347472"/>
          </a:xfrm>
          <a:prstGeom prst="roundRect">
            <a:avLst>
              <a:gd name="adj" fmla="val 50000"/>
            </a:avLst>
          </a:prstGeom>
          <a:solidFill>
            <a:srgbClr val="3A2F14"/>
          </a:solidFill>
          <a:ln w="12700">
            <a:solidFill>
              <a:srgbClr val="E7B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100" b="1">
                <a:solidFill>
                  <a:srgbClr val="E7B93E"/>
                </a:solidFill>
                <a:latin typeface="Calibri"/>
              </a:rPr>
              <a:t>DESIGN PROPOSAL — §4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350" b="0" i="0">
                <a:solidFill>
                  <a:srgbClr val="2E3E6B"/>
                </a:solidFill>
                <a:latin typeface="Calibri"/>
              </a:rPr>
              <a:t>The plaintext shardic protects has never had to be a file — it is, more generally, the enabling value for a protected action: financial access, a safety interlock, a sensitive document, account access. A SPAC names that value; PT SPAC and CT SPAC name its plaintext and ciphertext forms, exactly like any other plaintext/ciphertext pair in this project.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5394960" cy="342900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377439"/>
            <a:ext cx="502920" cy="502920"/>
          </a:xfrm>
          <a:prstGeom prst="ellipse">
            <a:avLst/>
          </a:prstGeom>
          <a:solidFill>
            <a:srgbClr val="26387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380" y="2498140"/>
            <a:ext cx="261518" cy="26151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508760" y="2404872"/>
            <a:ext cx="4114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PT SPAC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26079"/>
            <a:ext cx="4754880" cy="1417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0" i="0">
                <a:solidFill>
                  <a:srgbClr val="CADCFC"/>
                </a:solidFill>
                <a:latin typeface="Calibri"/>
              </a:rPr>
              <a:t>The enabling value in the clear — a signing credential, a release-enable code, a safety-interlock unlock. Held only fleetingly, in memory, at the moment enough independent parties have contributed toward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389120"/>
            <a:ext cx="4754880" cy="10515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30" b="0" i="0">
                <a:solidFill>
                  <a:srgbClr val="9FB2E0"/>
                </a:solidFill>
                <a:latin typeface="Calibri"/>
              </a:rPr>
              <a:t>Decrypting a file is the narrowest case: the protected action is simply “the codeword holder gets to read the plaintext.”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103120"/>
            <a:ext cx="5394960" cy="342900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37959" y="2377439"/>
            <a:ext cx="502920" cy="502920"/>
          </a:xfrm>
          <a:prstGeom prst="ellipse">
            <a:avLst/>
          </a:prstGeom>
          <a:solidFill>
            <a:srgbClr val="3A2F1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8660" y="2498140"/>
            <a:ext cx="261518" cy="26151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178040" y="2404872"/>
            <a:ext cx="4114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CT SPAC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2926079"/>
            <a:ext cx="4754880" cy="1417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0" i="0">
                <a:solidFill>
                  <a:srgbClr val="CADCFC"/>
                </a:solidFill>
                <a:latin typeface="Calibri"/>
              </a:rPr>
              <a:t>The same value, AES-256-GCM-encrypted under a DEK reconstructed only when D-of-T trustees — and any hardware binding — genuinely agree. What a fielded system actually holds at rest, indefinitely.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4389120"/>
            <a:ext cx="4754880" cy="10515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30" b="0" i="0">
                <a:solidFill>
                  <a:srgbClr val="9FB2E0"/>
                </a:solidFill>
                <a:latin typeface="Calibri"/>
              </a:rPr>
              <a:t>Real-world precedent: Permissive Action Links (PAL) and the Two-Person Integrity / Two-Man Rule — gating a capability, not just data.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1" i="0">
                <a:solidFill>
                  <a:srgbClr val="64708F"/>
                </a:solidFill>
                <a:latin typeface="Calibri"/>
              </a:rPr>
              <a:t>SHARDIC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0" i="0">
                <a:solidFill>
                  <a:srgbClr val="64708F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300" b="1" i="0">
                <a:solidFill>
                  <a:srgbClr val="A3790A"/>
                </a:solidFill>
                <a:latin typeface="Calibri"/>
              </a:rPr>
              <a:t>4.2 — HARDWARE-BOUND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800" b="1" i="0">
                <a:solidFill>
                  <a:srgbClr val="141B4D"/>
                </a:solidFill>
                <a:latin typeface="Calibri"/>
              </a:rPr>
              <a:t>The Fielded Prime Element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350" b="0" i="0">
                <a:solidFill>
                  <a:srgbClr val="2E3E6B"/>
                </a:solidFill>
                <a:latin typeface="Calibri"/>
              </a:rPr>
              <a:t>§2.3's prime trustee generalizes to hardware with no new mathematics: a fielded system's own PUF/secure-element-sealed secret stands in for mask in §3.5's one-time-pad construction, reused unmodified.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5303520" cy="379476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466344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00" b="1" i="0">
                <a:solidFill>
                  <a:srgbClr val="E7B93E"/>
                </a:solidFill>
                <a:latin typeface="Calibri"/>
              </a:rPr>
              <a:t>WHAT MAKES IT SAFE TO FIELD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459736"/>
            <a:ext cx="73152" cy="73152"/>
          </a:xfrm>
          <a:prstGeom prst="ellipse">
            <a:avLst/>
          </a:prstGeom>
          <a:solidFill>
            <a:srgbClr val="E7B93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86584"/>
            <a:ext cx="452628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30" b="0" i="0">
                <a:solidFill>
                  <a:srgbClr val="AEB9DC"/>
                </a:solidFill>
                <a:latin typeface="Calibri"/>
              </a:rPr>
              <a:t>Non-extractable — generated once at emplacement, never leaves the hardware, never typed by a human, never a codeword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3355848"/>
            <a:ext cx="73152" cy="73152"/>
          </a:xfrm>
          <a:prstGeom prst="ellipse">
            <a:avLst/>
          </a:prstGeom>
          <a:solidFill>
            <a:srgbClr val="E7B93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282696"/>
            <a:ext cx="452628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30" b="0" i="0">
                <a:solidFill>
                  <a:srgbClr val="AEB9DC"/>
                </a:solidFill>
                <a:latin typeface="Calibri"/>
              </a:rPr>
              <a:t>Fielded-system binding — a copied CT SPAC plus a full legitimate trustee quorum still fails to arm a different instance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4251959"/>
            <a:ext cx="73152" cy="73152"/>
          </a:xfrm>
          <a:prstGeom prst="ellipse">
            <a:avLst/>
          </a:prstGeom>
          <a:solidFill>
            <a:srgbClr val="E7B93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178807"/>
            <a:ext cx="452628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30" b="0" i="0">
                <a:solidFill>
                  <a:srgbClr val="AEB9DC"/>
                </a:solidFill>
                <a:latin typeface="Calibri"/>
              </a:rPr>
              <a:t>Scoped to one specific piece of hardware — no multi-unit redundancy, no export path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166360"/>
            <a:ext cx="466344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50" b="0" i="1">
                <a:solidFill>
                  <a:srgbClr val="9FB2E0"/>
                </a:solidFill>
                <a:latin typeface="Calibri"/>
              </a:rPr>
              <a:t>If the fielded hardware is replaced, mask is gone with it — re-provision, don't migrate the secret.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828800"/>
            <a:ext cx="5440680" cy="3749039"/>
          </a:xfrm>
          <a:prstGeom prst="roundRect">
            <a:avLst>
              <a:gd name="adj" fmla="val 4186"/>
            </a:avLst>
          </a:prstGeom>
          <a:solidFill>
            <a:srgbClr val="263874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057400"/>
            <a:ext cx="36576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00" b="1" i="0">
                <a:solidFill>
                  <a:srgbClr val="E7B93E"/>
                </a:solidFill>
                <a:latin typeface="Calibri"/>
              </a:rPr>
              <a:t>RECOVERY REQUIRES</a:t>
            </a:r>
          </a:p>
        </p:txBody>
      </p:sp>
      <p:sp>
        <p:nvSpPr>
          <p:cNvPr id="16" name="Oval 15"/>
          <p:cNvSpPr/>
          <p:nvPr/>
        </p:nvSpPr>
        <p:spPr>
          <a:xfrm>
            <a:off x="6537960" y="2514600"/>
            <a:ext cx="777240" cy="777240"/>
          </a:xfrm>
          <a:prstGeom prst="ellipse">
            <a:avLst/>
          </a:prstGeom>
          <a:solidFill>
            <a:srgbClr val="3A2F1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4497" y="2701137"/>
            <a:ext cx="404164" cy="40416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92240" y="3337560"/>
            <a:ext cx="1828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50" b="1" i="0">
                <a:solidFill>
                  <a:srgbClr val="E7B93E"/>
                </a:solidFill>
                <a:latin typeface="Calibri"/>
              </a:rPr>
              <a:t>FIELDED PRIME</a:t>
            </a:r>
          </a:p>
          <a:p>
            <a:pPr algn="ctr"/>
            <a:r>
              <a:rPr sz="950" b="1" i="0">
                <a:solidFill>
                  <a:srgbClr val="E7B93E"/>
                </a:solidFill>
                <a:latin typeface="Calibri"/>
              </a:rPr>
              <a:t>ELEMENT — mask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788920"/>
            <a:ext cx="64008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AND</a:t>
            </a:r>
          </a:p>
        </p:txBody>
      </p:sp>
      <p:sp>
        <p:nvSpPr>
          <p:cNvPr id="20" name="Oval 19"/>
          <p:cNvSpPr/>
          <p:nvPr/>
        </p:nvSpPr>
        <p:spPr>
          <a:xfrm>
            <a:off x="8915400" y="2514600"/>
            <a:ext cx="594360" cy="594360"/>
          </a:xfrm>
          <a:prstGeom prst="ellipse">
            <a:avLst/>
          </a:prstGeom>
          <a:solidFill>
            <a:srgbClr val="26387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8046" y="2657246"/>
            <a:ext cx="309067" cy="30906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732520" y="3246120"/>
            <a:ext cx="265176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50" b="0" i="0">
                <a:solidFill>
                  <a:srgbClr val="AEB9DC"/>
                </a:solidFill>
                <a:latin typeface="Calibri"/>
              </a:rPr>
              <a:t>pool shards — shardware-token</a:t>
            </a:r>
          </a:p>
          <a:p>
            <a:pPr algn="ctr"/>
            <a:r>
              <a:rPr sz="950" b="0" i="0">
                <a:solidFill>
                  <a:srgbClr val="AEB9DC"/>
                </a:solidFill>
                <a:latin typeface="Calibri"/>
              </a:rPr>
              <a:t>or network (§3.6-3.7)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977639"/>
            <a:ext cx="489204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Calibri"/>
              </a:rPr>
              <a:t>mask ⊕ pool_shares → DEK → CT_SPAC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389120"/>
            <a:ext cx="4937760" cy="10058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80" b="0" i="0">
                <a:solidFill>
                  <a:srgbClr val="9FB2E0"/>
                </a:solidFill>
                <a:latin typeface="Calibri"/>
              </a:rPr>
              <a:t>Note: named after the prime-trustee role (§2.3) it embodies in hardware — a shardware-token (§4.3) is the analogous physical-carriage device for pool shards.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1" i="0">
                <a:solidFill>
                  <a:srgbClr val="64708F"/>
                </a:solidFill>
                <a:latin typeface="Calibri"/>
              </a:rPr>
              <a:t>SHARDIC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0" i="0">
                <a:solidFill>
                  <a:srgbClr val="64708F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300" b="1" i="0">
                <a:solidFill>
                  <a:srgbClr val="A3790A"/>
                </a:solidFill>
                <a:latin typeface="Calibri"/>
              </a:rPr>
              <a:t>4.3 — HARDWARE TOKEN VARIANTS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800" b="1" i="0">
                <a:solidFill>
                  <a:srgbClr val="141B4D"/>
                </a:solidFill>
                <a:latin typeface="Calibri"/>
              </a:rPr>
              <a:t>shardware-token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030614" y="438912"/>
            <a:ext cx="2216505" cy="347472"/>
          </a:xfrm>
          <a:prstGeom prst="roundRect">
            <a:avLst>
              <a:gd name="adj" fmla="val 50000"/>
            </a:avLst>
          </a:prstGeom>
          <a:solidFill>
            <a:srgbClr val="3A2F14"/>
          </a:solidFill>
          <a:ln w="12700">
            <a:solidFill>
              <a:srgbClr val="E7B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100" b="1">
                <a:solidFill>
                  <a:srgbClr val="E7B93E"/>
                </a:solidFill>
                <a:latin typeface="Calibri"/>
              </a:rPr>
              <a:t>DESIGN PROPOSAL — §4.3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685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350" b="0" i="0">
                <a:solidFill>
                  <a:srgbClr val="2E3E6B"/>
                </a:solidFill>
                <a:latin typeface="Calibri"/>
              </a:rPr>
              <a:t>Two variants for how a physical token participates in a ceremony, differing in how much trust the token itself has to carry.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8840"/>
            <a:ext cx="5394960" cy="342900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423160"/>
            <a:ext cx="502920" cy="502920"/>
          </a:xfrm>
          <a:prstGeom prst="ellipse">
            <a:avLst/>
          </a:prstGeom>
          <a:solidFill>
            <a:srgbClr val="26387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380" y="2543860"/>
            <a:ext cx="261518" cy="26151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508760" y="2450592"/>
            <a:ext cx="4114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Physical Carriage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71800"/>
            <a:ext cx="4754880" cy="1417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0" i="0">
                <a:solidFill>
                  <a:srgbClr val="CADCFC"/>
                </a:solidFill>
                <a:latin typeface="Calibri"/>
              </a:rPr>
              <a:t>A dumb-storage USB token simply transports an already public-key-wrapped shard — replacing a network hop with a courier, hand-off, or safe-deposit retrieval for a ceremony that wants to run entirely air-gapped past registration. Nothing on the token is ever unencrypted.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434840"/>
            <a:ext cx="4754880" cy="10515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30" b="0" i="0">
                <a:solidFill>
                  <a:srgbClr val="9FB2E0"/>
                </a:solidFill>
                <a:latin typeface="Calibri"/>
              </a:rPr>
              <a:t>Open question: without a live authenticated session, “whose shard is this” needs either an attesting operator or a trustee-held signing key.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148840"/>
            <a:ext cx="5394960" cy="342900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37959" y="2423160"/>
            <a:ext cx="502920" cy="502920"/>
          </a:xfrm>
          <a:prstGeom prst="ellipse">
            <a:avLst/>
          </a:prstGeom>
          <a:solidFill>
            <a:srgbClr val="3A2F1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8660" y="2543860"/>
            <a:ext cx="261518" cy="26151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178040" y="2450592"/>
            <a:ext cx="4114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PUF-Sealed Embed/Extract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2971800"/>
            <a:ext cx="4754880" cy="1417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0" i="0">
                <a:solidFill>
                  <a:srgbClr val="CADCFC"/>
                </a:solidFill>
                <a:latin typeface="Calibri"/>
              </a:rPr>
              <a:t>The token generates its own keypair locally at “embed” time, seals the wrapped shard behind PUF/secure-element fuzzy-extractor storage, and releases it at “extract” time only against a vault-signed, token-bound, nonce-fresh extraction grant.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4434840"/>
            <a:ext cx="4754880" cy="10515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30" b="0" i="0">
                <a:solidFill>
                  <a:srgbClr val="9FB2E0"/>
                </a:solidFill>
                <a:latin typeface="Calibri"/>
              </a:rPr>
              <a:t>A single live operator authorizes each grant — sufficient because the operator can only approve a request a genuine physical token already originated.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1" i="0">
                <a:solidFill>
                  <a:srgbClr val="64708F"/>
                </a:solidFill>
                <a:latin typeface="Calibri"/>
              </a:rPr>
              <a:t>SHARDIC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0" i="0">
                <a:solidFill>
                  <a:srgbClr val="64708F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300" b="1" i="0">
                <a:solidFill>
                  <a:srgbClr val="A3790A"/>
                </a:solidFill>
                <a:latin typeface="Calibri"/>
              </a:rPr>
              <a:t>4.4 — SPAC ECOSYSTEM 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800" b="1" i="0">
                <a:solidFill>
                  <a:srgbClr val="141B4D"/>
                </a:solidFill>
                <a:latin typeface="Calibri"/>
              </a:rPr>
              <a:t>Roles and Governance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2139696" cy="3977639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298448" y="1463040"/>
            <a:ext cx="640080" cy="640080"/>
          </a:xfrm>
          <a:prstGeom prst="ellipse">
            <a:avLst/>
          </a:prstGeom>
          <a:solidFill>
            <a:srgbClr val="26387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2067" y="1616659"/>
            <a:ext cx="332841" cy="33284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2240280"/>
            <a:ext cx="1920239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Trustee (pool)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06040"/>
            <a:ext cx="1865376" cy="2423159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960" b="0" i="0">
                <a:solidFill>
                  <a:srgbClr val="AEB9DC"/>
                </a:solidFill>
                <a:latin typeface="Calibri"/>
              </a:rPr>
              <a:t>Who must jointly agree to recover? Ordinary shardic-envelope trustees, unchanged from §3.6-3.7.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07208" y="1234440"/>
            <a:ext cx="2139696" cy="3977639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557015" y="1463040"/>
            <a:ext cx="640080" cy="640080"/>
          </a:xfrm>
          <a:prstGeom prst="ellipse">
            <a:avLst/>
          </a:prstGeom>
          <a:solidFill>
            <a:srgbClr val="26387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0635" y="1616659"/>
            <a:ext cx="332841" cy="33284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916936" y="2240280"/>
            <a:ext cx="1920239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Fielded Prime</a:t>
            </a:r>
          </a:p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Element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44368" y="2606040"/>
            <a:ext cx="1865376" cy="2423159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960" b="0" i="0">
                <a:solidFill>
                  <a:srgbClr val="AEB9DC"/>
                </a:solidFill>
                <a:latin typeface="Calibri"/>
              </a:rPr>
              <a:t>What binds recovery to one piece of fielded hardware? The fielded system's own sealed secret — never a party at all.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65775" y="1234440"/>
            <a:ext cx="2139696" cy="3977639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815583" y="1463040"/>
            <a:ext cx="640080" cy="640080"/>
          </a:xfrm>
          <a:prstGeom prst="ellipse">
            <a:avLst/>
          </a:prstGeom>
          <a:solidFill>
            <a:srgbClr val="26387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9203" y="1616659"/>
            <a:ext cx="332841" cy="33284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175503" y="2240280"/>
            <a:ext cx="1920239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Local</a:t>
            </a:r>
          </a:p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custodian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02936" y="2606040"/>
            <a:ext cx="1865376" cy="2423159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960" b="0" i="0">
                <a:solidFill>
                  <a:srgbClr val="AEB9DC"/>
                </a:solidFill>
                <a:latin typeface="Calibri"/>
              </a:rPr>
              <a:t>Who is physically present to authorize the hardware's own local unseal? Whoever holds the deployment's key/token or PIN factor — a role, not an identity.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3" y="1234440"/>
            <a:ext cx="2139696" cy="3977639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074151" y="1463040"/>
            <a:ext cx="640080" cy="640080"/>
          </a:xfrm>
          <a:prstGeom prst="ellipse">
            <a:avLst/>
          </a:prstGeom>
          <a:solidFill>
            <a:srgbClr val="26387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7771" y="1616659"/>
            <a:ext cx="332841" cy="33284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434071" y="2240280"/>
            <a:ext cx="1920239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Operator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61503" y="2606040"/>
            <a:ext cx="1865376" cy="2423159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960" b="0" i="0">
                <a:solidFill>
                  <a:srgbClr val="AEB9DC"/>
                </a:solidFill>
                <a:latin typeface="Calibri"/>
              </a:rPr>
              <a:t>Who authorizes a given extraction request? A single, on-call role, barred from authorizing a grant naming their own token.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82911" y="1234440"/>
            <a:ext cx="2139696" cy="3977639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332719" y="1463040"/>
            <a:ext cx="640080" cy="640080"/>
          </a:xfrm>
          <a:prstGeom prst="ellipse">
            <a:avLst/>
          </a:prstGeom>
          <a:solidFill>
            <a:srgbClr val="26387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86339" y="1616659"/>
            <a:ext cx="332841" cy="33284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692639" y="2240280"/>
            <a:ext cx="1920239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Approver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20071" y="2606040"/>
            <a:ext cx="1865376" cy="2423159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960" b="0" i="0">
                <a:solidFill>
                  <a:srgbClr val="AEB9DC"/>
                </a:solidFill>
                <a:latin typeface="Calibri"/>
              </a:rPr>
              <a:t>Who attests the protected value is correct? An authority independent of the wrap/emplacement step, holding its own signing key.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440680"/>
            <a:ext cx="11064240" cy="868680"/>
          </a:xfrm>
          <a:prstGeom prst="roundRect">
            <a:avLst>
              <a:gd name="adj" fmla="val 4186"/>
            </a:avLst>
          </a:prstGeom>
          <a:solidFill>
            <a:srgbClr val="263874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5577840"/>
            <a:ext cx="548640" cy="548640"/>
          </a:xfrm>
          <a:prstGeom prst="ellipse">
            <a:avLst/>
          </a:prstGeom>
          <a:solidFill>
            <a:srgbClr val="3A2F1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4633" y="5709513"/>
            <a:ext cx="285292" cy="28529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508760" y="5440680"/>
            <a:ext cx="996696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0" i="0">
                <a:solidFill>
                  <a:srgbClr val="CADCFC"/>
                </a:solidFill>
                <a:latin typeface="Calibri"/>
              </a:rPr>
              <a:t>The Approver closes a gap AES-GCM alone can't: ciphertext integrity guarantees exact recovery of what was encrypted, not that what was encrypted was correct in the first place.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1" i="0">
                <a:solidFill>
                  <a:srgbClr val="64708F"/>
                </a:solidFill>
                <a:latin typeface="Calibri"/>
              </a:rPr>
              <a:t>SHARDIC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0" i="0">
                <a:solidFill>
                  <a:srgbClr val="64708F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300" b="1" i="0">
                <a:solidFill>
                  <a:srgbClr val="A3790A"/>
                </a:solidFill>
                <a:latin typeface="Calibri"/>
              </a:rPr>
              <a:t>4.5 — CONOPS &amp; RTO TRADE-OFFS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800" b="1" i="0">
                <a:solidFill>
                  <a:srgbClr val="141B4D"/>
                </a:solidFill>
                <a:latin typeface="Calibri"/>
              </a:rPr>
              <a:t>Three Levers, One Honest Trade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3502152" cy="393192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91640"/>
            <a:ext cx="502920" cy="502920"/>
          </a:xfrm>
          <a:prstGeom prst="ellipse">
            <a:avLst/>
          </a:prstGeom>
          <a:solidFill>
            <a:srgbClr val="26387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380" y="1812340"/>
            <a:ext cx="261518" cy="26151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08760" y="1719072"/>
            <a:ext cx="2221992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Convening the Quorum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2862072" cy="1417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0" i="0">
                <a:solidFill>
                  <a:srgbClr val="CADCFC"/>
                </a:solidFill>
                <a:latin typeface="Calibri"/>
              </a:rPr>
              <a:t>Pre-forming a ceremony (§3.7, reused unmodified) converts “select, invite, wait for acceptance” into a one-time setup cost paid before the RTO clock starts — the single largest lever available. Cold-start: hours. Pre-formed, on-call: seconds to minutes.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33672" y="1417320"/>
            <a:ext cx="3502152" cy="393192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53712" y="1691640"/>
            <a:ext cx="502920" cy="502920"/>
          </a:xfrm>
          <a:prstGeom prst="ellipse">
            <a:avLst/>
          </a:prstGeom>
          <a:solidFill>
            <a:srgbClr val="26387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4412" y="1812340"/>
            <a:ext cx="261518" cy="26151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193792" y="1719072"/>
            <a:ext cx="2221992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Shard Delivery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240280"/>
            <a:ext cx="2862072" cy="1417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0" i="0">
                <a:solidFill>
                  <a:srgbClr val="CADCFC"/>
                </a:solidFill>
                <a:latin typeface="Calibri"/>
              </a:rPr>
              <a:t>A network path is near-instant; physical carriage (§4.3) is inherently minutes to days. Air-gap independence and a tight RTO are largely mutually exclusive — a deployment chooses the one it actually needs.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18704" y="1417320"/>
            <a:ext cx="3502152" cy="393192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38744" y="1691640"/>
            <a:ext cx="502920" cy="502920"/>
          </a:xfrm>
          <a:prstGeom prst="ellipse">
            <a:avLst/>
          </a:prstGeom>
          <a:solidFill>
            <a:srgbClr val="26387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9444" y="1812340"/>
            <a:ext cx="261518" cy="26151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878824" y="1719072"/>
            <a:ext cx="2221992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Endgame Unlock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240280"/>
            <a:ext cx="2862072" cy="1417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0" i="0">
                <a:solidFill>
                  <a:srgbClr val="CADCFC"/>
                </a:solidFill>
                <a:latin typeface="Calibri"/>
              </a:rPr>
              <a:t>A single operator and custodian are each fast and cryptographically sufficient — but a lone unreachable authorizer is an availability risk, not an authorization one. An on-call backup roster protects availability without a second decision-maker.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532120"/>
            <a:ext cx="11064240" cy="822960"/>
          </a:xfrm>
          <a:prstGeom prst="roundRect">
            <a:avLst>
              <a:gd name="adj" fmla="val 4186"/>
            </a:avLst>
          </a:prstGeom>
          <a:solidFill>
            <a:srgbClr val="263874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532120"/>
            <a:ext cx="1051560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50" b="0" i="0">
                <a:solidFill>
                  <a:srgbClr val="CADCFC"/>
                </a:solidFill>
                <a:latin typeface="Calibri"/>
              </a:rPr>
              <a:t>No lever here reduces how many independent parties are cryptographically required — every latency improvement is pre-positioning of already-required inputs, never fewer of them.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1" i="0">
                <a:solidFill>
                  <a:srgbClr val="64708F"/>
                </a:solidFill>
                <a:latin typeface="Calibri"/>
              </a:rPr>
              <a:t>SHARDIC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0" i="0">
                <a:solidFill>
                  <a:srgbClr val="64708F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A3790A"/>
                </a:solidFill>
                <a:latin typeface="Calibri"/>
              </a:rPr>
              <a:t>4.6 — NON-BYPASSABLE INVOCATION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41B4D"/>
                </a:solidFill>
                <a:latin typeface="Calibri"/>
              </a:rPr>
              <a:t>Ensuring the Ceremony Can't Be Skipped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418840" y="438912"/>
            <a:ext cx="2194040" cy="347472"/>
          </a:xfrm>
          <a:prstGeom prst="roundRect">
            <a:avLst>
              <a:gd name="adj" fmla="val 50000"/>
            </a:avLst>
          </a:prstGeom>
          <a:solidFill>
            <a:srgbClr val="3A2F14"/>
          </a:solidFill>
          <a:ln w="12700">
            <a:solidFill>
              <a:srgbClr val="E7B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100" b="1">
                <a:solidFill>
                  <a:srgbClr val="E7B93E"/>
                </a:solidFill>
                <a:latin typeface="Calibri"/>
              </a:rPr>
              <a:t>DESIGN PROPOSAL — §4.6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 i="0">
                <a:solidFill>
                  <a:srgbClr val="2E3E6B"/>
                </a:solidFill>
                <a:latin typeface="Calibri"/>
              </a:rPr>
              <a:t>A SPAC ceremony being cryptographically sound only matters if it's actually invoked on the path to the protected action. Four patterns close that gap — a topological property, distinct from the cryptographic guarantee — ordered by how strong a guarantee they provide.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2628900" cy="316000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8640" y="2293120"/>
            <a:ext cx="430000" cy="430000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840" y="2396320"/>
            <a:ext cx="223600" cy="223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8640" y="2783120"/>
            <a:ext cx="2248900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 i="0">
                <a:solidFill>
                  <a:srgbClr val="FFFFFF"/>
                </a:solidFill>
                <a:latin typeface="Calibri"/>
              </a:rPr>
              <a:t>Capability</a:t>
            </a:r>
          </a:p>
          <a:p>
            <a:r>
              <a:rPr sz="1350" b="1" i="0">
                <a:solidFill>
                  <a:srgbClr val="FFFFFF"/>
                </a:solidFill>
                <a:latin typeface="Calibri"/>
              </a:rPr>
              <a:t>Binding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8640" y="3433120"/>
            <a:ext cx="2248900" cy="1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AEB9DC"/>
                </a:solidFill>
                <a:latin typeface="Calibri"/>
              </a:rPr>
              <a:t>The protected value is a signing or decryption key the end state structurally requires — not a boolean checked before proceeding.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8640" y="4803120"/>
            <a:ext cx="22489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69" b="1" i="0">
                <a:solidFill>
                  <a:srgbClr val="E7B93E"/>
                </a:solidFill>
                <a:latin typeface="Calibri"/>
              </a:rPr>
              <a:t>BYPASS RESISTANCE: MEDIUM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60420" y="2103120"/>
            <a:ext cx="2628900" cy="316000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50420" y="2293120"/>
            <a:ext cx="430000" cy="430000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3620" y="2396320"/>
            <a:ext cx="223600" cy="223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50420" y="2783120"/>
            <a:ext cx="2248900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 i="0">
                <a:solidFill>
                  <a:srgbClr val="FFFFFF"/>
                </a:solidFill>
                <a:latin typeface="Calibri"/>
              </a:rPr>
              <a:t>Constrained</a:t>
            </a:r>
          </a:p>
          <a:p>
            <a:r>
              <a:rPr sz="1350" b="1" i="0">
                <a:solidFill>
                  <a:srgbClr val="FFFFFF"/>
                </a:solidFill>
                <a:latin typeface="Calibri"/>
              </a:rPr>
              <a:t>State Machine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0420" y="3433120"/>
            <a:ext cx="2248900" cy="1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AEB9DC"/>
                </a:solidFill>
                <a:latin typeface="Calibri"/>
              </a:rPr>
              <a:t>The operating sequence is modeled as a graph with no edge reaching the end state without passing through the ceremony.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0420" y="4803120"/>
            <a:ext cx="22489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69" b="1" i="0">
                <a:solidFill>
                  <a:srgbClr val="E7B93E"/>
                </a:solidFill>
                <a:latin typeface="Calibri"/>
              </a:rPr>
              <a:t>BYPASS RESISTANCE: MEDIUM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103120"/>
            <a:ext cx="2628900" cy="316000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62200" y="2293120"/>
            <a:ext cx="430000" cy="430000"/>
          </a:xfrm>
          <a:prstGeom prst="ellipse">
            <a:avLst/>
          </a:prstGeom>
          <a:solidFill>
            <a:srgbClr val="3A2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5400" y="2396320"/>
            <a:ext cx="223600" cy="2236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62200" y="2783120"/>
            <a:ext cx="2248900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 i="0">
                <a:solidFill>
                  <a:srgbClr val="FFFFFF"/>
                </a:solidFill>
                <a:latin typeface="Calibri"/>
              </a:rPr>
              <a:t>Secure-Element</a:t>
            </a:r>
          </a:p>
          <a:p>
            <a:r>
              <a:rPr sz="1350" b="1" i="0">
                <a:solidFill>
                  <a:srgbClr val="FFFFFF"/>
                </a:solidFill>
                <a:latin typeface="Calibri"/>
              </a:rPr>
              <a:t>Sequencing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2200" y="3433120"/>
            <a:ext cx="2248900" cy="1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AEB9DC"/>
                </a:solidFill>
                <a:latin typeface="Calibri"/>
              </a:rPr>
              <a:t>The Fielded Prime Element (§4.2) performs the end-state operation internally as a side effect of completing the ceremony.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2200" y="4803120"/>
            <a:ext cx="22489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69" b="1" i="0">
                <a:solidFill>
                  <a:srgbClr val="3EBD6E"/>
                </a:solidFill>
                <a:latin typeface="Calibri"/>
              </a:rPr>
              <a:t>BYPASS RESISTANCE: HIGH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83980" y="2103120"/>
            <a:ext cx="2628900" cy="316000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173980" y="2293120"/>
            <a:ext cx="430000" cy="430000"/>
          </a:xfrm>
          <a:prstGeom prst="ellipse">
            <a:avLst/>
          </a:prstGeom>
          <a:solidFill>
            <a:srgbClr val="3A2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7180" y="2396320"/>
            <a:ext cx="223600" cy="2236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173980" y="2783120"/>
            <a:ext cx="2248900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 i="0">
                <a:solidFill>
                  <a:srgbClr val="FFFFFF"/>
                </a:solidFill>
                <a:latin typeface="Calibri"/>
              </a:rPr>
              <a:t>Physical</a:t>
            </a:r>
          </a:p>
          <a:p>
            <a:r>
              <a:rPr sz="1350" b="1" i="0">
                <a:solidFill>
                  <a:srgbClr val="FFFFFF"/>
                </a:solidFill>
                <a:latin typeface="Calibri"/>
              </a:rPr>
              <a:t>Interlock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73980" y="3433120"/>
            <a:ext cx="2248900" cy="1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AEB9DC"/>
                </a:solidFill>
                <a:latin typeface="Calibri"/>
              </a:rPr>
              <a:t>The end state's actuation circuit is physically incomplete until the ceremony asserts an unlock signal.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73980" y="4803120"/>
            <a:ext cx="22489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69" b="1" i="0">
                <a:solidFill>
                  <a:srgbClr val="3EBD6E"/>
                </a:solidFill>
                <a:latin typeface="Calibri"/>
              </a:rPr>
              <a:t>BYPASS RESISTANCE: HIGHEST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446000"/>
            <a:ext cx="11064240" cy="822960"/>
          </a:xfrm>
          <a:prstGeom prst="roundRect">
            <a:avLst>
              <a:gd name="adj" fmla="val 6000"/>
            </a:avLst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/>
            <a:r>
              <a:rPr sz="1150">
                <a:solidFill>
                  <a:srgbClr val="CADCFC"/>
                </a:solidFill>
                <a:latin typeface="Calibri"/>
              </a:rPr>
              <a:t>Patterns are not mutually exclusive — a fielded deployment typically layers more than one, and the composite's strength is its weakest layer's, not its strongest. §5.4 states which tiers actually reach a non-bypassable guarantee.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64708F"/>
                </a:solidFill>
                <a:latin typeface="Calibri"/>
              </a:rPr>
              <a:t>SHARDIC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08F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300" b="1" i="0">
                <a:solidFill>
                  <a:srgbClr val="A3790A"/>
                </a:solidFill>
                <a:latin typeface="Calibri"/>
              </a:rPr>
              <a:t>4.7 (1 of 2) — SPAC TRUSTEE SHARDS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800" b="1" i="0">
                <a:solidFill>
                  <a:srgbClr val="141B4D"/>
                </a:solidFill>
                <a:latin typeface="Calibri"/>
              </a:rPr>
              <a:t>Codeword vs. shardic-envelope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418840" y="438912"/>
            <a:ext cx="2194040" cy="347472"/>
          </a:xfrm>
          <a:prstGeom prst="roundRect">
            <a:avLst>
              <a:gd name="adj" fmla="val 50000"/>
            </a:avLst>
          </a:prstGeom>
          <a:solidFill>
            <a:srgbClr val="3A2F14"/>
          </a:solidFill>
          <a:ln w="12700">
            <a:solidFill>
              <a:srgbClr val="E7B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100" b="1">
                <a:solidFill>
                  <a:srgbClr val="E7B93E"/>
                </a:solidFill>
                <a:latin typeface="Calibri"/>
              </a:rPr>
              <a:t>DESIGN PROPOSAL — §4.7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350" b="0" i="0">
                <a:solidFill>
                  <a:srgbClr val="2E3E6B"/>
                </a:solidFill>
                <a:latin typeface="Calibri"/>
              </a:rPr>
              <a:t>A SPAC’s protected action can be materially more consequential than reading a file — arming a system, releasing funds, granting access. shardic-envelope is therefore the default for SPAC trustee shards; a memorized codeword remains a named, lower-assurance opt-out.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5394960" cy="235000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377439"/>
            <a:ext cx="502920" cy="502920"/>
          </a:xfrm>
          <a:prstGeom prst="ellipse">
            <a:avLst/>
          </a:prstGeom>
          <a:solidFill>
            <a:srgbClr val="26387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380" y="2498140"/>
            <a:ext cx="261518" cy="26151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508760" y="2404872"/>
            <a:ext cx="4114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DEK / AES-256-GCM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26079"/>
            <a:ext cx="4754880" cy="7500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0" i="0">
                <a:solidFill>
                  <a:srgbClr val="CADCFC"/>
                </a:solidFill>
                <a:latin typeface="Calibri"/>
              </a:rPr>
              <a:t>Holds only CT SPAC, no other angle of attack. Nothing else stands between this adversary and the plaintext — the full, unstructured 256-bit keyspace, with no known practical shortcut.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721800"/>
            <a:ext cx="4754880" cy="5000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30" b="0" i="0">
                <a:solidFill>
                  <a:srgbClr val="9FB2E0"/>
                </a:solidFill>
                <a:latin typeface="Calibri"/>
              </a:rPr>
              <a:t>The only layer that must resist a global search — regardless of computing power (§5.1).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103120"/>
            <a:ext cx="5394960" cy="235000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37959" y="2377439"/>
            <a:ext cx="502920" cy="502920"/>
          </a:xfrm>
          <a:prstGeom prst="ellipse">
            <a:avLst/>
          </a:prstGeom>
          <a:solidFill>
            <a:srgbClr val="3A2F1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8660" y="2498140"/>
            <a:ext cx="261518" cy="26151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178040" y="2404872"/>
            <a:ext cx="4114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Codeword / Shard Record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2926079"/>
            <a:ext cx="4754880" cy="7500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0" i="0">
                <a:solidFill>
                  <a:srgbClr val="CADCFC"/>
                </a:solidFill>
                <a:latin typeface="Calibri"/>
              </a:rPr>
              <a:t>Holds one stolen or leaked shard record. The search is real but bounded — a wordlist and word count, Argon2id-stretched per guess, not a global keyspace.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3721800"/>
            <a:ext cx="4754880" cy="5000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30" b="0" i="0">
                <a:solidFill>
                  <a:srgbClr val="9FB2E0"/>
                </a:solidFill>
                <a:latin typeface="Calibri"/>
              </a:rPr>
              <a:t>Success yields one D-of-T point, worthless below threshold — bounded and cost-amplified, not global.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753120"/>
            <a:ext cx="11064240" cy="1000000"/>
          </a:xfrm>
          <a:prstGeom prst="roundRect">
            <a:avLst>
              <a:gd name="adj" fmla="val 6000"/>
            </a:avLst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/>
            <a:r>
              <a:rPr sz="1150">
                <a:solidFill>
                  <a:srgbClr val="CADCFC"/>
                </a:solidFill>
                <a:latin typeface="Calibri"/>
              </a:rPr>
              <a:t>Field case: a device holding a shardic-envelope credential is a seizable, forensically-imageable artifact. A memorized codeword leaves nothing to seize, image, or subpoena, and can be relayed over any channel a trustee has available, including a single verbal exchange — the PAL precedent (§4.1).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1" i="0">
                <a:solidFill>
                  <a:srgbClr val="64708F"/>
                </a:solidFill>
                <a:latin typeface="Calibri"/>
              </a:rPr>
              <a:t>SHARDIC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0" i="0">
                <a:solidFill>
                  <a:srgbClr val="64708F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1" name="TextBox Eyebrow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300" b="1" i="0">
                <a:solidFill>
                  <a:srgbClr val="A3790A"/>
                </a:solidFill>
                <a:latin typeface="Calibri"/>
              </a:rPr>
              <a:t>4.7 (2 of 2) — SPAC SHARD PROTECTION</a:t>
            </a:r>
          </a:p>
        </p:txBody>
      </p:sp>
      <p:sp>
        <p:nvSpPr>
          <p:cNvPr id="102" name="TextBox Title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800" b="1" i="0">
                <a:solidFill>
                  <a:srgbClr val="141B4D"/>
                </a:solidFill>
                <a:latin typeface="Calibri"/>
              </a:rPr>
              <a:t>Two Axes: Delivery vs. Entropy Source</a:t>
            </a:r>
          </a:p>
        </p:txBody>
      </p:sp>
      <p:sp>
        <p:nvSpPr>
          <p:cNvPr id="103" name="Rounded Rectangle Badge"/>
          <p:cNvSpPr/>
          <p:nvPr/>
        </p:nvSpPr>
        <p:spPr>
          <a:xfrm>
            <a:off x="9418840" y="438912"/>
            <a:ext cx="2194040" cy="347472"/>
          </a:xfrm>
          <a:prstGeom prst="roundRect">
            <a:avLst>
              <a:gd name="adj" fmla="val 50000"/>
            </a:avLst>
          </a:prstGeom>
          <a:solidFill>
            <a:srgbClr val="3A2F14"/>
          </a:solidFill>
          <a:ln w="12700">
            <a:solidFill>
              <a:srgbClr val="E7B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100" b="1">
                <a:solidFill>
                  <a:srgbClr val="E7B93E"/>
                </a:solidFill>
                <a:latin typeface="Calibri"/>
              </a:rPr>
              <a:t>DESIGN PROPOSAL — §4.7</a:t>
            </a:r>
          </a:p>
        </p:txBody>
      </p:sp>
      <p:sp>
        <p:nvSpPr>
          <p:cNvPr id="104" name="TextBox Intro"/>
          <p:cNvSpPr txBox="1"/>
          <p:nvPr/>
        </p:nvSpPr>
        <p:spPr>
          <a:xfrm>
            <a:off x="548640" y="1097280"/>
            <a:ext cx="1097280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350" b="0" i="0">
                <a:solidFill>
                  <a:srgbClr val="2E3E6B"/>
                </a:solidFill>
                <a:latin typeface="Calibri"/>
              </a:rPr>
              <a:t>This section’s first half settles how a SPAC trustee’s protection value reaches them; the second half asks a separate, composable question — where that value comes from. Crossing the two shows the asymmetry: a DRBG-sourced key can’t be memorized, so it forces envelope delivery, but envelope delivery doesn’t require a DRBG-sourced key.</a:t>
            </a:r>
          </a:p>
        </p:txBody>
      </p:sp>
      <p:sp>
        <p:nvSpPr>
          <p:cNvPr id="105" name="Card Rect 1"/>
          <p:cNvSpPr/>
          <p:nvPr/>
        </p:nvSpPr>
        <p:spPr>
          <a:xfrm>
            <a:off x="2436876" y="1950000"/>
            <a:ext cx="3593592" cy="1691640"/>
          </a:xfrm>
          <a:prstGeom prst="roundRect">
            <a:avLst>
              <a:gd name="adj" fmla="val 4865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Icon Circle 1"/>
          <p:cNvSpPr/>
          <p:nvPr/>
        </p:nvSpPr>
        <p:spPr>
          <a:xfrm>
            <a:off x="2638044" y="2132880"/>
            <a:ext cx="365760" cy="365760"/>
          </a:xfrm>
          <a:prstGeom prst="ellipse">
            <a:avLst/>
          </a:prstGeom>
          <a:solidFill>
            <a:srgbClr val="3A2F1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7" name="Picture Icon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5826" y="2220662"/>
            <a:ext cx="190195" cy="190195"/>
          </a:xfrm>
          <a:prstGeom prst="rect">
            <a:avLst/>
          </a:prstGeom>
        </p:spPr>
      </p:pic>
      <p:sp>
        <p:nvSpPr>
          <p:cNvPr id="108" name="Card Title 1"/>
          <p:cNvSpPr txBox="1"/>
          <p:nvPr/>
        </p:nvSpPr>
        <p:spPr>
          <a:xfrm>
            <a:off x="2638044" y="2608368"/>
            <a:ext cx="3191256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Memorized + Codeword→KDF</a:t>
            </a:r>
          </a:p>
        </p:txBody>
      </p:sp>
      <p:sp>
        <p:nvSpPr>
          <p:cNvPr id="109" name="Card Body 1"/>
          <p:cNvSpPr txBox="1"/>
          <p:nvPr/>
        </p:nvSpPr>
        <p:spPr>
          <a:xfrm>
            <a:off x="2638044" y="3047280"/>
            <a:ext cx="3191256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930" b="0" i="0">
                <a:solidFill>
                  <a:srgbClr val="AEB9DC"/>
                </a:solidFill>
                <a:latin typeface="Calibri"/>
              </a:rPr>
              <a:t>Base &amp; prime schemes today, PBKDF2/Argon2id-stretched — SPAC’s named, deliberate opt-out too.</a:t>
            </a:r>
          </a:p>
        </p:txBody>
      </p:sp>
      <p:sp>
        <p:nvSpPr>
          <p:cNvPr id="110" name="Card Rect 2"/>
          <p:cNvSpPr/>
          <p:nvPr/>
        </p:nvSpPr>
        <p:spPr>
          <a:xfrm>
            <a:off x="6213348" y="1950000"/>
            <a:ext cx="3593592" cy="1691640"/>
          </a:xfrm>
          <a:prstGeom prst="roundRect">
            <a:avLst>
              <a:gd name="adj" fmla="val 4865"/>
            </a:avLst>
          </a:prstGeom>
          <a:solidFill>
            <a:srgbClr val="24316E"/>
          </a:solidFill>
          <a:ln w="19050">
            <a:prstDash val="dash"/>
            <a:solidFill>
              <a:srgbClr val="64708F"/>
            </a:solidFill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Icon Circle 2"/>
          <p:cNvSpPr/>
          <p:nvPr/>
        </p:nvSpPr>
        <p:spPr>
          <a:xfrm>
            <a:off x="6414516" y="2132880"/>
            <a:ext cx="365760" cy="365760"/>
          </a:xfrm>
          <a:prstGeom prst="ellipse">
            <a:avLst/>
          </a:prstGeom>
          <a:solidFill>
            <a:srgbClr val="64708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2" name="Picture Icon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2298" y="2220662"/>
            <a:ext cx="190195" cy="190195"/>
          </a:xfrm>
          <a:prstGeom prst="rect">
            <a:avLst/>
          </a:prstGeom>
        </p:spPr>
      </p:pic>
      <p:sp>
        <p:nvSpPr>
          <p:cNvPr id="113" name="Card Title 2"/>
          <p:cNvSpPr txBox="1"/>
          <p:nvPr/>
        </p:nvSpPr>
        <p:spPr>
          <a:xfrm>
            <a:off x="6414516" y="2608368"/>
            <a:ext cx="3191256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00" b="1" i="1">
                <a:solidFill>
                  <a:srgbClr val="FFFFFF"/>
                </a:solidFill>
                <a:latin typeface="Calibri"/>
              </a:rPr>
              <a:t>Memorized + DRBG-direct</a:t>
            </a:r>
          </a:p>
        </p:txBody>
      </p:sp>
      <p:sp>
        <p:nvSpPr>
          <p:cNvPr id="114" name="Card Body 2"/>
          <p:cNvSpPr txBox="1"/>
          <p:nvPr/>
        </p:nvSpPr>
        <p:spPr>
          <a:xfrm>
            <a:off x="6414516" y="3047280"/>
            <a:ext cx="3191256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930" b="0" i="1">
                <a:solidFill>
                  <a:srgbClr val="AEB9DC"/>
                </a:solidFill>
                <a:latin typeface="Calibri"/>
              </a:rPr>
              <a:t>Not possible: a full-strength DRBG key can’t be memorized. This is the axis asymmetry — DRBG forces envelope delivery, not the reverse.</a:t>
            </a:r>
          </a:p>
        </p:txBody>
      </p:sp>
      <p:sp>
        <p:nvSpPr>
          <p:cNvPr id="115" name="Card Rect 3"/>
          <p:cNvSpPr/>
          <p:nvPr/>
        </p:nvSpPr>
        <p:spPr>
          <a:xfrm>
            <a:off x="2436876" y="3824520"/>
            <a:ext cx="3593592" cy="1691640"/>
          </a:xfrm>
          <a:prstGeom prst="roundRect">
            <a:avLst>
              <a:gd name="adj" fmla="val 4865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Icon Circle 3"/>
          <p:cNvSpPr/>
          <p:nvPr/>
        </p:nvSpPr>
        <p:spPr>
          <a:xfrm>
            <a:off x="2638044" y="4007400"/>
            <a:ext cx="365760" cy="365760"/>
          </a:xfrm>
          <a:prstGeom prst="ellipse">
            <a:avLst/>
          </a:prstGeom>
          <a:solidFill>
            <a:srgbClr val="3A2F1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7" name="Picture Icon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5826" y="4095182"/>
            <a:ext cx="190195" cy="190195"/>
          </a:xfrm>
          <a:prstGeom prst="rect">
            <a:avLst/>
          </a:prstGeom>
        </p:spPr>
      </p:pic>
      <p:sp>
        <p:nvSpPr>
          <p:cNvPr id="118" name="Card Title 3"/>
          <p:cNvSpPr txBox="1"/>
          <p:nvPr/>
        </p:nvSpPr>
        <p:spPr>
          <a:xfrm>
            <a:off x="2638044" y="4482888"/>
            <a:ext cx="3191256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Envelope + Codeword→KDF</a:t>
            </a:r>
          </a:p>
        </p:txBody>
      </p:sp>
      <p:sp>
        <p:nvSpPr>
          <p:cNvPr id="119" name="Card Body 3"/>
          <p:cNvSpPr txBox="1"/>
          <p:nvPr/>
        </p:nvSpPr>
        <p:spPr>
          <a:xfrm>
            <a:off x="2638044" y="4921800"/>
            <a:ext cx="3191256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930" b="0" i="0">
                <a:solidFill>
                  <a:srgbClr val="AEB9DC"/>
                </a:solidFill>
                <a:latin typeface="Calibri"/>
              </a:rPr>
              <a:t>Today’s actual default (demo/combiner/app.py) — envelope wraps an ordinary generated codeword for transport confidentiality only.</a:t>
            </a:r>
          </a:p>
        </p:txBody>
      </p:sp>
      <p:sp>
        <p:nvSpPr>
          <p:cNvPr id="120" name="Card Rect 4"/>
          <p:cNvSpPr/>
          <p:nvPr/>
        </p:nvSpPr>
        <p:spPr>
          <a:xfrm>
            <a:off x="6213348" y="3824520"/>
            <a:ext cx="3593592" cy="1691640"/>
          </a:xfrm>
          <a:prstGeom prst="roundRect">
            <a:avLst>
              <a:gd name="adj" fmla="val 4865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Icon Circle 4"/>
          <p:cNvSpPr/>
          <p:nvPr/>
        </p:nvSpPr>
        <p:spPr>
          <a:xfrm>
            <a:off x="6414516" y="4007400"/>
            <a:ext cx="365760" cy="365760"/>
          </a:xfrm>
          <a:prstGeom prst="ellipse">
            <a:avLst/>
          </a:prstGeom>
          <a:solidFill>
            <a:srgbClr val="26387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2" name="Picture Icon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2298" y="4095182"/>
            <a:ext cx="190195" cy="190195"/>
          </a:xfrm>
          <a:prstGeom prst="rect">
            <a:avLst/>
          </a:prstGeom>
        </p:spPr>
      </p:pic>
      <p:sp>
        <p:nvSpPr>
          <p:cNvPr id="123" name="Card Title 4"/>
          <p:cNvSpPr txBox="1"/>
          <p:nvPr/>
        </p:nvSpPr>
        <p:spPr>
          <a:xfrm>
            <a:off x="6414516" y="4482888"/>
            <a:ext cx="3191256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Envelope + DRBG-direct</a:t>
            </a:r>
          </a:p>
        </p:txBody>
      </p:sp>
      <p:sp>
        <p:nvSpPr>
          <p:cNvPr id="124" name="Card Body 4"/>
          <p:cNvSpPr txBox="1"/>
          <p:nvPr/>
        </p:nvSpPr>
        <p:spPr>
          <a:xfrm>
            <a:off x="6414516" y="4921800"/>
            <a:ext cx="3191256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930" b="0" i="0">
                <a:solidFill>
                  <a:srgbClr val="AEB9DC"/>
                </a:solidFill>
                <a:latin typeface="Calibri"/>
              </a:rPr>
              <a:t>No KDF stretching, drawn straight from the DEK’s own CSPRNG class — proposed SPAC default, §4.7.</a:t>
            </a:r>
          </a:p>
        </p:txBody>
      </p:sp>
      <p:sp>
        <p:nvSpPr>
          <p:cNvPr id="125" name="Rounded Rectangle Callout"/>
          <p:cNvSpPr/>
          <p:nvPr/>
        </p:nvSpPr>
        <p:spPr>
          <a:xfrm>
            <a:off x="548640" y="5620000"/>
            <a:ext cx="11064240" cy="680000"/>
          </a:xfrm>
          <a:prstGeom prst="roundRect">
            <a:avLst>
              <a:gd name="adj" fmla="val 6000"/>
            </a:avLst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/>
            <a:r>
              <a:rPr sz="1150">
                <a:solidFill>
                  <a:srgbClr val="CADCFC"/>
                </a:solidFill>
                <a:latin typeface="Calibri"/>
              </a:rPr>
              <a:t>Delivery and entropy source compose independently — an ordinary codeword can still be envelope-wrapped today, exactly as the current implementation does. Adopting a DRBG-sourced key, however, necessarily requires envelope delivery, since there is nothing left to memorize.</a:t>
            </a:r>
          </a:p>
        </p:txBody>
      </p:sp>
      <p:sp>
        <p:nvSpPr>
          <p:cNvPr id="126" name="TextBox Footer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1" i="0">
                <a:solidFill>
                  <a:srgbClr val="64708F"/>
                </a:solidFill>
                <a:latin typeface="Calibri"/>
              </a:rPr>
              <a:t>SHARDIC</a:t>
            </a:r>
          </a:p>
        </p:txBody>
      </p:sp>
      <p:sp>
        <p:nvSpPr>
          <p:cNvPr id="127" name="TextBox PageNum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0" i="0">
                <a:solidFill>
                  <a:srgbClr val="64708F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300" b="1" i="0">
                <a:solidFill>
                  <a:srgbClr val="A3790A"/>
                </a:solidFill>
                <a:latin typeface="Calibri"/>
              </a:rPr>
              <a:t>6.1 – 6.2 — NOTIONAL MISSIONS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800" b="1" i="0">
                <a:solidFill>
                  <a:srgbClr val="141B4D"/>
                </a:solidFill>
                <a:latin typeface="Calibri"/>
              </a:rPr>
              <a:t>Two Ceremony Lifecycles, Illustrative Only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980883" y="438912"/>
            <a:ext cx="3266236" cy="347472"/>
          </a:xfrm>
          <a:prstGeom prst="roundRect">
            <a:avLst>
              <a:gd name="adj" fmla="val 50000"/>
            </a:avLst>
          </a:prstGeom>
          <a:solidFill>
            <a:srgbClr val="263874"/>
          </a:solidFill>
          <a:ln w="12700">
            <a:solidFill>
              <a:srgbClr val="9FB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100" b="1">
                <a:solidFill>
                  <a:srgbClr val="9FB2E0"/>
                </a:solidFill>
                <a:latin typeface="Calibri"/>
              </a:rPr>
              <a:t>ILLUSTRATIVE — NOT A REAL DEPLOYMENT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5394960" cy="342900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377439"/>
            <a:ext cx="502920" cy="502920"/>
          </a:xfrm>
          <a:prstGeom prst="ellipse">
            <a:avLst/>
          </a:prstGeom>
          <a:solidFill>
            <a:srgbClr val="26387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380" y="2498140"/>
            <a:ext cx="261518" cy="26151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08760" y="2404872"/>
            <a:ext cx="4114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Vignette A — Treasury Disbursement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26079"/>
            <a:ext cx="4754880" cy="1417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0" i="0">
                <a:solidFill>
                  <a:srgbClr val="CADCFC"/>
                </a:solidFill>
                <a:latin typeface="Calibri"/>
              </a:rPr>
              <a:t>PT SPAC: a high-privilege disbursement-signing credential. T=5 pool trustees (treasury officers), D=3, plus a Fielded Prime Element in the treasury appliance's own HSM. Compliance-officer operator; data-center custodian; network delivery targets an RTO of minutes.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389120"/>
            <a:ext cx="4754880" cy="10515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30" b="0" i="0">
                <a:solidFill>
                  <a:srgbClr val="9FB2E0"/>
                </a:solidFill>
                <a:latin typeface="Calibri"/>
              </a:rPr>
              <a:t>Replaces app-logic dual control — an audit log proves which accounts clicked approve, not which people independently chose 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103120"/>
            <a:ext cx="5394960" cy="342900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37959" y="2377439"/>
            <a:ext cx="502920" cy="502920"/>
          </a:xfrm>
          <a:prstGeom prst="ellipse">
            <a:avLst/>
          </a:prstGeom>
          <a:solidFill>
            <a:srgbClr val="3A2F1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8660" y="2498140"/>
            <a:ext cx="261518" cy="26151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178040" y="2404872"/>
            <a:ext cx="4114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Vignette B — Safety-Interlock Release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926079"/>
            <a:ext cx="4754880" cy="1417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0" i="0">
                <a:solidFill>
                  <a:srgbClr val="CADCFC"/>
                </a:solidFill>
                <a:latin typeface="Calibri"/>
              </a:rPr>
              <a:t>PT SPAC: a notional release-enable value. T=5 duty-crew trustees, D=3, plus a Fielded Prime Element in secure-element hardware and dual local key-switches. On-alert standing quorum targets an RTO of seconds to low minutes.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4389120"/>
            <a:ext cx="4754880" cy="10515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30" b="0" i="0">
                <a:solidFill>
                  <a:srgbClr val="9FB2E0"/>
                </a:solidFill>
                <a:latin typeface="Calibri"/>
              </a:rPr>
              <a:t>Replaces a procedural two-person rule enforced by human witnessing — the same organizational problem Permissive Action Links solve.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1" i="0">
                <a:solidFill>
                  <a:srgbClr val="64708F"/>
                </a:solidFill>
                <a:latin typeface="Calibri"/>
              </a:rPr>
              <a:t>SHARDIC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0" i="0">
                <a:solidFill>
                  <a:srgbClr val="64708F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300" b="1" i="0">
                <a:solidFill>
                  <a:srgbClr val="A3790A"/>
                </a:solidFill>
                <a:latin typeface="Calibri"/>
              </a:rPr>
              <a:t>5.2 – 5.3 — SECURITY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800" b="1" i="0">
                <a:solidFill>
                  <a:srgbClr val="141B4D"/>
                </a:solidFill>
                <a:latin typeface="Calibri"/>
              </a:rPr>
              <a:t>New Failure Modes, Each Addressed by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828800"/>
            <a:ext cx="594360" cy="594360"/>
          </a:xfrm>
          <a:prstGeom prst="ellipse">
            <a:avLst/>
          </a:prstGeom>
          <a:solidFill>
            <a:srgbClr val="3A2F1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326" y="1971446"/>
            <a:ext cx="309067" cy="3090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45919" y="1801368"/>
            <a:ext cx="39776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Fielded-System Binding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475488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0" i="0">
                <a:solidFill>
                  <a:srgbClr val="AEB9DC"/>
                </a:solidFill>
                <a:latin typeface="Calibri"/>
              </a:rPr>
              <a:t>A copied CT SPAC plus a legitimate quorum would arm the action anywhere without §4.2. Reuses §3.5's one-time-pad mathematics unmodified — an algebraic guarantee, not a policy 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0876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37959" y="1828800"/>
            <a:ext cx="594360" cy="594360"/>
          </a:xfrm>
          <a:prstGeom prst="ellipse">
            <a:avLst/>
          </a:prstGeom>
          <a:solidFill>
            <a:srgbClr val="3A2F1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0606" y="1971446"/>
            <a:ext cx="309067" cy="30906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0" y="1801368"/>
            <a:ext cx="39776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Content Authenticity vs. Integrity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59" y="2468880"/>
            <a:ext cx="475488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0" i="0">
                <a:solidFill>
                  <a:srgbClr val="AEB9DC"/>
                </a:solidFill>
                <a:latin typeface="Calibri"/>
              </a:rPr>
              <a:t>AES-GCM guarantees exact recovery of what was encrypted, not that it was correct. The Approver role (§4.4) closes this gap with an independently signed commitment.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49039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069079"/>
            <a:ext cx="594360" cy="594360"/>
          </a:xfrm>
          <a:prstGeom prst="ellipse">
            <a:avLst/>
          </a:prstGeom>
          <a:solidFill>
            <a:srgbClr val="3A2F1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4211726"/>
            <a:ext cx="309067" cy="30906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645919" y="4041648"/>
            <a:ext cx="39776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Single-Operator / Custodian Sufficiency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709159"/>
            <a:ext cx="475488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0" i="0">
                <a:solidFill>
                  <a:srgbClr val="AEB9DC"/>
                </a:solidFill>
                <a:latin typeface="Calibri"/>
              </a:rPr>
              <a:t>Neither role being singular weakens the guarantee — neither can originate a ceremony action alone. A sufficiency argument, not an availability one.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749039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37959" y="4069079"/>
            <a:ext cx="594360" cy="594360"/>
          </a:xfrm>
          <a:prstGeom prst="ellipse">
            <a:avLst/>
          </a:prstGeom>
          <a:solidFill>
            <a:srgbClr val="3A2F1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0606" y="4211726"/>
            <a:ext cx="309067" cy="30906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315200" y="4041648"/>
            <a:ext cx="39776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RTO as a Stated Trade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59" y="4709159"/>
            <a:ext cx="475488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0" i="0">
                <a:solidFill>
                  <a:srgbClr val="AEB9DC"/>
                </a:solidFill>
                <a:latin typeface="Calibri"/>
              </a:rPr>
              <a:t>Every latency reduction is pre-positioning of already-required inputs. A fast, networked ceremony trades away the friction a slower, dual-custodian one deliberately keeps.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1" i="0">
                <a:solidFill>
                  <a:srgbClr val="64708F"/>
                </a:solidFill>
                <a:latin typeface="Calibri"/>
              </a:rPr>
              <a:t>SHARDIC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0" i="0">
                <a:solidFill>
                  <a:srgbClr val="64708F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A3790A"/>
                </a:solidFill>
                <a:latin typeface="Calibri"/>
              </a:rPr>
              <a:t>5.4 — SECURITY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41B4D"/>
                </a:solidFill>
                <a:latin typeface="Calibri"/>
              </a:rPr>
              <a:t>Software vs. Hardware-Anchored Enforcement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5394960" cy="198120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645920"/>
            <a:ext cx="2103120" cy="347472"/>
          </a:xfrm>
          <a:prstGeom prst="roundRect">
            <a:avLst>
              <a:gd name="adj" fmla="val 50000"/>
            </a:avLst>
          </a:prstGeom>
          <a:solidFill>
            <a:srgbClr val="3A2F14"/>
          </a:solidFill>
          <a:ln w="12700">
            <a:solidFill>
              <a:srgbClr val="E7B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/>
          <a:lstStyle/>
          <a:p>
            <a:pPr algn="ctr"/>
            <a:r>
              <a:rPr sz="1100" b="1">
                <a:solidFill>
                  <a:srgbClr val="E7B93E"/>
                </a:solidFill>
                <a:latin typeface="Calibri"/>
              </a:rPr>
              <a:t>RISK-REDUCTION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8483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Software-Only Patterns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4846320" cy="1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CADCFC"/>
                </a:solidFill>
                <a:latin typeface="Calibri"/>
              </a:rPr>
              <a:t>Capability binding and the constrained state machine still rest on the integrity of the code that enforces them. A sufficiently privileged insider who can modify that code can in principle modify the path around the ceremony as easily as around any other check.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394960" cy="198120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37960" y="1645920"/>
            <a:ext cx="2103120" cy="347472"/>
          </a:xfrm>
          <a:prstGeom prst="roundRect">
            <a:avLst>
              <a:gd name="adj" fmla="val 50000"/>
            </a:avLst>
          </a:prstGeom>
          <a:solidFill>
            <a:srgbClr val="163A28"/>
          </a:solidFill>
          <a:ln w="12700">
            <a:solidFill>
              <a:srgbClr val="3EB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/>
          <a:lstStyle/>
          <a:p>
            <a:pPr algn="ctr"/>
            <a:r>
              <a:rPr sz="1100" b="1">
                <a:solidFill>
                  <a:srgbClr val="3EBD6E"/>
                </a:solidFill>
                <a:latin typeface="Calibri"/>
              </a:rPr>
              <a:t>TAMPER-ANCHORED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08483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Hardware-Anchored Patterns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423160"/>
            <a:ext cx="4846320" cy="1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CADCFC"/>
                </a:solidFill>
                <a:latin typeface="Calibri"/>
              </a:rPr>
              <a:t>Secure-element-internal sequencing and the physical interlock reach the same bar §7.2 claims for the threshold math itself — bypassing them requires compromising the tamper-resistant hardware boundary, or physically defeating a circuit, not modifying software logic that runs outside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581400"/>
            <a:ext cx="11064240" cy="822960"/>
          </a:xfrm>
          <a:prstGeom prst="roundRect">
            <a:avLst>
              <a:gd name="adj" fmla="val 6000"/>
            </a:avLst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/>
            <a:r>
              <a:rPr sz="1150">
                <a:solidFill>
                  <a:srgbClr val="CADCFC"/>
                </a:solidFill>
                <a:latin typeface="Calibri"/>
              </a:rPr>
              <a:t>Non-bypassability claims must specify which surface they cover. A deployment adopting SPAC for a genuine non-bypassability requirement should treat the software-only patterns as necessary but not sufficient, and reach a hardware-anchored tier wherever an undetected topological bypass would be unacceptable.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64708F"/>
                </a:solidFill>
                <a:latin typeface="Calibri"/>
              </a:rPr>
              <a:t>SHARDIC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08F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7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6F0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C6F0B"/>
                </a:solidFill>
                <a:latin typeface="Calibri"/>
                <a:ea typeface="Calibri"/>
                <a:cs typeface="Calibri"/>
                <a:sym typeface="Calibri"/>
              </a:rPr>
              <a:t>7.2 — SUMMARY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7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Advantages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7"/>
          <p:cNvSpPr/>
          <p:nvPr/>
        </p:nvSpPr>
        <p:spPr>
          <a:xfrm>
            <a:off x="548640" y="1417320"/>
            <a:ext cx="3593592" cy="1417320"/>
          </a:xfrm>
          <a:prstGeom prst="roundRect">
            <a:avLst>
              <a:gd fmla="val 5806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7"/>
          <p:cNvSpPr/>
          <p:nvPr/>
        </p:nvSpPr>
        <p:spPr>
          <a:xfrm>
            <a:off x="749808" y="1600200"/>
            <a:ext cx="384048" cy="384048"/>
          </a:xfrm>
          <a:prstGeom prst="ellipse">
            <a:avLst/>
          </a:prstGeom>
          <a:solidFill>
            <a:srgbClr val="163A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check.png" id="456" name="Google Shape;45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980" y="1692372"/>
            <a:ext cx="199705" cy="199705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17"/>
          <p:cNvSpPr/>
          <p:nvPr/>
        </p:nvSpPr>
        <p:spPr>
          <a:xfrm>
            <a:off x="1261872" y="1545336"/>
            <a:ext cx="267919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lone-actor risk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7"/>
          <p:cNvSpPr/>
          <p:nvPr/>
        </p:nvSpPr>
        <p:spPr>
          <a:xfrm>
            <a:off x="749808" y="2075688"/>
            <a:ext cx="3191256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Recovery is mathematically impossible below threshold, not just procedurally discouraged.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7"/>
          <p:cNvSpPr/>
          <p:nvPr/>
        </p:nvSpPr>
        <p:spPr>
          <a:xfrm>
            <a:off x="4325112" y="1417320"/>
            <a:ext cx="3593592" cy="1417320"/>
          </a:xfrm>
          <a:prstGeom prst="roundRect">
            <a:avLst>
              <a:gd fmla="val 5806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7"/>
          <p:cNvSpPr/>
          <p:nvPr/>
        </p:nvSpPr>
        <p:spPr>
          <a:xfrm>
            <a:off x="4526280" y="1600200"/>
            <a:ext cx="384048" cy="384048"/>
          </a:xfrm>
          <a:prstGeom prst="ellipse">
            <a:avLst/>
          </a:prstGeom>
          <a:solidFill>
            <a:srgbClr val="163A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check.png" id="461" name="Google Shape;46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8452" y="1692372"/>
            <a:ext cx="199705" cy="199705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17"/>
          <p:cNvSpPr/>
          <p:nvPr/>
        </p:nvSpPr>
        <p:spPr>
          <a:xfrm>
            <a:off x="5038344" y="1545336"/>
            <a:ext cx="267919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Graceful trustee-loss tolerance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7"/>
          <p:cNvSpPr/>
          <p:nvPr/>
        </p:nvSpPr>
        <p:spPr>
          <a:xfrm>
            <a:off x="4526280" y="2075688"/>
            <a:ext cx="3191256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Any D of T is sufficient — survives unavailable or non-cooperating trustees.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7"/>
          <p:cNvSpPr/>
          <p:nvPr/>
        </p:nvSpPr>
        <p:spPr>
          <a:xfrm>
            <a:off x="8101584" y="1417320"/>
            <a:ext cx="3593592" cy="1417320"/>
          </a:xfrm>
          <a:prstGeom prst="roundRect">
            <a:avLst>
              <a:gd fmla="val 5806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7"/>
          <p:cNvSpPr/>
          <p:nvPr/>
        </p:nvSpPr>
        <p:spPr>
          <a:xfrm>
            <a:off x="8302752" y="1600200"/>
            <a:ext cx="384048" cy="384048"/>
          </a:xfrm>
          <a:prstGeom prst="ellipse">
            <a:avLst/>
          </a:prstGeom>
          <a:solidFill>
            <a:srgbClr val="163A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check.png" id="466" name="Google Shape;46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94924" y="1692372"/>
            <a:ext cx="199705" cy="199705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17"/>
          <p:cNvSpPr/>
          <p:nvPr/>
        </p:nvSpPr>
        <p:spPr>
          <a:xfrm>
            <a:off x="8814816" y="1545336"/>
            <a:ext cx="267919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Zero metadata leakage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7"/>
          <p:cNvSpPr/>
          <p:nvPr/>
        </p:nvSpPr>
        <p:spPr>
          <a:xfrm>
            <a:off x="8302752" y="2075688"/>
            <a:ext cx="3191256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The vault file alone reveals no trustee-to-shard mapping, even under direct inspection.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7"/>
          <p:cNvSpPr/>
          <p:nvPr/>
        </p:nvSpPr>
        <p:spPr>
          <a:xfrm>
            <a:off x="548640" y="3017520"/>
            <a:ext cx="3593592" cy="1417320"/>
          </a:xfrm>
          <a:prstGeom prst="roundRect">
            <a:avLst>
              <a:gd fmla="val 5806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7"/>
          <p:cNvSpPr/>
          <p:nvPr/>
        </p:nvSpPr>
        <p:spPr>
          <a:xfrm>
            <a:off x="749808" y="3200400"/>
            <a:ext cx="384048" cy="384048"/>
          </a:xfrm>
          <a:prstGeom prst="ellipse">
            <a:avLst/>
          </a:prstGeom>
          <a:solidFill>
            <a:srgbClr val="163A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check.png" id="471" name="Google Shape;47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980" y="3292572"/>
            <a:ext cx="199705" cy="199705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17"/>
          <p:cNvSpPr/>
          <p:nvPr/>
        </p:nvSpPr>
        <p:spPr>
          <a:xfrm>
            <a:off x="1261872" y="3145536"/>
            <a:ext cx="267919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Self-describing recovery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7"/>
          <p:cNvSpPr/>
          <p:nvPr/>
        </p:nvSpPr>
        <p:spPr>
          <a:xfrm>
            <a:off x="749808" y="3675888"/>
            <a:ext cx="3191256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KDF method and parameters travel with the vault — no external config to match.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7"/>
          <p:cNvSpPr/>
          <p:nvPr/>
        </p:nvSpPr>
        <p:spPr>
          <a:xfrm>
            <a:off x="4325112" y="3017520"/>
            <a:ext cx="3593592" cy="1417320"/>
          </a:xfrm>
          <a:prstGeom prst="roundRect">
            <a:avLst>
              <a:gd fmla="val 5806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7"/>
          <p:cNvSpPr/>
          <p:nvPr/>
        </p:nvSpPr>
        <p:spPr>
          <a:xfrm>
            <a:off x="4526280" y="3200400"/>
            <a:ext cx="384048" cy="384048"/>
          </a:xfrm>
          <a:prstGeom prst="ellipse">
            <a:avLst/>
          </a:prstGeom>
          <a:solidFill>
            <a:srgbClr val="163A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check.png" id="476" name="Google Shape;47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8452" y="3292572"/>
            <a:ext cx="199705" cy="199705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17"/>
          <p:cNvSpPr/>
          <p:nvPr/>
        </p:nvSpPr>
        <p:spPr>
          <a:xfrm>
            <a:off x="5038344" y="3145536"/>
            <a:ext cx="267919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Mandatory-signer variant available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7"/>
          <p:cNvSpPr/>
          <p:nvPr/>
        </p:nvSpPr>
        <p:spPr>
          <a:xfrm>
            <a:off x="4526280" y="3675888"/>
            <a:ext cx="3191256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shardic-prime, without weakening the underlying guarantees.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7"/>
          <p:cNvSpPr/>
          <p:nvPr/>
        </p:nvSpPr>
        <p:spPr>
          <a:xfrm>
            <a:off x="8101584" y="3017520"/>
            <a:ext cx="3593592" cy="1417320"/>
          </a:xfrm>
          <a:prstGeom prst="roundRect">
            <a:avLst>
              <a:gd fmla="val 5806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7"/>
          <p:cNvSpPr/>
          <p:nvPr/>
        </p:nvSpPr>
        <p:spPr>
          <a:xfrm>
            <a:off x="8302752" y="3200400"/>
            <a:ext cx="384048" cy="384048"/>
          </a:xfrm>
          <a:prstGeom prst="ellipse">
            <a:avLst/>
          </a:prstGeom>
          <a:solidFill>
            <a:srgbClr val="163A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check.png" id="481" name="Google Shape;48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94924" y="3292572"/>
            <a:ext cx="199705" cy="199705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17"/>
          <p:cNvSpPr/>
          <p:nvPr/>
        </p:nvSpPr>
        <p:spPr>
          <a:xfrm>
            <a:off x="8814816" y="3145536"/>
            <a:ext cx="267919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Fail-closed throughout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7"/>
          <p:cNvSpPr/>
          <p:nvPr/>
        </p:nvSpPr>
        <p:spPr>
          <a:xfrm>
            <a:off x="8302752" y="3675888"/>
            <a:ext cx="3191256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Insufficient or incorrect codewords stop the operation — no silent-degradation path.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7"/>
          <p:cNvSpPr/>
          <p:nvPr/>
        </p:nvSpPr>
        <p:spPr>
          <a:xfrm>
            <a:off x="548640" y="4617720"/>
            <a:ext cx="3593592" cy="1417320"/>
          </a:xfrm>
          <a:prstGeom prst="roundRect">
            <a:avLst>
              <a:gd fmla="val 5806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7"/>
          <p:cNvSpPr/>
          <p:nvPr/>
        </p:nvSpPr>
        <p:spPr>
          <a:xfrm>
            <a:off x="749808" y="4800600"/>
            <a:ext cx="384048" cy="384048"/>
          </a:xfrm>
          <a:prstGeom prst="ellipse">
            <a:avLst/>
          </a:prstGeom>
          <a:solidFill>
            <a:srgbClr val="163A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check.png" id="486" name="Google Shape;48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980" y="4892772"/>
            <a:ext cx="199705" cy="199705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17"/>
          <p:cNvSpPr/>
          <p:nvPr/>
        </p:nvSpPr>
        <p:spPr>
          <a:xfrm>
            <a:off x="1261872" y="4745736"/>
            <a:ext cx="267919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Live, end-to-end verified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7"/>
          <p:cNvSpPr/>
          <p:nvPr/>
        </p:nvSpPr>
        <p:spPr>
          <a:xfrm>
            <a:off x="749808" y="5276088"/>
            <a:ext cx="3191256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Ceremony formation, envelope wrap/deliver, and recovery run today against real Keycloak infra with a live dashboard — not a paper design.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454;p17"/>
          <p:cNvSpPr/>
          <p:nvPr/>
        </p:nvSpPr>
        <p:spPr>
          <a:xfrm>
            <a:off x="4325112" y="4617720"/>
            <a:ext cx="3593592" cy="1417320"/>
          </a:xfrm>
          <a:prstGeom prst="roundRect">
            <a:avLst>
              <a:gd fmla="val 5806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455;p17"/>
          <p:cNvSpPr/>
          <p:nvPr/>
        </p:nvSpPr>
        <p:spPr>
          <a:xfrm>
            <a:off x="4526280" y="4800600"/>
            <a:ext cx="384048" cy="384048"/>
          </a:xfrm>
          <a:prstGeom prst="ellipse">
            <a:avLst/>
          </a:prstGeom>
          <a:solidFill>
            <a:srgbClr val="163A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check.png" id="602" name="Google Shape;45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8452" y="4892772"/>
            <a:ext cx="199705" cy="199705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457;p17"/>
          <p:cNvSpPr/>
          <p:nvPr/>
        </p:nvSpPr>
        <p:spPr>
          <a:xfrm>
            <a:off x="5038344" y="4745736"/>
            <a:ext cx="267919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Generalizes past file decryption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458;p17"/>
          <p:cNvSpPr/>
          <p:nvPr/>
        </p:nvSpPr>
        <p:spPr>
          <a:xfrm>
            <a:off x="4526280" y="5276088"/>
            <a:ext cx="3191256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The same guarantee gates an arbitrary protected action, network-path attestation, or hybrid human-AI ceremony, not only file recovery.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454;p17"/>
          <p:cNvSpPr/>
          <p:nvPr/>
        </p:nvSpPr>
        <p:spPr>
          <a:xfrm>
            <a:off x="8101584" y="4617720"/>
            <a:ext cx="3593592" cy="1417320"/>
          </a:xfrm>
          <a:prstGeom prst="roundRect">
            <a:avLst>
              <a:gd fmla="val 5806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455;p17"/>
          <p:cNvSpPr/>
          <p:nvPr/>
        </p:nvSpPr>
        <p:spPr>
          <a:xfrm>
            <a:off x="8302752" y="4800600"/>
            <a:ext cx="384048" cy="384048"/>
          </a:xfrm>
          <a:prstGeom prst="ellipse">
            <a:avLst/>
          </a:prstGeom>
          <a:solidFill>
            <a:srgbClr val="163A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check.png" id="612" name="Google Shape;45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94924" y="4892772"/>
            <a:ext cx="199705" cy="199705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457;p17"/>
          <p:cNvSpPr/>
          <p:nvPr/>
        </p:nvSpPr>
        <p:spPr>
          <a:xfrm>
            <a:off x="8814816" y="4745736"/>
            <a:ext cx="267919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Composable trustee classes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458;p17"/>
          <p:cNvSpPr/>
          <p:nvPr/>
        </p:nvSpPr>
        <p:spPr>
          <a:xfrm>
            <a:off x="8302752" y="5276088"/>
            <a:ext cx="3191256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AI evaluators, hardware relay nodes, and human trustees can all participate in one threshold-recovery framework, math enforcing that no class acts alone.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7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SHARDIC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7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32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18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6F0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C6F0B"/>
                </a:solidFill>
                <a:latin typeface="Calibri"/>
                <a:ea typeface="Calibri"/>
                <a:cs typeface="Calibri"/>
                <a:sym typeface="Calibri"/>
              </a:rPr>
              <a:t>7.3 — SUMMARY (1 of 2)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8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Limitations — And How They're Mitigated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8"/>
          <p:cNvSpPr/>
          <p:nvPr/>
        </p:nvSpPr>
        <p:spPr>
          <a:xfrm>
            <a:off x="2436876" y="1371600"/>
            <a:ext cx="3593592" cy="1691640"/>
          </a:xfrm>
          <a:prstGeom prst="roundRect">
            <a:avLst>
              <a:gd fmla="val 4865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8"/>
          <p:cNvSpPr/>
          <p:nvPr/>
        </p:nvSpPr>
        <p:spPr>
          <a:xfrm>
            <a:off x="2638044" y="1554480"/>
            <a:ext cx="365760" cy="365760"/>
          </a:xfrm>
          <a:prstGeom prst="ellipse">
            <a:avLst/>
          </a:prstGeom>
          <a:solidFill>
            <a:srgbClr val="3A2F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alert.png" id="500" name="Google Shape;50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25826" y="1642262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18"/>
          <p:cNvSpPr/>
          <p:nvPr/>
        </p:nvSpPr>
        <p:spPr>
          <a:xfrm>
            <a:off x="2638044" y="2029968"/>
            <a:ext cx="319125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Codeword strength is the real bottleneck for the base scheme.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8"/>
          <p:cNvSpPr/>
          <p:nvPr/>
        </p:nvSpPr>
        <p:spPr>
          <a:xfrm>
            <a:off x="2638044" y="2468880"/>
            <a:ext cx="319125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930"/>
              <a:buFont typeface="Calibri"/>
              <a:buNone/>
            </a:pPr>
            <a:r>
              <a:rPr b="0" i="0" lang="en-US" sz="93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Largely moot with shardic-envelope (§3.6). Otherwise: use adequate word count, review the tool's own entropy estimate, and prefer Argon2id.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8"/>
          <p:cNvSpPr/>
          <p:nvPr/>
        </p:nvSpPr>
        <p:spPr>
          <a:xfrm>
            <a:off x="6213348" y="1371600"/>
            <a:ext cx="3593592" cy="1691640"/>
          </a:xfrm>
          <a:prstGeom prst="roundRect">
            <a:avLst>
              <a:gd fmla="val 4865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18"/>
          <p:cNvSpPr/>
          <p:nvPr/>
        </p:nvSpPr>
        <p:spPr>
          <a:xfrm>
            <a:off x="6414516" y="1554480"/>
            <a:ext cx="365760" cy="365760"/>
          </a:xfrm>
          <a:prstGeom prst="ellipse">
            <a:avLst/>
          </a:prstGeom>
          <a:solidFill>
            <a:srgbClr val="3A2F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alert.png" id="505" name="Google Shape;50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2298" y="1642262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p18"/>
          <p:cNvSpPr/>
          <p:nvPr/>
        </p:nvSpPr>
        <p:spPr>
          <a:xfrm>
            <a:off x="6414516" y="2029968"/>
            <a:ext cx="319125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Static, split-once design — no live rotation.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8"/>
          <p:cNvSpPr/>
          <p:nvPr/>
        </p:nvSpPr>
        <p:spPr>
          <a:xfrm>
            <a:off x="6414516" y="2468880"/>
            <a:ext cx="319125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930"/>
              <a:buFont typeface="Calibri"/>
              <a:buNone/>
            </a:pPr>
            <a:r>
              <a:rPr b="0" i="0" lang="en-US" sz="93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Intentionally scoped to rare, offline break-glass access. Frequent/live authorization: use FROST or HSM-backed multisig instead.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8"/>
          <p:cNvSpPr/>
          <p:nvPr/>
        </p:nvSpPr>
        <p:spPr>
          <a:xfrm>
            <a:off x="2436876" y="3246120"/>
            <a:ext cx="3593592" cy="1691640"/>
          </a:xfrm>
          <a:prstGeom prst="roundRect">
            <a:avLst>
              <a:gd fmla="val 4865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8"/>
          <p:cNvSpPr/>
          <p:nvPr/>
        </p:nvSpPr>
        <p:spPr>
          <a:xfrm>
            <a:off x="2638044" y="3429000"/>
            <a:ext cx="365760" cy="365760"/>
          </a:xfrm>
          <a:prstGeom prst="ellipse">
            <a:avLst/>
          </a:prstGeom>
          <a:solidFill>
            <a:srgbClr val="3A2F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alert.png" id="510" name="Google Shape;51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25826" y="3516782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18"/>
          <p:cNvSpPr/>
          <p:nvPr/>
        </p:nvSpPr>
        <p:spPr>
          <a:xfrm>
            <a:off x="2638044" y="3904488"/>
            <a:ext cx="319125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.krypt file is a single point of availability failure.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8"/>
          <p:cNvSpPr/>
          <p:nvPr/>
        </p:nvSpPr>
        <p:spPr>
          <a:xfrm>
            <a:off x="2638044" y="4343400"/>
            <a:ext cx="319125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930"/>
              <a:buFont typeface="Calibri"/>
              <a:buNone/>
            </a:pPr>
            <a:r>
              <a:rPr b="0" i="0" lang="en-US" sz="93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Back up the container durably — unlike the legacy split-file format, there is only one file to protect.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8"/>
          <p:cNvSpPr/>
          <p:nvPr/>
        </p:nvSpPr>
        <p:spPr>
          <a:xfrm>
            <a:off x="6213348" y="3246120"/>
            <a:ext cx="3593592" cy="1691640"/>
          </a:xfrm>
          <a:prstGeom prst="roundRect">
            <a:avLst>
              <a:gd fmla="val 4865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18"/>
          <p:cNvSpPr/>
          <p:nvPr/>
        </p:nvSpPr>
        <p:spPr>
          <a:xfrm>
            <a:off x="6414516" y="3429000"/>
            <a:ext cx="365760" cy="365760"/>
          </a:xfrm>
          <a:prstGeom prst="ellipse">
            <a:avLst/>
          </a:prstGeom>
          <a:solidFill>
            <a:srgbClr val="3A2F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alert.png" id="515" name="Google Shape;51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2298" y="3516782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p18"/>
          <p:cNvSpPr/>
          <p:nvPr/>
        </p:nvSpPr>
        <p:spPr>
          <a:xfrm>
            <a:off x="6414516" y="3904488"/>
            <a:ext cx="319125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Doesn't scale limitlessly — 255-trustee GF(256) ceiling.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8"/>
          <p:cNvSpPr/>
          <p:nvPr/>
        </p:nvSpPr>
        <p:spPr>
          <a:xfrm>
            <a:off x="6414516" y="4343400"/>
            <a:ext cx="319125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930"/>
              <a:buFont typeface="Calibri"/>
              <a:buNone/>
            </a:pPr>
            <a:r>
              <a:rPr b="0" i="0" lang="en-US" sz="93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Fits double-digit trustee models by design; use it where it fits the need.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8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SHARDIC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8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33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18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6F0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C6F0B"/>
                </a:solidFill>
                <a:latin typeface="Calibri"/>
                <a:ea typeface="Calibri"/>
                <a:cs typeface="Calibri"/>
                <a:sym typeface="Calibri"/>
              </a:rPr>
              <a:t>7.3 — SUMMARY (2 of 2)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8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Limitations — SPAC &amp; Notional Missions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8"/>
          <p:cNvSpPr/>
          <p:nvPr/>
        </p:nvSpPr>
        <p:spPr>
          <a:xfrm>
            <a:off x="548640" y="2200000"/>
            <a:ext cx="3593592" cy="1691640"/>
          </a:xfrm>
          <a:prstGeom prst="roundRect">
            <a:avLst>
              <a:gd fmla="val 4865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8"/>
          <p:cNvSpPr/>
          <p:nvPr/>
        </p:nvSpPr>
        <p:spPr>
          <a:xfrm>
            <a:off x="749808" y="2382880"/>
            <a:ext cx="365760" cy="365760"/>
          </a:xfrm>
          <a:prstGeom prst="ellipse">
            <a:avLst/>
          </a:prstGeom>
          <a:solidFill>
            <a:srgbClr val="3A2F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alert.png" id="500" name="Google Shape;50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7590" y="2475052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18"/>
          <p:cNvSpPr/>
          <p:nvPr/>
        </p:nvSpPr>
        <p:spPr>
          <a:xfrm>
            <a:off x="749808" y="2858368"/>
            <a:ext cx="319125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SPAC extension (§4, §6) is an unimplemented design.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8"/>
          <p:cNvSpPr/>
          <p:nvPr/>
        </p:nvSpPr>
        <p:spPr>
          <a:xfrm>
            <a:off x="749808" y="3297280"/>
            <a:ext cx="319125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930"/>
              <a:buFont typeface="Calibri"/>
              <a:buNone/>
            </a:pPr>
            <a:r>
              <a:rPr b="0" i="0" lang="en-US" sz="93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The cryptographic core (§3.1–§3.5) is unmodified and reused as-is; LocalUnlockFactor, PUF/secure-element choice, and the extraction-grant wire format remain open integration decisions, not open cryptographic questions.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8"/>
          <p:cNvSpPr/>
          <p:nvPr/>
        </p:nvSpPr>
        <p:spPr>
          <a:xfrm>
            <a:off x="4325112" y="2200000"/>
            <a:ext cx="3593592" cy="1691640"/>
          </a:xfrm>
          <a:prstGeom prst="roundRect">
            <a:avLst>
              <a:gd fmla="val 4865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18"/>
          <p:cNvSpPr/>
          <p:nvPr/>
        </p:nvSpPr>
        <p:spPr>
          <a:xfrm>
            <a:off x="4526280" y="2382880"/>
            <a:ext cx="365760" cy="365760"/>
          </a:xfrm>
          <a:prstGeom prst="ellipse">
            <a:avLst/>
          </a:prstGeom>
          <a:solidFill>
            <a:srgbClr val="3A2F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alert.png" id="505" name="Google Shape;50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4062" y="2475052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p18"/>
          <p:cNvSpPr/>
          <p:nvPr/>
        </p:nvSpPr>
        <p:spPr>
          <a:xfrm>
            <a:off x="4526280" y="2858368"/>
            <a:ext cx="319125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trustee data-feed integrity is an open design question.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8"/>
          <p:cNvSpPr/>
          <p:nvPr/>
        </p:nvSpPr>
        <p:spPr>
          <a:xfrm>
            <a:off x="4526280" y="3297280"/>
            <a:ext cx="319125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930"/>
              <a:buFont typeface="Calibri"/>
              <a:buNone/>
            </a:pPr>
            <a:r>
              <a:rPr b="0" i="0" lang="en-US" sz="93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Feed authentication and AI trustee hardening are not yet designed. Mitigation: treat AI trustee agents as shardware-token equivalents; require multi-source feed authentication.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8"/>
          <p:cNvSpPr/>
          <p:nvPr/>
        </p:nvSpPr>
        <p:spPr>
          <a:xfrm>
            <a:off x="8101584" y="2200000"/>
            <a:ext cx="3593592" cy="1691640"/>
          </a:xfrm>
          <a:prstGeom prst="roundRect">
            <a:avLst>
              <a:gd fmla="val 4865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8"/>
          <p:cNvSpPr/>
          <p:nvPr/>
        </p:nvSpPr>
        <p:spPr>
          <a:xfrm>
            <a:off x="8302752" y="2382880"/>
            <a:ext cx="365760" cy="365760"/>
          </a:xfrm>
          <a:prstGeom prst="ellipse">
            <a:avLst/>
          </a:prstGeom>
          <a:solidFill>
            <a:srgbClr val="3A2F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alert.png" id="510" name="Google Shape;51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90534" y="2475052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18"/>
          <p:cNvSpPr/>
          <p:nvPr/>
        </p:nvSpPr>
        <p:spPr>
          <a:xfrm>
            <a:off x="8302752" y="2858368"/>
            <a:ext cx="319125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Path-trustee chain liveness has no slack at D = 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8"/>
          <p:cNvSpPr/>
          <p:nvPr/>
        </p:nvSpPr>
        <p:spPr>
          <a:xfrm>
            <a:off x="8302752" y="3297280"/>
            <a:ext cx="319125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930"/>
              <a:buFont typeface="Calibri"/>
              <a:buNone/>
            </a:pPr>
            <a:r>
              <a:rPr b="0" i="0" lang="en-US" sz="93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An all-of-N path-trustee configuration tolerates zero unavailable relay nodes. Mitigation: register alternate-route trustees at ceremony formation; set D &lt; T where the deployment can tolerate a redundant route.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Badge BG 915"/>
          <p:cNvSpPr/>
          <p:nvPr/>
        </p:nvSpPr>
        <p:spPr>
          <a:xfrm>
            <a:off x="7772400" y="438912"/>
            <a:ext cx="3840480" cy="347472"/>
          </a:xfrm>
          <a:prstGeom prst="roundRect">
            <a:avLst>
              <a:gd fmla="val 21053" name="adj"/>
            </a:avLst>
          </a:prstGeom>
          <a:solidFill>
            <a:srgbClr val="3A2F14"/>
          </a:solidFill>
          <a:ln cap="flat" cmpd="sng" w="12700">
            <a:solidFill>
              <a:srgbClr val="A379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Badge Text 916"/>
          <p:cNvSpPr/>
          <p:nvPr/>
        </p:nvSpPr>
        <p:spPr>
          <a:xfrm>
            <a:off x="7772400" y="438912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790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A3790A"/>
                </a:solidFill>
                <a:latin typeface="Calibri"/>
                <a:ea typeface="Calibri"/>
                <a:cs typeface="Calibri"/>
                <a:sym typeface="Calibri"/>
              </a:rPr>
              <a:t>DESIGN-STAGE LIMITATIONS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8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SHARDIC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8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34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0" name="Google Shape;540;p19"/>
          <p:cNvCxnSpPr/>
          <p:nvPr/>
        </p:nvCxnSpPr>
        <p:spPr>
          <a:xfrm>
            <a:off x="2286000" y="1920240"/>
            <a:ext cx="7589520" cy="0"/>
          </a:xfrm>
          <a:prstGeom prst="straightConnector1">
            <a:avLst/>
          </a:prstGeom>
          <a:noFill/>
          <a:ln cap="flat" cmpd="sng" w="12700">
            <a:solidFill>
              <a:srgbClr val="8592B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1" name="Google Shape;541;p19"/>
          <p:cNvSpPr/>
          <p:nvPr/>
        </p:nvSpPr>
        <p:spPr>
          <a:xfrm>
            <a:off x="1371600" y="2194560"/>
            <a:ext cx="94183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3000"/>
              <a:buFont typeface="Calibri"/>
              <a:buNone/>
            </a:pPr>
            <a:r>
              <a:rPr b="1" i="1" lang="en-US" sz="300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“Math beats policies and permissions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3000"/>
              <a:buFont typeface="Calibri"/>
              <a:buNone/>
            </a:pPr>
            <a:r>
              <a:rPr b="1" i="1" lang="en-US" sz="300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for enforcement.”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9"/>
          <p:cNvSpPr/>
          <p:nvPr/>
        </p:nvSpPr>
        <p:spPr>
          <a:xfrm>
            <a:off x="2286000" y="3794760"/>
            <a:ext cx="75895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Threshold recovery below D trustees is enforced by mathematics — not bypassable by any administrator, insider, or software defect in the recovery tool itself.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3" name="Google Shape;543;p19"/>
          <p:cNvCxnSpPr/>
          <p:nvPr/>
        </p:nvCxnSpPr>
        <p:spPr>
          <a:xfrm>
            <a:off x="2286000" y="4892040"/>
            <a:ext cx="7589520" cy="0"/>
          </a:xfrm>
          <a:prstGeom prst="straightConnector1">
            <a:avLst/>
          </a:prstGeom>
          <a:noFill/>
          <a:ln cap="flat" cmpd="sng" w="12700">
            <a:solidFill>
              <a:srgbClr val="8592B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4" name="Google Shape;544;p19"/>
          <p:cNvSpPr/>
          <p:nvPr/>
        </p:nvSpPr>
        <p:spPr>
          <a:xfrm>
            <a:off x="1371600" y="5120640"/>
            <a:ext cx="9418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github.com/splashd1/shardic-crypt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9"/>
          <p:cNvSpPr/>
          <p:nvPr/>
        </p:nvSpPr>
        <p:spPr>
          <a:xfrm>
            <a:off x="1371600" y="5440680"/>
            <a:ext cx="9418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SHARDIC · Sharded Encryption for Threshold-Recoverable Vaults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9C6F0B"/>
                </a:solidFill>
                <a:latin typeface="Calibri"/>
              </a:rPr>
              <a:t>1.5 – 1.6 — FROM CONCEPT TO CAPABILITY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41B4D"/>
                </a:solidFill>
                <a:latin typeface="Calibri"/>
              </a:rPr>
              <a:t>What shardic Provides: Components and Deployment Flexibility</a:t>
            </a:r>
          </a:p>
        </p:txBody>
      </p:sp>
      <p:pic>
        <p:nvPicPr>
          <p:cNvPr id="4" name="Picture 3" descr="capability-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5587" y="1481328"/>
            <a:ext cx="4160520" cy="412718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5718238"/>
            <a:ext cx="11064240" cy="548640"/>
          </a:xfrm>
          <a:prstGeom prst="roundRect">
            <a:avLst>
              <a:gd name="adj" fmla="val 6000"/>
            </a:avLst>
          </a:prstGeom>
          <a:solidFill>
            <a:srgbClr val="26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718238"/>
            <a:ext cx="106070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A deployment can stop at any component and still have a complete, sound system — but SPAC is the most likely practical payoff.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B6B8C"/>
                </a:solidFill>
                <a:latin typeface="Calibri"/>
              </a:rPr>
              <a:t>SHARDIC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B8C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9C6F0B"/>
                </a:solidFill>
                <a:latin typeface="Calibri"/>
              </a:rPr>
              <a:t>3.3 — TECHNICAL MECHANICS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41B4D"/>
                </a:solidFill>
                <a:latin typeface="Calibri"/>
              </a:rPr>
              <a:t>Shardic Encryption Key: Four Pluggable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A4A6B"/>
                </a:solidFill>
                <a:latin typeface="Calibri"/>
              </a:rPr>
              <a:t>A raw Shamir shard is still just data — each shard is individually encrypted under a 256-bit key held by that shard’s trustee: the shardic encryption key. What matters is only that each trustee holds one, independently.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41448" y="2057400"/>
            <a:ext cx="3593592" cy="169164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633472" y="2240280"/>
            <a:ext cx="372160" cy="372160"/>
          </a:xfrm>
          <a:prstGeom prst="ellipse">
            <a:avLst/>
          </a:prstGeom>
          <a:solidFill>
            <a:srgbClr val="163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7208" y="2324016"/>
            <a:ext cx="204688" cy="20468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633472" y="2685592"/>
            <a:ext cx="320954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KDF from a Memorized Secret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33472" y="3069640"/>
            <a:ext cx="3209544" cy="5879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30" b="0" i="0">
                <a:solidFill>
                  <a:srgbClr val="AEB9DC"/>
                </a:solidFill>
                <a:latin typeface="Calibri"/>
              </a:rPr>
              <a:t>Today’s implemented scheme — a codeword stretched via PBKDF2 or Argon2id. The only source that asks a trustee to recall or transcribe anything.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2057400"/>
            <a:ext cx="3593592" cy="169164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0" y="2240280"/>
            <a:ext cx="372160" cy="372160"/>
          </a:xfrm>
          <a:prstGeom prst="ellipse">
            <a:avLst/>
          </a:prstGeom>
          <a:solidFill>
            <a:srgbClr val="163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4536" y="2324016"/>
            <a:ext cx="204688" cy="2046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00800" y="2685592"/>
            <a:ext cx="320954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shardic-envelope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069640"/>
            <a:ext cx="3209544" cy="5879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30" b="0" i="0">
                <a:solidFill>
                  <a:srgbClr val="AEB9DC"/>
                </a:solidFill>
                <a:latin typeface="Calibri"/>
              </a:rPr>
              <a:t>Full-strength CSPRNG key, no KDF stretching, delivered public-key-wrapped rather than memorized (§3.6) — implemented and demoed.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41448" y="3931920"/>
            <a:ext cx="3593592" cy="169164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633472" y="4114800"/>
            <a:ext cx="372160" cy="372160"/>
          </a:xfrm>
          <a:prstGeom prst="ellipse">
            <a:avLst/>
          </a:prstGeom>
          <a:solidFill>
            <a:srgbClr val="6470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7208" y="4198536"/>
            <a:ext cx="204688" cy="20468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633472" y="4560112"/>
            <a:ext cx="320954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External Token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33472" y="4944160"/>
            <a:ext cx="3209544" cy="5879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30" b="0" i="0">
                <a:solidFill>
                  <a:srgbClr val="AEB9DC"/>
                </a:solidFill>
                <a:latin typeface="Calibri"/>
              </a:rPr>
              <a:t>A hardware credential the trustee already holds — PIV/FIDO2, an HSM, a shardware-token (§4.3) — rather than generated by this project’s own code.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3931920"/>
            <a:ext cx="3593592" cy="169164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00800" y="4114800"/>
            <a:ext cx="372160" cy="372160"/>
          </a:xfrm>
          <a:prstGeom prst="ellipse">
            <a:avLst/>
          </a:prstGeom>
          <a:solidFill>
            <a:srgbClr val="6470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4536" y="4198536"/>
            <a:ext cx="204688" cy="20468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400800" y="4560112"/>
            <a:ext cx="320954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Other Mainstream Mechanisms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944160"/>
            <a:ext cx="3209544" cy="5879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30" b="0" i="0">
                <a:solidFill>
                  <a:srgbClr val="AEB9DC"/>
                </a:solidFill>
                <a:latin typeface="Calibri"/>
              </a:rPr>
              <a:t>An explicit extensibility point, not a fixed list — any standards-based 256-bit AES-GCM key source a deployment already trusts.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806440"/>
            <a:ext cx="11064240" cy="502920"/>
          </a:xfrm>
          <a:prstGeom prst="roundRect">
            <a:avLst>
              <a:gd name="adj" fmla="val 6000"/>
            </a:avLst>
          </a:prstGeom>
          <a:solidFill>
            <a:srgbClr val="26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806440"/>
            <a:ext cx="10607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A deployment picks whichever source fits its trustee population and CONOPS, and can mix sources across trustees in the same vault.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B6B8C"/>
                </a:solidFill>
                <a:latin typeface="Calibri"/>
              </a:rPr>
              <a:t>SHARDIC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B8C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A3790A"/>
                </a:solidFill>
                <a:latin typeface="Calibri"/>
              </a:rPr>
              <a:t>6.3 — VIGNETTE 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41B4D"/>
                </a:solidFill>
                <a:latin typeface="Calibri"/>
              </a:rPr>
              <a:t>Trustee-Attested Participation Along a Trusted Network Path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99248" y="438912"/>
            <a:ext cx="3913631" cy="347472"/>
          </a:xfrm>
          <a:prstGeom prst="roundRect">
            <a:avLst>
              <a:gd name="adj" fmla="val 6000"/>
            </a:avLst>
          </a:prstGeom>
          <a:solidFill>
            <a:srgbClr val="26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99248" y="438912"/>
            <a:ext cx="3913631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9FB2E0"/>
                </a:solidFill>
                <a:latin typeface="Calibri"/>
              </a:rPr>
              <a:t>ILLUSTRATIVE — NOT A REAL DEPLOYMENT</a:t>
            </a:r>
          </a:p>
        </p:txBody>
      </p:sp>
      <p:pic>
        <p:nvPicPr>
          <p:cNvPr id="6" name="Picture 5" descr="trustee-attested-path-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1097" y="1508760"/>
            <a:ext cx="6209499" cy="374903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5394960"/>
            <a:ext cx="11064240" cy="777240"/>
          </a:xfrm>
          <a:prstGeom prst="roundRect">
            <a:avLst>
              <a:gd name="adj" fmla="val 6000"/>
            </a:avLst>
          </a:prstGeom>
          <a:solidFill>
            <a:srgbClr val="26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394960"/>
            <a:ext cx="106070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Mission: evidence of trustee participation and policy-controlled release — not a substitute for TLS, IPsec, or endpoint authorization. A signed receipt establishes that its signer participated; it does not by itself establish physical transit or honest behavior.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4708F"/>
                </a:solidFill>
                <a:latin typeface="Calibri"/>
              </a:rPr>
              <a:t>SHARDIC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4708F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A3790A"/>
                </a:solidFill>
                <a:latin typeface="Calibri"/>
              </a:rPr>
              <a:t>6.4 — CRITICAL 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41B4D"/>
                </a:solidFill>
                <a:latin typeface="Calibri"/>
              </a:rPr>
              <a:t>Enforcing Human-AI Mutual Oversight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0" y="438912"/>
            <a:ext cx="3840480" cy="347472"/>
          </a:xfrm>
          <a:prstGeom prst="roundRect">
            <a:avLst>
              <a:gd name="adj" fmla="val 6000"/>
            </a:avLst>
          </a:prstGeom>
          <a:solidFill>
            <a:srgbClr val="3A2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438912"/>
            <a:ext cx="38404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E7B93E"/>
                </a:solidFill>
                <a:latin typeface="Calibri"/>
              </a:rPr>
              <a:t>DESIGN PROPOSAL — SYNTHESIS OF §4.1–§4.7 &amp; §6.5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E3E6B"/>
                </a:solidFill>
                <a:latin typeface="Calibri"/>
              </a:rPr>
              <a:t>A trustee is, cryptographically, just a party that independently holds a shardic encryption key and chooses whether to contribute it — nothing in the math cares whether that party is a person or a policy-bound software agent.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57400"/>
            <a:ext cx="5394960" cy="301752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0664" y="2240280"/>
            <a:ext cx="384048" cy="384048"/>
          </a:xfrm>
          <a:prstGeom prst="ellipse">
            <a:avLst/>
          </a:prstGeom>
          <a:solidFill>
            <a:srgbClr val="26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074" y="2326690"/>
            <a:ext cx="211226" cy="21122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0664" y="2697480"/>
            <a:ext cx="501091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Human-in-the-Loop Over an AI-Initiated COA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" y="3081528"/>
            <a:ext cx="5010912" cy="19019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EB9DC"/>
                </a:solidFill>
                <a:latin typeface="Calibri"/>
              </a:rPr>
              <a:t>An AI system proposes or is positioned to initiate a consequential action. A threshold of independent human trustees means it cannot execute on the AI’s own confidence, speed, or internal state alone — the DEK simply does not exist below threshold, no matter how certain or time-pressured the system 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057400"/>
            <a:ext cx="5394960" cy="301752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9944" y="2240280"/>
            <a:ext cx="384048" cy="384048"/>
          </a:xfrm>
          <a:prstGeom prst="ellipse">
            <a:avLst/>
          </a:prstGeom>
          <a:solidFill>
            <a:srgbClr val="3A2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354" y="2326690"/>
            <a:ext cx="211226" cy="21122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09944" y="2697480"/>
            <a:ext cx="501091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AI Validation Against a Rogue Human-Initiated COA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9944" y="3081528"/>
            <a:ext cx="5010912" cy="19019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EB9DC"/>
                </a:solidFill>
                <a:latin typeface="Calibri"/>
              </a:rPr>
              <a:t>A human trustee, or a colluding group below sub-threshold, attempts to authorize an action that should not proceed. An independent AI evaluator gate — attesting only against allow-listed objective criteria — supplies a check no social engineering, authority, or urgency can talk it out of: it either finds the criteria satisfied or fails closed.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212080"/>
            <a:ext cx="11064240" cy="777240"/>
          </a:xfrm>
          <a:prstGeom prst="roundRect">
            <a:avLst>
              <a:gd name="adj" fmla="val 6000"/>
            </a:avLst>
          </a:prstGeom>
          <a:solidFill>
            <a:srgbClr val="26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212080"/>
            <a:ext cx="106070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CADCFC"/>
                </a:solidFill>
                <a:latin typeface="Calibri"/>
              </a:rPr>
              <a:t>Neither direction makes shardic “smarter” — no anomaly detection, no learned policy, no model in the cryptographic path. Both are the same information-theoretic guarantee: below threshold, a class of party — human or AI — carries zero information toward reconstruction on its own.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4708F"/>
                </a:solidFill>
                <a:latin typeface="Calibri"/>
              </a:rPr>
              <a:t>SHARDIC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4708F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A3790A"/>
                </a:solidFill>
                <a:latin typeface="Calibri"/>
              </a:rPr>
              <a:t>6.5 — VIGNETTE 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41B4D"/>
                </a:solidFill>
                <a:latin typeface="Calibri"/>
              </a:rPr>
              <a:t>Hybrid Human-and-AI Policy Gates for SPAC Authorization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99248" y="438912"/>
            <a:ext cx="3913631" cy="347472"/>
          </a:xfrm>
          <a:prstGeom prst="roundRect">
            <a:avLst>
              <a:gd name="adj" fmla="val 6000"/>
            </a:avLst>
          </a:prstGeom>
          <a:solidFill>
            <a:srgbClr val="26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99248" y="438912"/>
            <a:ext cx="3913631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9FB2E0"/>
                </a:solidFill>
                <a:latin typeface="Calibri"/>
              </a:rPr>
              <a:t>ILLUSTRATIVE — NOT A REAL DEPLOYMENT</a:t>
            </a:r>
          </a:p>
        </p:txBody>
      </p:sp>
      <p:pic>
        <p:nvPicPr>
          <p:cNvPr id="6" name="Picture 5" descr="hybrid-ai-human-policy-g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3948" y="1417320"/>
            <a:ext cx="4383797" cy="37947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5349240"/>
            <a:ext cx="11064240" cy="777240"/>
          </a:xfrm>
          <a:prstGeom prst="roundRect">
            <a:avLst>
              <a:gd name="adj" fmla="val 6000"/>
            </a:avLst>
          </a:prstGeom>
          <a:solidFill>
            <a:srgbClr val="26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349240"/>
            <a:ext cx="106070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Mission: objective and subjective conditions as separate, explicit gates, composed with an AND rule server-side. An AI evaluator is one evaluation gate among several server-side checks — never a substitute for the human threshold it either receives from or defends against.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4708F"/>
                </a:solidFill>
                <a:latin typeface="Calibri"/>
              </a:rPr>
              <a:t>SHARDIC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4708F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A3790A"/>
                </a:solidFill>
                <a:latin typeface="Calibri"/>
              </a:rPr>
              <a:t>5.5 — SECURITY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41B4D"/>
                </a:solidFill>
                <a:latin typeface="Calibri"/>
              </a:rPr>
              <a:t>NEAT: A Design Framework for Critical SPAC Deployments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E3E6B"/>
                </a:solidFill>
                <a:latin typeface="Calibri"/>
              </a:rPr>
              <a:t>Four properties a critical deployment needs beyond the shardic threshold math alone — a deployment framework, not a cryptographic 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41448" y="1920240"/>
            <a:ext cx="3593592" cy="169164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633472" y="2103120"/>
            <a:ext cx="372160" cy="372160"/>
          </a:xfrm>
          <a:prstGeom prst="ellipse">
            <a:avLst/>
          </a:prstGeom>
          <a:solidFill>
            <a:srgbClr val="26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7208" y="2186856"/>
            <a:ext cx="204688" cy="20468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633472" y="2548432"/>
            <a:ext cx="320954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N — Non-bypassable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33472" y="2932480"/>
            <a:ext cx="3209544" cy="5879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30" b="0" i="0">
                <a:solidFill>
                  <a:srgbClr val="AEB9DC"/>
                </a:solidFill>
                <a:latin typeface="Calibri"/>
              </a:rPr>
              <a:t>The ceremony sits on every route to the protected value — no side channel, maintenance mode, or admin override reaches the end state without it (§4.6, §5.4).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1920240"/>
            <a:ext cx="3593592" cy="169164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0" y="2103120"/>
            <a:ext cx="372160" cy="372160"/>
          </a:xfrm>
          <a:prstGeom prst="ellipse">
            <a:avLst/>
          </a:prstGeom>
          <a:solidFill>
            <a:srgbClr val="26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4536" y="2186856"/>
            <a:ext cx="204688" cy="2046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00800" y="2548432"/>
            <a:ext cx="320954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 — Evaluable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932480"/>
            <a:ext cx="3209544" cy="5879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30" b="0" i="0">
                <a:solidFill>
                  <a:srgbClr val="AEB9DC"/>
                </a:solidFill>
                <a:latin typeface="Calibri"/>
              </a:rPr>
              <a:t>The mechanism enforcing the ceremony is small and standards-based enough to be independently verified — not a black-box system taken on faith.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41448" y="3794760"/>
            <a:ext cx="3593592" cy="169164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633472" y="3977640"/>
            <a:ext cx="372160" cy="372160"/>
          </a:xfrm>
          <a:prstGeom prst="ellipse">
            <a:avLst/>
          </a:prstGeom>
          <a:solidFill>
            <a:srgbClr val="3A2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7208" y="4061376"/>
            <a:ext cx="204688" cy="20468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633472" y="4422952"/>
            <a:ext cx="320954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 — Always-invoked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33472" y="4807000"/>
            <a:ext cx="3209544" cy="5879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30" b="0" i="0">
                <a:solidFill>
                  <a:srgbClr val="AEB9DC"/>
                </a:solidFill>
                <a:latin typeface="Calibri"/>
              </a:rPr>
              <a:t>Every recovery or arming attempt is routed through the ceremony, with no exception path — no debug flag or maintenance procedure reaches the end state a different way.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3794760"/>
            <a:ext cx="3593592" cy="169164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00800" y="3977640"/>
            <a:ext cx="372160" cy="372160"/>
          </a:xfrm>
          <a:prstGeom prst="ellipse">
            <a:avLst/>
          </a:prstGeom>
          <a:solidFill>
            <a:srgbClr val="3A2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4536" y="4061376"/>
            <a:ext cx="204688" cy="20468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400800" y="4422952"/>
            <a:ext cx="320954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 — Tamper-proof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807000"/>
            <a:ext cx="3209544" cy="5879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30" b="0" i="0">
                <a:solidFill>
                  <a:srgbClr val="AEB9DC"/>
                </a:solidFill>
                <a:latin typeface="Calibri"/>
              </a:rPr>
              <a:t>The mechanism can’t be modified or subverted without compromising the same tamper-resistant boundary that protects the cryptographic material itself (§5.4).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669280"/>
            <a:ext cx="11064240" cy="594360"/>
          </a:xfrm>
          <a:prstGeom prst="roundRect">
            <a:avLst>
              <a:gd name="adj" fmla="val 6000"/>
            </a:avLst>
          </a:prstGeom>
          <a:solidFill>
            <a:srgbClr val="26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669280"/>
            <a:ext cx="106070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80" b="0" i="0">
                <a:solidFill>
                  <a:srgbClr val="CADCFC"/>
                </a:solidFill>
                <a:latin typeface="Calibri"/>
              </a:rPr>
              <a:t>NEAT is a deployment framework, not a cryptographic one — nothing about it changes the D-of-T guarantee. It’s the bar for deployments where risk-reduction alone (as in Vignettes A/B) isn’t enough.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4708F"/>
                </a:solidFill>
                <a:latin typeface="Calibri"/>
              </a:rPr>
              <a:t>SHARDIC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4708F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A3790A"/>
                </a:solidFill>
                <a:latin typeface="Calibri"/>
              </a:rPr>
              <a:t>10 — PATH TO PROOF OF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41B4D"/>
                </a:solidFill>
                <a:latin typeface="Calibri"/>
              </a:rPr>
              <a:t>What Funding Buys: A Phased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E3E6B"/>
                </a:solidFill>
                <a:latin typeface="Calibri"/>
              </a:rPr>
              <a:t>The base scheme’s maturity isn’t in question — that risk is already retired. What remains unbuilt is everything that turns proven cryptography into a fielded, demonstrable capability.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65960"/>
            <a:ext cx="2651760" cy="288036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148840"/>
            <a:ext cx="232257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1 — Core Hardening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788920"/>
            <a:ext cx="2322576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60" b="0" i="0">
                <a:solidFill>
                  <a:srgbClr val="AEB9DC"/>
                </a:solidFill>
                <a:latin typeface="Calibri"/>
              </a:rPr>
              <a:t>Automated tests for gf256_sss.py &amp; krypt_container.py; published benchmark data across T/D profiles.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4297680"/>
            <a:ext cx="2322576" cy="365760"/>
          </a:xfrm>
          <a:prstGeom prst="roundRect">
            <a:avLst>
              <a:gd name="adj" fmla="val 6000"/>
            </a:avLst>
          </a:prstGeom>
          <a:solidFill>
            <a:srgbClr val="163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4297680"/>
            <a:ext cx="23225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3EBD6E"/>
                </a:solidFill>
                <a:latin typeface="Calibri"/>
              </a:rPr>
              <a:t>TRL 4 → 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52800" y="1965960"/>
            <a:ext cx="2651760" cy="288036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17392" y="2148840"/>
            <a:ext cx="232257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2 — First SPAC Vignette (SW-only)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7392" y="2788920"/>
            <a:ext cx="2322576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60" b="0" i="0">
                <a:solidFill>
                  <a:srgbClr val="AEB9DC"/>
                </a:solidFill>
                <a:latin typeface="Calibri"/>
              </a:rPr>
              <a:t>End-to-end build of the treasury-disbursement mission — a commodity HSM stands in for the not-yet-chosen secure element.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17392" y="4297680"/>
            <a:ext cx="2322576" cy="365760"/>
          </a:xfrm>
          <a:prstGeom prst="roundRect">
            <a:avLst>
              <a:gd name="adj" fmla="val 6000"/>
            </a:avLst>
          </a:prstGeom>
          <a:solidFill>
            <a:srgbClr val="163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17392" y="4297680"/>
            <a:ext cx="23225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3EBD6E"/>
                </a:solidFill>
                <a:latin typeface="Calibri"/>
              </a:rPr>
              <a:t>TRL 2 → 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56959" y="1965960"/>
            <a:ext cx="2651760" cy="288036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1551" y="2148840"/>
            <a:ext cx="232257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3 — Hardware-Anchored Variants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1551" y="2788920"/>
            <a:ext cx="2322576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60" b="0" i="0">
                <a:solidFill>
                  <a:srgbClr val="AEB9DC"/>
                </a:solidFill>
                <a:latin typeface="Calibri"/>
              </a:rPr>
              <a:t>shardware-token physical carriage, then PUF-sealed embed/extract against a real secure-element target.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21551" y="4297680"/>
            <a:ext cx="2322576" cy="365760"/>
          </a:xfrm>
          <a:prstGeom prst="roundRect">
            <a:avLst>
              <a:gd name="adj" fmla="val 6000"/>
            </a:avLst>
          </a:prstGeom>
          <a:solidFill>
            <a:srgbClr val="163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1551" y="4297680"/>
            <a:ext cx="23225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3EBD6E"/>
                </a:solidFill>
                <a:latin typeface="Calibri"/>
              </a:rPr>
              <a:t>TRL 4 → 5–6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19" y="1965960"/>
            <a:ext cx="2651760" cy="288036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25711" y="2148840"/>
            <a:ext cx="232257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4 — Novel Mission Types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25711" y="2788920"/>
            <a:ext cx="2322576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60" b="0" i="0">
                <a:solidFill>
                  <a:srgbClr val="AEB9DC"/>
                </a:solidFill>
                <a:latin typeface="Calibri"/>
              </a:rPr>
              <a:t>Path-trustee network integrity and hybrid human-AI policy gates — built and demonstrable, not just specified.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25711" y="4297680"/>
            <a:ext cx="2322576" cy="365760"/>
          </a:xfrm>
          <a:prstGeom prst="roundRect">
            <a:avLst>
              <a:gd name="adj" fmla="val 6000"/>
            </a:avLst>
          </a:prstGeom>
          <a:solidFill>
            <a:srgbClr val="163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25711" y="4297680"/>
            <a:ext cx="23225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3EBD6E"/>
                </a:solidFill>
                <a:latin typeface="Calibri"/>
              </a:rPr>
              <a:t>TRL 1 → 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257800"/>
            <a:ext cx="11064240" cy="685800"/>
          </a:xfrm>
          <a:prstGeom prst="roundRect">
            <a:avLst>
              <a:gd name="adj" fmla="val 6000"/>
            </a:avLst>
          </a:prstGeom>
          <a:solidFill>
            <a:srgbClr val="26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257800"/>
            <a:ext cx="106070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CADCFC"/>
                </a:solidFill>
                <a:latin typeface="Calibri"/>
              </a:rPr>
              <a:t>None of this requires inventing new cryptography — all of it is engineering, integration, and, for the hardware-anchored tiers, physical hardware to build against.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4708F"/>
                </a:solidFill>
                <a:latin typeface="Calibri"/>
              </a:rPr>
              <a:t>SHARDIC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4708F"/>
                </a:solidFill>
                <a:latin typeface="Calibri"/>
              </a:rPr>
              <a:t>35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